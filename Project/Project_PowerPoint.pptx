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5"/>
  </p:notesMasterIdLst>
  <p:sldIdLst>
    <p:sldId id="256" r:id="rId2"/>
    <p:sldId id="257" r:id="rId3"/>
    <p:sldId id="277" r:id="rId4"/>
    <p:sldId id="258" r:id="rId5"/>
    <p:sldId id="259" r:id="rId6"/>
    <p:sldId id="261" r:id="rId7"/>
    <p:sldId id="262" r:id="rId8"/>
    <p:sldId id="263" r:id="rId9"/>
    <p:sldId id="266" r:id="rId10"/>
    <p:sldId id="264" r:id="rId11"/>
    <p:sldId id="265" r:id="rId12"/>
    <p:sldId id="268" r:id="rId13"/>
    <p:sldId id="269" r:id="rId14"/>
    <p:sldId id="271" r:id="rId15"/>
    <p:sldId id="272" r:id="rId16"/>
    <p:sldId id="275" r:id="rId17"/>
    <p:sldId id="375" r:id="rId18"/>
    <p:sldId id="384" r:id="rId19"/>
    <p:sldId id="372" r:id="rId20"/>
    <p:sldId id="273" r:id="rId21"/>
    <p:sldId id="274" r:id="rId22"/>
    <p:sldId id="278" r:id="rId23"/>
    <p:sldId id="276" r:id="rId24"/>
    <p:sldId id="279" r:id="rId25"/>
    <p:sldId id="281" r:id="rId26"/>
    <p:sldId id="282" r:id="rId27"/>
    <p:sldId id="284" r:id="rId28"/>
    <p:sldId id="285" r:id="rId29"/>
    <p:sldId id="287" r:id="rId30"/>
    <p:sldId id="376" r:id="rId31"/>
    <p:sldId id="377" r:id="rId32"/>
    <p:sldId id="378" r:id="rId33"/>
    <p:sldId id="380" r:id="rId34"/>
    <p:sldId id="382" r:id="rId35"/>
    <p:sldId id="383" r:id="rId36"/>
    <p:sldId id="289" r:id="rId37"/>
    <p:sldId id="290" r:id="rId38"/>
    <p:sldId id="291" r:id="rId39"/>
    <p:sldId id="292" r:id="rId40"/>
    <p:sldId id="369" r:id="rId41"/>
    <p:sldId id="293" r:id="rId42"/>
    <p:sldId id="294" r:id="rId43"/>
    <p:sldId id="360" r:id="rId44"/>
    <p:sldId id="296" r:id="rId45"/>
    <p:sldId id="297" r:id="rId46"/>
    <p:sldId id="298" r:id="rId47"/>
    <p:sldId id="299" r:id="rId48"/>
    <p:sldId id="370" r:id="rId49"/>
    <p:sldId id="300" r:id="rId50"/>
    <p:sldId id="361" r:id="rId51"/>
    <p:sldId id="302" r:id="rId52"/>
    <p:sldId id="303" r:id="rId53"/>
    <p:sldId id="305" r:id="rId54"/>
    <p:sldId id="304" r:id="rId55"/>
    <p:sldId id="362" r:id="rId56"/>
    <p:sldId id="307" r:id="rId57"/>
    <p:sldId id="308" r:id="rId58"/>
    <p:sldId id="309" r:id="rId59"/>
    <p:sldId id="310" r:id="rId60"/>
    <p:sldId id="311" r:id="rId61"/>
    <p:sldId id="312" r:id="rId62"/>
    <p:sldId id="363" r:id="rId63"/>
    <p:sldId id="314" r:id="rId64"/>
    <p:sldId id="315" r:id="rId65"/>
    <p:sldId id="316" r:id="rId66"/>
    <p:sldId id="317" r:id="rId67"/>
    <p:sldId id="318" r:id="rId68"/>
    <p:sldId id="319" r:id="rId69"/>
    <p:sldId id="371"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64"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65" r:id="rId104"/>
    <p:sldId id="353" r:id="rId105"/>
    <p:sldId id="354" r:id="rId106"/>
    <p:sldId id="366" r:id="rId107"/>
    <p:sldId id="355" r:id="rId108"/>
    <p:sldId id="356" r:id="rId109"/>
    <p:sldId id="357" r:id="rId110"/>
    <p:sldId id="367" r:id="rId111"/>
    <p:sldId id="358" r:id="rId112"/>
    <p:sldId id="368" r:id="rId113"/>
    <p:sldId id="359" r:id="rId114"/>
  </p:sldIdLst>
  <p:sldSz cx="9144000" cy="5715000" type="screen16x10"/>
  <p:notesSz cx="9144000" cy="5715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75" autoAdjust="0"/>
  </p:normalViewPr>
  <p:slideViewPr>
    <p:cSldViewPr>
      <p:cViewPr varScale="1">
        <p:scale>
          <a:sx n="78" d="100"/>
          <a:sy n="78" d="100"/>
        </p:scale>
        <p:origin x="117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857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85750"/>
          </a:xfrm>
          <a:prstGeom prst="rect">
            <a:avLst/>
          </a:prstGeom>
        </p:spPr>
        <p:txBody>
          <a:bodyPr vert="horz" lIns="91440" tIns="45720" rIns="91440" bIns="45720" rtlCol="0"/>
          <a:lstStyle>
            <a:lvl1pPr algn="r">
              <a:defRPr sz="1200"/>
            </a:lvl1pPr>
          </a:lstStyle>
          <a:p>
            <a:fld id="{B1D15CE0-C0AB-4115-BB21-A109EA9BEA1B}" type="datetimeFigureOut">
              <a:rPr lang="en-US" smtClean="0"/>
              <a:t>12/4/2025</a:t>
            </a:fld>
            <a:endParaRPr lang="en-US"/>
          </a:p>
        </p:txBody>
      </p:sp>
      <p:sp>
        <p:nvSpPr>
          <p:cNvPr id="4" name="Slide Image Placeholder 3"/>
          <p:cNvSpPr>
            <a:spLocks noGrp="1" noRot="1" noChangeAspect="1"/>
          </p:cNvSpPr>
          <p:nvPr>
            <p:ph type="sldImg" idx="2"/>
          </p:nvPr>
        </p:nvSpPr>
        <p:spPr>
          <a:xfrm>
            <a:off x="3028950" y="714375"/>
            <a:ext cx="3086100" cy="19288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751138"/>
            <a:ext cx="7315200" cy="22494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429250"/>
            <a:ext cx="3962400" cy="2857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5429250"/>
            <a:ext cx="3962400" cy="285750"/>
          </a:xfrm>
          <a:prstGeom prst="rect">
            <a:avLst/>
          </a:prstGeom>
        </p:spPr>
        <p:txBody>
          <a:bodyPr vert="horz" lIns="91440" tIns="45720" rIns="91440" bIns="45720" rtlCol="0" anchor="b"/>
          <a:lstStyle>
            <a:lvl1pPr algn="r">
              <a:defRPr sz="1200"/>
            </a:lvl1pPr>
          </a:lstStyle>
          <a:p>
            <a:fld id="{089F7C58-54C7-42CF-977F-B7FDABAF9E69}" type="slidenum">
              <a:rPr lang="en-US" smtClean="0"/>
              <a:t>‹#›</a:t>
            </a:fld>
            <a:endParaRPr lang="en-US"/>
          </a:p>
        </p:txBody>
      </p:sp>
    </p:spTree>
    <p:extLst>
      <p:ext uri="{BB962C8B-B14F-4D97-AF65-F5344CB8AC3E}">
        <p14:creationId xmlns:p14="http://schemas.microsoft.com/office/powerpoint/2010/main" val="3669490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89F7C58-54C7-42CF-977F-B7FDABAF9E69}" type="slidenum">
              <a:rPr lang="en-US" smtClean="0"/>
              <a:t>87</a:t>
            </a:fld>
            <a:endParaRPr lang="en-US"/>
          </a:p>
        </p:txBody>
      </p:sp>
    </p:spTree>
    <p:extLst>
      <p:ext uri="{BB962C8B-B14F-4D97-AF65-F5344CB8AC3E}">
        <p14:creationId xmlns:p14="http://schemas.microsoft.com/office/powerpoint/2010/main" val="2470814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4BBF-2F25-B9C1-8D0F-C1C6E4C550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5D48E-8A85-966A-E570-A9710D9FBB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B7F65B-49B1-B075-470F-414D04606F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C3643AD-97D8-89EC-2A18-6903FDD42642}"/>
              </a:ext>
            </a:extLst>
          </p:cNvPr>
          <p:cNvSpPr>
            <a:spLocks noGrp="1"/>
          </p:cNvSpPr>
          <p:nvPr>
            <p:ph type="sldNum" sz="quarter" idx="5"/>
          </p:nvPr>
        </p:nvSpPr>
        <p:spPr/>
        <p:txBody>
          <a:bodyPr/>
          <a:lstStyle/>
          <a:p>
            <a:fld id="{089F7C58-54C7-42CF-977F-B7FDABAF9E69}" type="slidenum">
              <a:rPr lang="en-US" smtClean="0"/>
              <a:t>88</a:t>
            </a:fld>
            <a:endParaRPr lang="en-US"/>
          </a:p>
        </p:txBody>
      </p:sp>
    </p:spTree>
    <p:extLst>
      <p:ext uri="{BB962C8B-B14F-4D97-AF65-F5344CB8AC3E}">
        <p14:creationId xmlns:p14="http://schemas.microsoft.com/office/powerpoint/2010/main" val="2437304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DCF04-8427-A986-50BA-A896D35D7C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32517-C65B-613F-CB3B-194427AA16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EB070B-83A9-6A8E-84D8-3B59E7DD8D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359CF3-0CA9-32D5-1075-08BA5B7D2353}"/>
              </a:ext>
            </a:extLst>
          </p:cNvPr>
          <p:cNvSpPr>
            <a:spLocks noGrp="1"/>
          </p:cNvSpPr>
          <p:nvPr>
            <p:ph type="sldNum" sz="quarter" idx="5"/>
          </p:nvPr>
        </p:nvSpPr>
        <p:spPr/>
        <p:txBody>
          <a:bodyPr/>
          <a:lstStyle/>
          <a:p>
            <a:fld id="{089F7C58-54C7-42CF-977F-B7FDABAF9E69}" type="slidenum">
              <a:rPr lang="en-US" smtClean="0"/>
              <a:t>89</a:t>
            </a:fld>
            <a:endParaRPr lang="en-US"/>
          </a:p>
        </p:txBody>
      </p:sp>
    </p:spTree>
    <p:extLst>
      <p:ext uri="{BB962C8B-B14F-4D97-AF65-F5344CB8AC3E}">
        <p14:creationId xmlns:p14="http://schemas.microsoft.com/office/powerpoint/2010/main" val="2431211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21F7C-4E7F-BB9B-12A9-48C4FD7CF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13842-584D-E200-A10A-BA37F386F5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CA0475-4D00-90E5-221C-44502B323D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73628BE-2C63-3BD8-D247-1F64937D2664}"/>
              </a:ext>
            </a:extLst>
          </p:cNvPr>
          <p:cNvSpPr>
            <a:spLocks noGrp="1"/>
          </p:cNvSpPr>
          <p:nvPr>
            <p:ph type="sldNum" sz="quarter" idx="5"/>
          </p:nvPr>
        </p:nvSpPr>
        <p:spPr/>
        <p:txBody>
          <a:bodyPr/>
          <a:lstStyle/>
          <a:p>
            <a:fld id="{089F7C58-54C7-42CF-977F-B7FDABAF9E69}" type="slidenum">
              <a:rPr lang="en-US" smtClean="0"/>
              <a:t>90</a:t>
            </a:fld>
            <a:endParaRPr lang="en-US"/>
          </a:p>
        </p:txBody>
      </p:sp>
    </p:spTree>
    <p:extLst>
      <p:ext uri="{BB962C8B-B14F-4D97-AF65-F5344CB8AC3E}">
        <p14:creationId xmlns:p14="http://schemas.microsoft.com/office/powerpoint/2010/main" val="1174717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48F8E-EFF1-C8CB-4DCF-8B9674CF2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25686-0F38-8C23-EC25-2F8CB93366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220ED5-A1C5-914B-590B-82AE369F91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C105B0-01A1-59A4-68A8-3EDBF8F7D5BF}"/>
              </a:ext>
            </a:extLst>
          </p:cNvPr>
          <p:cNvSpPr>
            <a:spLocks noGrp="1"/>
          </p:cNvSpPr>
          <p:nvPr>
            <p:ph type="sldNum" sz="quarter" idx="5"/>
          </p:nvPr>
        </p:nvSpPr>
        <p:spPr/>
        <p:txBody>
          <a:bodyPr/>
          <a:lstStyle/>
          <a:p>
            <a:fld id="{089F7C58-54C7-42CF-977F-B7FDABAF9E69}" type="slidenum">
              <a:rPr lang="en-US" smtClean="0"/>
              <a:t>91</a:t>
            </a:fld>
            <a:endParaRPr lang="en-US"/>
          </a:p>
        </p:txBody>
      </p:sp>
    </p:spTree>
    <p:extLst>
      <p:ext uri="{BB962C8B-B14F-4D97-AF65-F5344CB8AC3E}">
        <p14:creationId xmlns:p14="http://schemas.microsoft.com/office/powerpoint/2010/main" val="955406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98DB2-5497-ADD2-955B-96E8C59350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4C5F1-5A34-B64F-6EFE-7BD14F69B5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1EE4A-70E7-60DB-D262-B0609AF8D3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5C0AFD-91F5-537B-C159-C13433C287C8}"/>
              </a:ext>
            </a:extLst>
          </p:cNvPr>
          <p:cNvSpPr>
            <a:spLocks noGrp="1"/>
          </p:cNvSpPr>
          <p:nvPr>
            <p:ph type="sldNum" sz="quarter" idx="5"/>
          </p:nvPr>
        </p:nvSpPr>
        <p:spPr/>
        <p:txBody>
          <a:bodyPr/>
          <a:lstStyle/>
          <a:p>
            <a:fld id="{089F7C58-54C7-42CF-977F-B7FDABAF9E69}" type="slidenum">
              <a:rPr lang="en-US" smtClean="0"/>
              <a:t>92</a:t>
            </a:fld>
            <a:endParaRPr lang="en-US"/>
          </a:p>
        </p:txBody>
      </p:sp>
    </p:spTree>
    <p:extLst>
      <p:ext uri="{BB962C8B-B14F-4D97-AF65-F5344CB8AC3E}">
        <p14:creationId xmlns:p14="http://schemas.microsoft.com/office/powerpoint/2010/main" val="2349516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9424E-9C53-C089-785D-11C4370750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6C0A1-C554-D4C8-8888-0FF93719E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DF8179-574C-479B-6839-D8F63E62F3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89D474-F805-3FDD-CDED-AA1C9B4F3599}"/>
              </a:ext>
            </a:extLst>
          </p:cNvPr>
          <p:cNvSpPr>
            <a:spLocks noGrp="1"/>
          </p:cNvSpPr>
          <p:nvPr>
            <p:ph type="sldNum" sz="quarter" idx="5"/>
          </p:nvPr>
        </p:nvSpPr>
        <p:spPr/>
        <p:txBody>
          <a:bodyPr/>
          <a:lstStyle/>
          <a:p>
            <a:fld id="{089F7C58-54C7-42CF-977F-B7FDABAF9E69}" type="slidenum">
              <a:rPr lang="en-US" smtClean="0"/>
              <a:t>93</a:t>
            </a:fld>
            <a:endParaRPr lang="en-US"/>
          </a:p>
        </p:txBody>
      </p:sp>
    </p:spTree>
    <p:extLst>
      <p:ext uri="{BB962C8B-B14F-4D97-AF65-F5344CB8AC3E}">
        <p14:creationId xmlns:p14="http://schemas.microsoft.com/office/powerpoint/2010/main" val="12137115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804CE-6C57-9F75-AC97-69F2AF8726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54C32-DBA5-62B0-73BA-7EFF2AA943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8BB81B-48BF-5C08-8248-572304A4C9C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C45252-7409-D0C0-39AD-DFA21AA98DFD}"/>
              </a:ext>
            </a:extLst>
          </p:cNvPr>
          <p:cNvSpPr>
            <a:spLocks noGrp="1"/>
          </p:cNvSpPr>
          <p:nvPr>
            <p:ph type="sldNum" sz="quarter" idx="5"/>
          </p:nvPr>
        </p:nvSpPr>
        <p:spPr/>
        <p:txBody>
          <a:bodyPr/>
          <a:lstStyle/>
          <a:p>
            <a:fld id="{089F7C58-54C7-42CF-977F-B7FDABAF9E69}" type="slidenum">
              <a:rPr lang="en-US" smtClean="0"/>
              <a:t>94</a:t>
            </a:fld>
            <a:endParaRPr lang="en-US"/>
          </a:p>
        </p:txBody>
      </p:sp>
    </p:spTree>
    <p:extLst>
      <p:ext uri="{BB962C8B-B14F-4D97-AF65-F5344CB8AC3E}">
        <p14:creationId xmlns:p14="http://schemas.microsoft.com/office/powerpoint/2010/main" val="2462651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A666E-9268-6D9D-E19C-369BA52B5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4B691-5B17-0DCF-3C8C-0972865542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DC5F27-EA72-2656-78B1-3B9DEE1FAF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84700F4-8F11-0400-A0D4-CF18C1D03A1D}"/>
              </a:ext>
            </a:extLst>
          </p:cNvPr>
          <p:cNvSpPr>
            <a:spLocks noGrp="1"/>
          </p:cNvSpPr>
          <p:nvPr>
            <p:ph type="sldNum" sz="quarter" idx="5"/>
          </p:nvPr>
        </p:nvSpPr>
        <p:spPr/>
        <p:txBody>
          <a:bodyPr/>
          <a:lstStyle/>
          <a:p>
            <a:fld id="{089F7C58-54C7-42CF-977F-B7FDABAF9E69}" type="slidenum">
              <a:rPr lang="en-US" smtClean="0"/>
              <a:t>95</a:t>
            </a:fld>
            <a:endParaRPr lang="en-US"/>
          </a:p>
        </p:txBody>
      </p:sp>
    </p:spTree>
    <p:extLst>
      <p:ext uri="{BB962C8B-B14F-4D97-AF65-F5344CB8AC3E}">
        <p14:creationId xmlns:p14="http://schemas.microsoft.com/office/powerpoint/2010/main" val="3914450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868A8-467D-002C-D16D-7F2BC904E9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6BEE76-020B-7DFF-B3F4-7287AC82FE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05782-0320-7E23-ABFA-8A8879ABF50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629FB-F6B4-F651-EFE1-73B9FDF89A31}"/>
              </a:ext>
            </a:extLst>
          </p:cNvPr>
          <p:cNvSpPr>
            <a:spLocks noGrp="1"/>
          </p:cNvSpPr>
          <p:nvPr>
            <p:ph type="sldNum" sz="quarter" idx="5"/>
          </p:nvPr>
        </p:nvSpPr>
        <p:spPr/>
        <p:txBody>
          <a:bodyPr/>
          <a:lstStyle/>
          <a:p>
            <a:fld id="{089F7C58-54C7-42CF-977F-B7FDABAF9E69}" type="slidenum">
              <a:rPr lang="en-US" smtClean="0"/>
              <a:t>96</a:t>
            </a:fld>
            <a:endParaRPr lang="en-US"/>
          </a:p>
        </p:txBody>
      </p:sp>
    </p:spTree>
    <p:extLst>
      <p:ext uri="{BB962C8B-B14F-4D97-AF65-F5344CB8AC3E}">
        <p14:creationId xmlns:p14="http://schemas.microsoft.com/office/powerpoint/2010/main" val="816175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38DCB-9B5B-91D9-F2E7-B7CCD08F8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2E0E8-26E0-7817-6CF1-7223E6BF52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063F4C-53CF-AE27-9161-63D6E95FDF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A7181D8-E78B-5970-1907-B2C1FA3EABD4}"/>
              </a:ext>
            </a:extLst>
          </p:cNvPr>
          <p:cNvSpPr>
            <a:spLocks noGrp="1"/>
          </p:cNvSpPr>
          <p:nvPr>
            <p:ph type="sldNum" sz="quarter" idx="5"/>
          </p:nvPr>
        </p:nvSpPr>
        <p:spPr/>
        <p:txBody>
          <a:bodyPr/>
          <a:lstStyle/>
          <a:p>
            <a:fld id="{089F7C58-54C7-42CF-977F-B7FDABAF9E69}" type="slidenum">
              <a:rPr lang="en-US" smtClean="0"/>
              <a:t>97</a:t>
            </a:fld>
            <a:endParaRPr lang="en-US"/>
          </a:p>
        </p:txBody>
      </p:sp>
    </p:spTree>
    <p:extLst>
      <p:ext uri="{BB962C8B-B14F-4D97-AF65-F5344CB8AC3E}">
        <p14:creationId xmlns:p14="http://schemas.microsoft.com/office/powerpoint/2010/main" val="4206764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0D303-F0D3-9C85-E620-069A933479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ACF2B-43DF-F405-2A0F-5B48D9AB8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1797FE-7085-F884-1841-956E03053A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5DB535-C7EE-6B6C-9914-3E77C042FB0B}"/>
              </a:ext>
            </a:extLst>
          </p:cNvPr>
          <p:cNvSpPr>
            <a:spLocks noGrp="1"/>
          </p:cNvSpPr>
          <p:nvPr>
            <p:ph type="sldNum" sz="quarter" idx="5"/>
          </p:nvPr>
        </p:nvSpPr>
        <p:spPr/>
        <p:txBody>
          <a:bodyPr/>
          <a:lstStyle/>
          <a:p>
            <a:fld id="{089F7C58-54C7-42CF-977F-B7FDABAF9E69}" type="slidenum">
              <a:rPr lang="en-US" smtClean="0"/>
              <a:t>98</a:t>
            </a:fld>
            <a:endParaRPr lang="en-US"/>
          </a:p>
        </p:txBody>
      </p:sp>
    </p:spTree>
    <p:extLst>
      <p:ext uri="{BB962C8B-B14F-4D97-AF65-F5344CB8AC3E}">
        <p14:creationId xmlns:p14="http://schemas.microsoft.com/office/powerpoint/2010/main" val="2267202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8CA6D-93F1-A679-4EF5-F3DAB15844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D8BF8-518B-9EC2-163B-00DCD4E4F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64AAF0-5E34-0478-8896-1EAF92E75C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947CBD-17FA-CE98-1AA2-55EE38C757B5}"/>
              </a:ext>
            </a:extLst>
          </p:cNvPr>
          <p:cNvSpPr>
            <a:spLocks noGrp="1"/>
          </p:cNvSpPr>
          <p:nvPr>
            <p:ph type="sldNum" sz="quarter" idx="5"/>
          </p:nvPr>
        </p:nvSpPr>
        <p:spPr/>
        <p:txBody>
          <a:bodyPr/>
          <a:lstStyle/>
          <a:p>
            <a:fld id="{089F7C58-54C7-42CF-977F-B7FDABAF9E69}" type="slidenum">
              <a:rPr lang="en-US" smtClean="0"/>
              <a:t>99</a:t>
            </a:fld>
            <a:endParaRPr lang="en-US"/>
          </a:p>
        </p:txBody>
      </p:sp>
    </p:spTree>
    <p:extLst>
      <p:ext uri="{BB962C8B-B14F-4D97-AF65-F5344CB8AC3E}">
        <p14:creationId xmlns:p14="http://schemas.microsoft.com/office/powerpoint/2010/main" val="3596812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A3D95-3289-9850-AA15-C467FAD6A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274C4-C8B5-8D63-6D45-566BC5D564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7C261-B608-0246-638A-62F0F0BDAC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A7BD89-5E1C-EB08-5D69-3DCA3D2D1771}"/>
              </a:ext>
            </a:extLst>
          </p:cNvPr>
          <p:cNvSpPr>
            <a:spLocks noGrp="1"/>
          </p:cNvSpPr>
          <p:nvPr>
            <p:ph type="sldNum" sz="quarter" idx="5"/>
          </p:nvPr>
        </p:nvSpPr>
        <p:spPr/>
        <p:txBody>
          <a:bodyPr/>
          <a:lstStyle/>
          <a:p>
            <a:fld id="{089F7C58-54C7-42CF-977F-B7FDABAF9E69}" type="slidenum">
              <a:rPr lang="en-US" smtClean="0"/>
              <a:t>100</a:t>
            </a:fld>
            <a:endParaRPr lang="en-US"/>
          </a:p>
        </p:txBody>
      </p:sp>
    </p:spTree>
    <p:extLst>
      <p:ext uri="{BB962C8B-B14F-4D97-AF65-F5344CB8AC3E}">
        <p14:creationId xmlns:p14="http://schemas.microsoft.com/office/powerpoint/2010/main" val="257467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69E98-0391-8045-A656-4276A4F6F9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6A2BA-0170-46F0-FAAB-17EB668B8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D8ED4-3294-BF3E-DD22-41530FC0C2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4C232F9-478C-50E8-220E-3B976036F48B}"/>
              </a:ext>
            </a:extLst>
          </p:cNvPr>
          <p:cNvSpPr>
            <a:spLocks noGrp="1"/>
          </p:cNvSpPr>
          <p:nvPr>
            <p:ph type="sldNum" sz="quarter" idx="5"/>
          </p:nvPr>
        </p:nvSpPr>
        <p:spPr/>
        <p:txBody>
          <a:bodyPr/>
          <a:lstStyle/>
          <a:p>
            <a:fld id="{089F7C58-54C7-42CF-977F-B7FDABAF9E69}" type="slidenum">
              <a:rPr lang="en-US" smtClean="0"/>
              <a:t>101</a:t>
            </a:fld>
            <a:endParaRPr lang="en-US"/>
          </a:p>
        </p:txBody>
      </p:sp>
    </p:spTree>
    <p:extLst>
      <p:ext uri="{BB962C8B-B14F-4D97-AF65-F5344CB8AC3E}">
        <p14:creationId xmlns:p14="http://schemas.microsoft.com/office/powerpoint/2010/main" val="29698329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7F7E4-B189-5298-C526-03835D365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4A450B-AD77-52B0-B21C-291FBDB743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72D884-AF99-2EFC-4504-21DE538DB8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8EB0AF4-386A-876F-A14B-5EF4BD2702DA}"/>
              </a:ext>
            </a:extLst>
          </p:cNvPr>
          <p:cNvSpPr>
            <a:spLocks noGrp="1"/>
          </p:cNvSpPr>
          <p:nvPr>
            <p:ph type="sldNum" sz="quarter" idx="5"/>
          </p:nvPr>
        </p:nvSpPr>
        <p:spPr/>
        <p:txBody>
          <a:bodyPr/>
          <a:lstStyle/>
          <a:p>
            <a:fld id="{089F7C58-54C7-42CF-977F-B7FDABAF9E69}" type="slidenum">
              <a:rPr lang="en-US" smtClean="0"/>
              <a:t>102</a:t>
            </a:fld>
            <a:endParaRPr lang="en-US"/>
          </a:p>
        </p:txBody>
      </p:sp>
    </p:spTree>
    <p:extLst>
      <p:ext uri="{BB962C8B-B14F-4D97-AF65-F5344CB8AC3E}">
        <p14:creationId xmlns:p14="http://schemas.microsoft.com/office/powerpoint/2010/main" val="39115552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9A827-6F51-429D-6C1F-F64D641FF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801E2A-8DD8-DD49-BA80-FD63B3166A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26649-FD33-64E9-4D26-07E9653ED9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6EEFBF-A788-A19D-8472-B38C5B7597C9}"/>
              </a:ext>
            </a:extLst>
          </p:cNvPr>
          <p:cNvSpPr>
            <a:spLocks noGrp="1"/>
          </p:cNvSpPr>
          <p:nvPr>
            <p:ph type="sldNum" sz="quarter" idx="5"/>
          </p:nvPr>
        </p:nvSpPr>
        <p:spPr/>
        <p:txBody>
          <a:bodyPr/>
          <a:lstStyle/>
          <a:p>
            <a:fld id="{089F7C58-54C7-42CF-977F-B7FDABAF9E69}" type="slidenum">
              <a:rPr lang="en-US" smtClean="0"/>
              <a:t>103</a:t>
            </a:fld>
            <a:endParaRPr lang="en-US"/>
          </a:p>
        </p:txBody>
      </p:sp>
    </p:spTree>
    <p:extLst>
      <p:ext uri="{BB962C8B-B14F-4D97-AF65-F5344CB8AC3E}">
        <p14:creationId xmlns:p14="http://schemas.microsoft.com/office/powerpoint/2010/main" val="20354459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F6060-2B11-2276-0DAE-4BDDD103C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FE3829-8015-684F-C605-4E9342FA81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941658-C89F-F2BA-F6BE-C327584B55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C6F837-E0CB-A3FF-6760-1C8F273A9F3D}"/>
              </a:ext>
            </a:extLst>
          </p:cNvPr>
          <p:cNvSpPr>
            <a:spLocks noGrp="1"/>
          </p:cNvSpPr>
          <p:nvPr>
            <p:ph type="sldNum" sz="quarter" idx="5"/>
          </p:nvPr>
        </p:nvSpPr>
        <p:spPr/>
        <p:txBody>
          <a:bodyPr/>
          <a:lstStyle/>
          <a:p>
            <a:fld id="{089F7C58-54C7-42CF-977F-B7FDABAF9E69}" type="slidenum">
              <a:rPr lang="en-US" smtClean="0"/>
              <a:t>104</a:t>
            </a:fld>
            <a:endParaRPr lang="en-US"/>
          </a:p>
        </p:txBody>
      </p:sp>
    </p:spTree>
    <p:extLst>
      <p:ext uri="{BB962C8B-B14F-4D97-AF65-F5344CB8AC3E}">
        <p14:creationId xmlns:p14="http://schemas.microsoft.com/office/powerpoint/2010/main" val="37788815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7F407-E67E-8B16-2AE5-12B6AFDA2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98AD2-AECE-D0A2-1EFE-B6C6A5D1C4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950AD3-50C8-F5DE-1B86-98F69297A9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98E593C-F27A-0103-9D28-0E45863FCF9B}"/>
              </a:ext>
            </a:extLst>
          </p:cNvPr>
          <p:cNvSpPr>
            <a:spLocks noGrp="1"/>
          </p:cNvSpPr>
          <p:nvPr>
            <p:ph type="sldNum" sz="quarter" idx="5"/>
          </p:nvPr>
        </p:nvSpPr>
        <p:spPr/>
        <p:txBody>
          <a:bodyPr/>
          <a:lstStyle/>
          <a:p>
            <a:fld id="{089F7C58-54C7-42CF-977F-B7FDABAF9E69}" type="slidenum">
              <a:rPr lang="en-US" smtClean="0"/>
              <a:t>105</a:t>
            </a:fld>
            <a:endParaRPr lang="en-US"/>
          </a:p>
        </p:txBody>
      </p:sp>
    </p:spTree>
    <p:extLst>
      <p:ext uri="{BB962C8B-B14F-4D97-AF65-F5344CB8AC3E}">
        <p14:creationId xmlns:p14="http://schemas.microsoft.com/office/powerpoint/2010/main" val="1063851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28EE0-68B1-BEC3-1C54-DD3970DD9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DCDD3-64DC-6A2A-2C8D-B6D43DD397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C0104-0CA5-C65C-AD3F-F3DB05A12E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2868F1-05F2-AA83-EDBB-8825C6ABF98D}"/>
              </a:ext>
            </a:extLst>
          </p:cNvPr>
          <p:cNvSpPr>
            <a:spLocks noGrp="1"/>
          </p:cNvSpPr>
          <p:nvPr>
            <p:ph type="sldNum" sz="quarter" idx="5"/>
          </p:nvPr>
        </p:nvSpPr>
        <p:spPr/>
        <p:txBody>
          <a:bodyPr/>
          <a:lstStyle/>
          <a:p>
            <a:fld id="{089F7C58-54C7-42CF-977F-B7FDABAF9E69}" type="slidenum">
              <a:rPr lang="en-US" smtClean="0"/>
              <a:t>106</a:t>
            </a:fld>
            <a:endParaRPr lang="en-US"/>
          </a:p>
        </p:txBody>
      </p:sp>
    </p:spTree>
    <p:extLst>
      <p:ext uri="{BB962C8B-B14F-4D97-AF65-F5344CB8AC3E}">
        <p14:creationId xmlns:p14="http://schemas.microsoft.com/office/powerpoint/2010/main" val="29468818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B053D-81CF-56B4-0EFA-E43C8995A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F63DC-22DE-12F3-2A80-E5B98253F2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E91ECD-1FAE-28F0-59CD-A97C81E1D0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F2FF9D-5FF7-5AE7-AC0F-77037624228F}"/>
              </a:ext>
            </a:extLst>
          </p:cNvPr>
          <p:cNvSpPr>
            <a:spLocks noGrp="1"/>
          </p:cNvSpPr>
          <p:nvPr>
            <p:ph type="sldNum" sz="quarter" idx="5"/>
          </p:nvPr>
        </p:nvSpPr>
        <p:spPr/>
        <p:txBody>
          <a:bodyPr/>
          <a:lstStyle/>
          <a:p>
            <a:fld id="{089F7C58-54C7-42CF-977F-B7FDABAF9E69}" type="slidenum">
              <a:rPr lang="en-US" smtClean="0"/>
              <a:t>107</a:t>
            </a:fld>
            <a:endParaRPr lang="en-US"/>
          </a:p>
        </p:txBody>
      </p:sp>
    </p:spTree>
    <p:extLst>
      <p:ext uri="{BB962C8B-B14F-4D97-AF65-F5344CB8AC3E}">
        <p14:creationId xmlns:p14="http://schemas.microsoft.com/office/powerpoint/2010/main" val="13725860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FC6A2-06CE-F9C2-4F92-3B4FB538A4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A00911-1273-850F-9F92-F50F5C1CE7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4934AB-C368-C671-D8CD-472FAACE3F5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E7756F-8FC9-A968-A17B-B1B9F6ED5DB0}"/>
              </a:ext>
            </a:extLst>
          </p:cNvPr>
          <p:cNvSpPr>
            <a:spLocks noGrp="1"/>
          </p:cNvSpPr>
          <p:nvPr>
            <p:ph type="sldNum" sz="quarter" idx="5"/>
          </p:nvPr>
        </p:nvSpPr>
        <p:spPr/>
        <p:txBody>
          <a:bodyPr/>
          <a:lstStyle/>
          <a:p>
            <a:fld id="{089F7C58-54C7-42CF-977F-B7FDABAF9E69}" type="slidenum">
              <a:rPr lang="en-US" smtClean="0"/>
              <a:t>108</a:t>
            </a:fld>
            <a:endParaRPr lang="en-US"/>
          </a:p>
        </p:txBody>
      </p:sp>
    </p:spTree>
    <p:extLst>
      <p:ext uri="{BB962C8B-B14F-4D97-AF65-F5344CB8AC3E}">
        <p14:creationId xmlns:p14="http://schemas.microsoft.com/office/powerpoint/2010/main" val="14394166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8FFE8-9991-79E0-D8C9-E6FFE14145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052DD4-85B8-87E1-378E-5CDB80AA2F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7195F0-E828-49B7-A6CD-C719B9EAF0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269733-965B-C5F2-9807-51F82F10CA62}"/>
              </a:ext>
            </a:extLst>
          </p:cNvPr>
          <p:cNvSpPr>
            <a:spLocks noGrp="1"/>
          </p:cNvSpPr>
          <p:nvPr>
            <p:ph type="sldNum" sz="quarter" idx="5"/>
          </p:nvPr>
        </p:nvSpPr>
        <p:spPr/>
        <p:txBody>
          <a:bodyPr/>
          <a:lstStyle/>
          <a:p>
            <a:fld id="{089F7C58-54C7-42CF-977F-B7FDABAF9E69}" type="slidenum">
              <a:rPr lang="en-US" smtClean="0"/>
              <a:t>109</a:t>
            </a:fld>
            <a:endParaRPr lang="en-US"/>
          </a:p>
        </p:txBody>
      </p:sp>
    </p:spTree>
    <p:extLst>
      <p:ext uri="{BB962C8B-B14F-4D97-AF65-F5344CB8AC3E}">
        <p14:creationId xmlns:p14="http://schemas.microsoft.com/office/powerpoint/2010/main" val="28618109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2691B-D619-CB98-2BEB-DE7771A29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BDA19-2F44-6C47-3B1D-C1B10E374C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C56B0-4CF6-19D2-AFD3-9EF9A7D01B5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1F7BA2B-D8AF-8D49-0BEF-635D2DAE7AE7}"/>
              </a:ext>
            </a:extLst>
          </p:cNvPr>
          <p:cNvSpPr>
            <a:spLocks noGrp="1"/>
          </p:cNvSpPr>
          <p:nvPr>
            <p:ph type="sldNum" sz="quarter" idx="5"/>
          </p:nvPr>
        </p:nvSpPr>
        <p:spPr/>
        <p:txBody>
          <a:bodyPr/>
          <a:lstStyle/>
          <a:p>
            <a:fld id="{089F7C58-54C7-42CF-977F-B7FDABAF9E69}" type="slidenum">
              <a:rPr lang="en-US" smtClean="0"/>
              <a:t>110</a:t>
            </a:fld>
            <a:endParaRPr lang="en-US"/>
          </a:p>
        </p:txBody>
      </p:sp>
    </p:spTree>
    <p:extLst>
      <p:ext uri="{BB962C8B-B14F-4D97-AF65-F5344CB8AC3E}">
        <p14:creationId xmlns:p14="http://schemas.microsoft.com/office/powerpoint/2010/main" val="4253432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80D94-AC69-1EA5-8674-965CC2324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FB6C3-3976-4910-147A-3C3F177989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792BF7-3B76-65E9-EA74-D32D016F79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DB12C6-CDA4-2AE2-023B-51A8C98C7932}"/>
              </a:ext>
            </a:extLst>
          </p:cNvPr>
          <p:cNvSpPr>
            <a:spLocks noGrp="1"/>
          </p:cNvSpPr>
          <p:nvPr>
            <p:ph type="sldNum" sz="quarter" idx="5"/>
          </p:nvPr>
        </p:nvSpPr>
        <p:spPr/>
        <p:txBody>
          <a:bodyPr/>
          <a:lstStyle/>
          <a:p>
            <a:fld id="{089F7C58-54C7-42CF-977F-B7FDABAF9E69}" type="slidenum">
              <a:rPr lang="en-US" smtClean="0"/>
              <a:t>111</a:t>
            </a:fld>
            <a:endParaRPr lang="en-US"/>
          </a:p>
        </p:txBody>
      </p:sp>
    </p:spTree>
    <p:extLst>
      <p:ext uri="{BB962C8B-B14F-4D97-AF65-F5344CB8AC3E}">
        <p14:creationId xmlns:p14="http://schemas.microsoft.com/office/powerpoint/2010/main" val="7142873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17CF6-3766-C631-D74D-D91A5B442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E479D-153B-1537-2B50-288C6E2FE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ABC54-9C06-11ED-8A80-EE67411A61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B23C5CD-750C-8FA8-17F3-75BDC1A7F4C9}"/>
              </a:ext>
            </a:extLst>
          </p:cNvPr>
          <p:cNvSpPr>
            <a:spLocks noGrp="1"/>
          </p:cNvSpPr>
          <p:nvPr>
            <p:ph type="sldNum" sz="quarter" idx="5"/>
          </p:nvPr>
        </p:nvSpPr>
        <p:spPr/>
        <p:txBody>
          <a:bodyPr/>
          <a:lstStyle/>
          <a:p>
            <a:fld id="{089F7C58-54C7-42CF-977F-B7FDABAF9E69}" type="slidenum">
              <a:rPr lang="en-US" smtClean="0"/>
              <a:t>112</a:t>
            </a:fld>
            <a:endParaRPr lang="en-US"/>
          </a:p>
        </p:txBody>
      </p:sp>
    </p:spTree>
    <p:extLst>
      <p:ext uri="{BB962C8B-B14F-4D97-AF65-F5344CB8AC3E}">
        <p14:creationId xmlns:p14="http://schemas.microsoft.com/office/powerpoint/2010/main" val="39582700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F6F16-0B50-5A58-4568-5BDE65373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4CC79E-8A15-5F26-F940-8F13025999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19EDEE-DFD2-F5AC-95F8-3E84BE9B599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BB20F42-1990-07AD-7792-47E64C6CA27C}"/>
              </a:ext>
            </a:extLst>
          </p:cNvPr>
          <p:cNvSpPr>
            <a:spLocks noGrp="1"/>
          </p:cNvSpPr>
          <p:nvPr>
            <p:ph type="sldNum" sz="quarter" idx="5"/>
          </p:nvPr>
        </p:nvSpPr>
        <p:spPr/>
        <p:txBody>
          <a:bodyPr/>
          <a:lstStyle/>
          <a:p>
            <a:fld id="{089F7C58-54C7-42CF-977F-B7FDABAF9E69}" type="slidenum">
              <a:rPr lang="en-US" smtClean="0"/>
              <a:t>113</a:t>
            </a:fld>
            <a:endParaRPr lang="en-US"/>
          </a:p>
        </p:txBody>
      </p:sp>
    </p:spTree>
    <p:extLst>
      <p:ext uri="{BB962C8B-B14F-4D97-AF65-F5344CB8AC3E}">
        <p14:creationId xmlns:p14="http://schemas.microsoft.com/office/powerpoint/2010/main" val="1122772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35940" y="295478"/>
            <a:ext cx="5600065" cy="666115"/>
          </a:xfrm>
          <a:prstGeom prst="rect">
            <a:avLst/>
          </a:prstGeom>
        </p:spPr>
        <p:txBody>
          <a:bodyPr wrap="square" lIns="0" tIns="0" rIns="0" bIns="0">
            <a:spAutoFit/>
          </a:bodyPr>
          <a:lstStyle>
            <a:lvl1pPr>
              <a:defRPr sz="4200" b="0" i="0">
                <a:solidFill>
                  <a:srgbClr val="006633"/>
                </a:solidFill>
                <a:latin typeface="Arial"/>
                <a:cs typeface="Arial"/>
              </a:defRPr>
            </a:lvl1pPr>
          </a:lstStyle>
          <a:p>
            <a:endParaRPr/>
          </a:p>
        </p:txBody>
      </p:sp>
      <p:sp>
        <p:nvSpPr>
          <p:cNvPr id="3" name="Holder 3"/>
          <p:cNvSpPr>
            <a:spLocks noGrp="1"/>
          </p:cNvSpPr>
          <p:nvPr>
            <p:ph type="subTitle" idx="4"/>
          </p:nvPr>
        </p:nvSpPr>
        <p:spPr>
          <a:xfrm>
            <a:off x="1371600" y="3200400"/>
            <a:ext cx="6400800" cy="142875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Garamond"/>
                <a:cs typeface="Garamond"/>
              </a:defRPr>
            </a:lvl1pPr>
          </a:lstStyle>
          <a:p>
            <a:pPr marL="38100">
              <a:lnSpc>
                <a:spcPts val="137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1000" y="190500"/>
            <a:ext cx="8229600" cy="508000"/>
          </a:xfrm>
          <a:custGeom>
            <a:avLst/>
            <a:gdLst/>
            <a:ahLst/>
            <a:cxnLst/>
            <a:rect l="l" t="t" r="r" b="b"/>
            <a:pathLst>
              <a:path w="8229600" h="508000">
                <a:moveTo>
                  <a:pt x="0" y="508000"/>
                </a:moveTo>
                <a:lnTo>
                  <a:pt x="0" y="0"/>
                </a:lnTo>
                <a:lnTo>
                  <a:pt x="8229600" y="0"/>
                </a:lnTo>
              </a:path>
            </a:pathLst>
          </a:custGeom>
          <a:ln w="19050">
            <a:solidFill>
              <a:srgbClr val="CC99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200" b="0" i="0">
                <a:solidFill>
                  <a:srgbClr val="006633"/>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Garamond"/>
                <a:cs typeface="Garamond"/>
              </a:defRPr>
            </a:lvl1pPr>
          </a:lstStyle>
          <a:p>
            <a:pPr marL="38100">
              <a:lnSpc>
                <a:spcPts val="137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0" i="0">
                <a:solidFill>
                  <a:srgbClr val="006633"/>
                </a:solidFill>
                <a:latin typeface="Arial"/>
                <a:cs typeface="Arial"/>
              </a:defRPr>
            </a:lvl1pPr>
          </a:lstStyle>
          <a:p>
            <a:endParaRPr/>
          </a:p>
        </p:txBody>
      </p:sp>
      <p:sp>
        <p:nvSpPr>
          <p:cNvPr id="3" name="Holder 3"/>
          <p:cNvSpPr>
            <a:spLocks noGrp="1"/>
          </p:cNvSpPr>
          <p:nvPr>
            <p:ph sz="half" idx="2"/>
          </p:nvPr>
        </p:nvSpPr>
        <p:spPr>
          <a:xfrm>
            <a:off x="457200" y="1314450"/>
            <a:ext cx="3977640" cy="377190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314450"/>
            <a:ext cx="3977640" cy="37719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12/4/2025</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Garamond"/>
                <a:cs typeface="Garamond"/>
              </a:defRPr>
            </a:lvl1pPr>
          </a:lstStyle>
          <a:p>
            <a:pPr marL="38100">
              <a:lnSpc>
                <a:spcPts val="137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0" i="0">
                <a:solidFill>
                  <a:srgbClr val="006633"/>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12/4/2025</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Garamond"/>
                <a:cs typeface="Garamond"/>
              </a:defRPr>
            </a:lvl1pPr>
          </a:lstStyle>
          <a:p>
            <a:pPr marL="38100">
              <a:lnSpc>
                <a:spcPts val="137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12/4/2025</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Garamond"/>
                <a:cs typeface="Garamond"/>
              </a:defRPr>
            </a:lvl1pPr>
          </a:lstStyle>
          <a:p>
            <a:pPr marL="38100">
              <a:lnSpc>
                <a:spcPts val="137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1000" y="190500"/>
            <a:ext cx="8229600" cy="508000"/>
          </a:xfrm>
          <a:custGeom>
            <a:avLst/>
            <a:gdLst/>
            <a:ahLst/>
            <a:cxnLst/>
            <a:rect l="l" t="t" r="r" b="b"/>
            <a:pathLst>
              <a:path w="8229600" h="508000">
                <a:moveTo>
                  <a:pt x="0" y="508000"/>
                </a:moveTo>
                <a:lnTo>
                  <a:pt x="0" y="0"/>
                </a:lnTo>
                <a:lnTo>
                  <a:pt x="8229600" y="0"/>
                </a:lnTo>
              </a:path>
            </a:pathLst>
          </a:custGeom>
          <a:ln w="19050">
            <a:solidFill>
              <a:srgbClr val="CC9900"/>
            </a:solidFill>
          </a:ln>
        </p:spPr>
        <p:txBody>
          <a:bodyPr wrap="square" lIns="0" tIns="0" rIns="0" bIns="0" rtlCol="0"/>
          <a:lstStyle/>
          <a:p>
            <a:endParaRPr/>
          </a:p>
        </p:txBody>
      </p:sp>
      <p:sp>
        <p:nvSpPr>
          <p:cNvPr id="17" name="bg object 17"/>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2" name="Holder 2"/>
          <p:cNvSpPr>
            <a:spLocks noGrp="1"/>
          </p:cNvSpPr>
          <p:nvPr>
            <p:ph type="title"/>
          </p:nvPr>
        </p:nvSpPr>
        <p:spPr>
          <a:xfrm>
            <a:off x="535940" y="295478"/>
            <a:ext cx="7051040" cy="666115"/>
          </a:xfrm>
          <a:prstGeom prst="rect">
            <a:avLst/>
          </a:prstGeom>
        </p:spPr>
        <p:txBody>
          <a:bodyPr wrap="square" lIns="0" tIns="0" rIns="0" bIns="0">
            <a:spAutoFit/>
          </a:bodyPr>
          <a:lstStyle>
            <a:lvl1pPr>
              <a:defRPr sz="4200" b="0" i="0">
                <a:solidFill>
                  <a:srgbClr val="006633"/>
                </a:solidFill>
                <a:latin typeface="Arial"/>
                <a:cs typeface="Arial"/>
              </a:defRPr>
            </a:lvl1pPr>
          </a:lstStyle>
          <a:p>
            <a:endParaRPr/>
          </a:p>
        </p:txBody>
      </p:sp>
      <p:sp>
        <p:nvSpPr>
          <p:cNvPr id="3" name="Holder 3"/>
          <p:cNvSpPr>
            <a:spLocks noGrp="1"/>
          </p:cNvSpPr>
          <p:nvPr>
            <p:ph type="body" idx="1"/>
          </p:nvPr>
        </p:nvSpPr>
        <p:spPr>
          <a:xfrm>
            <a:off x="444500" y="1222628"/>
            <a:ext cx="8255000" cy="397637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5314950"/>
            <a:ext cx="2926080" cy="2857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5314950"/>
            <a:ext cx="2103120" cy="2857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12/4/2025</a:t>
            </a:fld>
            <a:endParaRPr lang="en-US"/>
          </a:p>
        </p:txBody>
      </p:sp>
      <p:sp>
        <p:nvSpPr>
          <p:cNvPr id="6" name="Holder 6"/>
          <p:cNvSpPr>
            <a:spLocks noGrp="1"/>
          </p:cNvSpPr>
          <p:nvPr>
            <p:ph type="sldNum" sz="quarter" idx="7"/>
          </p:nvPr>
        </p:nvSpPr>
        <p:spPr>
          <a:xfrm>
            <a:off x="8413750" y="5353027"/>
            <a:ext cx="232409" cy="196850"/>
          </a:xfrm>
          <a:prstGeom prst="rect">
            <a:avLst/>
          </a:prstGeom>
        </p:spPr>
        <p:txBody>
          <a:bodyPr wrap="square" lIns="0" tIns="0" rIns="0" bIns="0">
            <a:spAutoFit/>
          </a:bodyPr>
          <a:lstStyle>
            <a:lvl1pPr>
              <a:defRPr sz="1200" b="0" i="0">
                <a:solidFill>
                  <a:schemeClr val="tx1"/>
                </a:solidFill>
                <a:latin typeface="Garamond"/>
                <a:cs typeface="Garamond"/>
              </a:defRPr>
            </a:lvl1pPr>
          </a:lstStyle>
          <a:p>
            <a:pPr marL="38100">
              <a:lnSpc>
                <a:spcPts val="137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09600" y="1016000"/>
            <a:ext cx="7924800" cy="762000"/>
          </a:xfrm>
          <a:custGeom>
            <a:avLst/>
            <a:gdLst/>
            <a:ahLst/>
            <a:cxnLst/>
            <a:rect l="l" t="t" r="r" b="b"/>
            <a:pathLst>
              <a:path w="7924800" h="762000">
                <a:moveTo>
                  <a:pt x="0" y="762000"/>
                </a:moveTo>
                <a:lnTo>
                  <a:pt x="0" y="0"/>
                </a:lnTo>
                <a:lnTo>
                  <a:pt x="7924800" y="0"/>
                </a:lnTo>
              </a:path>
            </a:pathLst>
          </a:custGeom>
          <a:ln w="25400">
            <a:solidFill>
              <a:srgbClr val="CC9900"/>
            </a:solidFill>
          </a:ln>
        </p:spPr>
        <p:txBody>
          <a:bodyPr wrap="square" lIns="0" tIns="0" rIns="0" bIns="0" rtlCol="0"/>
          <a:lstStyle/>
          <a:p>
            <a:endParaRPr/>
          </a:p>
        </p:txBody>
      </p:sp>
      <p:sp>
        <p:nvSpPr>
          <p:cNvPr id="3" name="object 3"/>
          <p:cNvSpPr/>
          <p:nvPr/>
        </p:nvSpPr>
        <p:spPr>
          <a:xfrm>
            <a:off x="1981200" y="3302000"/>
            <a:ext cx="6511925" cy="0"/>
          </a:xfrm>
          <a:custGeom>
            <a:avLst/>
            <a:gdLst/>
            <a:ahLst/>
            <a:cxnLst/>
            <a:rect l="l" t="t" r="r" b="b"/>
            <a:pathLst>
              <a:path w="6511925">
                <a:moveTo>
                  <a:pt x="0" y="0"/>
                </a:moveTo>
                <a:lnTo>
                  <a:pt x="6511925" y="0"/>
                </a:lnTo>
              </a:path>
            </a:pathLst>
          </a:custGeom>
          <a:ln w="19050">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1161999" y="1171143"/>
            <a:ext cx="7093584" cy="1951816"/>
          </a:xfrm>
          <a:prstGeom prst="rect">
            <a:avLst/>
          </a:prstGeom>
        </p:spPr>
        <p:txBody>
          <a:bodyPr vert="horz" wrap="square" lIns="0" tIns="12700" rIns="0" bIns="0" rtlCol="0">
            <a:spAutoFit/>
          </a:bodyPr>
          <a:lstStyle/>
          <a:p>
            <a:pPr marL="5715" algn="l">
              <a:lnSpc>
                <a:spcPct val="100000"/>
              </a:lnSpc>
              <a:spcBef>
                <a:spcPts val="100"/>
              </a:spcBef>
            </a:pPr>
            <a:r>
              <a:rPr lang="en-US" sz="6300" dirty="0"/>
              <a:t>GIẢI THUẬT RANDOM FOREST</a:t>
            </a:r>
            <a:endParaRPr sz="630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a:t>
            </a:fld>
            <a:endParaRPr spc="-25" dirty="0"/>
          </a:p>
        </p:txBody>
      </p:sp>
      <p:sp>
        <p:nvSpPr>
          <p:cNvPr id="5" name="object 5"/>
          <p:cNvSpPr txBox="1"/>
          <p:nvPr/>
        </p:nvSpPr>
        <p:spPr>
          <a:xfrm>
            <a:off x="609600" y="3323371"/>
            <a:ext cx="4114800" cy="1637628"/>
          </a:xfrm>
          <a:prstGeom prst="rect">
            <a:avLst/>
          </a:prstGeom>
        </p:spPr>
        <p:txBody>
          <a:bodyPr vert="horz" wrap="square" lIns="0" tIns="97790" rIns="0" bIns="0" rtlCol="0">
            <a:spAutoFit/>
          </a:bodyPr>
          <a:lstStyle/>
          <a:p>
            <a:pPr marL="12700">
              <a:lnSpc>
                <a:spcPct val="100000"/>
              </a:lnSpc>
              <a:spcBef>
                <a:spcPts val="770"/>
              </a:spcBef>
            </a:pPr>
            <a:r>
              <a:rPr lang="en-US" sz="2000" b="1" dirty="0">
                <a:latin typeface="Times New Roman"/>
                <a:cs typeface="Times New Roman"/>
              </a:rPr>
              <a:t>Sinh </a:t>
            </a:r>
            <a:r>
              <a:rPr lang="en-US" sz="2000" b="1" dirty="0" err="1">
                <a:latin typeface="Times New Roman"/>
                <a:cs typeface="Times New Roman"/>
              </a:rPr>
              <a:t>viên</a:t>
            </a:r>
            <a:r>
              <a:rPr lang="en-US" sz="2000" b="1" dirty="0">
                <a:latin typeface="Times New Roman"/>
                <a:cs typeface="Times New Roman"/>
              </a:rPr>
              <a:t> </a:t>
            </a:r>
            <a:r>
              <a:rPr lang="en-US" sz="2000" b="1" dirty="0" err="1">
                <a:latin typeface="Times New Roman"/>
                <a:cs typeface="Times New Roman"/>
              </a:rPr>
              <a:t>thực</a:t>
            </a:r>
            <a:r>
              <a:rPr lang="en-US" sz="2000" b="1" dirty="0">
                <a:latin typeface="Times New Roman"/>
                <a:cs typeface="Times New Roman"/>
              </a:rPr>
              <a:t> </a:t>
            </a:r>
            <a:r>
              <a:rPr lang="en-US" sz="2000" b="1" dirty="0" err="1">
                <a:latin typeface="Times New Roman"/>
                <a:cs typeface="Times New Roman"/>
              </a:rPr>
              <a:t>hiện</a:t>
            </a:r>
            <a:r>
              <a:rPr lang="en-US" sz="2000" b="1" dirty="0">
                <a:latin typeface="Times New Roman"/>
                <a:cs typeface="Times New Roman"/>
              </a:rPr>
              <a:t>: </a:t>
            </a:r>
          </a:p>
          <a:p>
            <a:pPr marL="12700">
              <a:lnSpc>
                <a:spcPct val="100000"/>
              </a:lnSpc>
              <a:spcBef>
                <a:spcPts val="770"/>
              </a:spcBef>
            </a:pPr>
            <a:r>
              <a:rPr lang="en-US" sz="2000" dirty="0">
                <a:latin typeface="Times New Roman"/>
                <a:cs typeface="Times New Roman"/>
              </a:rPr>
              <a:t>Huỳnh Quốc Huy-DTH225650</a:t>
            </a:r>
          </a:p>
          <a:p>
            <a:pPr marL="12700" lvl="3">
              <a:spcBef>
                <a:spcPts val="770"/>
              </a:spcBef>
            </a:pPr>
            <a:r>
              <a:rPr lang="en-US" sz="2000" dirty="0">
                <a:latin typeface="Times New Roman"/>
                <a:cs typeface="Times New Roman"/>
              </a:rPr>
              <a:t>Bùi Nguyễn </a:t>
            </a:r>
            <a:r>
              <a:rPr lang="en-US" sz="2000">
                <a:latin typeface="Times New Roman"/>
                <a:cs typeface="Times New Roman"/>
              </a:rPr>
              <a:t>Minh Huy-DTH225647</a:t>
            </a:r>
          </a:p>
          <a:p>
            <a:pPr marL="12700" lvl="3">
              <a:spcBef>
                <a:spcPts val="770"/>
              </a:spcBef>
            </a:pPr>
            <a:r>
              <a:rPr lang="en-US" sz="2000">
                <a:latin typeface="Times New Roman"/>
                <a:cs typeface="Times New Roman"/>
              </a:rPr>
              <a:t>Nguyễn Vũ Kha – DTH225671</a:t>
            </a:r>
            <a:endParaRPr lang="en-US" sz="2000" dirty="0">
              <a:latin typeface="Times New Roman"/>
              <a:cs typeface="Times New Roman"/>
            </a:endParaRPr>
          </a:p>
        </p:txBody>
      </p:sp>
      <p:sp>
        <p:nvSpPr>
          <p:cNvPr id="7" name="object 5">
            <a:extLst>
              <a:ext uri="{FF2B5EF4-FFF2-40B4-BE49-F238E27FC236}">
                <a16:creationId xmlns:a16="http://schemas.microsoft.com/office/drawing/2014/main" id="{9E5AF966-C155-186C-8286-F3B89A145F45}"/>
              </a:ext>
            </a:extLst>
          </p:cNvPr>
          <p:cNvSpPr txBox="1"/>
          <p:nvPr/>
        </p:nvSpPr>
        <p:spPr>
          <a:xfrm>
            <a:off x="5811141" y="3331582"/>
            <a:ext cx="2895600" cy="816890"/>
          </a:xfrm>
          <a:prstGeom prst="rect">
            <a:avLst/>
          </a:prstGeom>
        </p:spPr>
        <p:txBody>
          <a:bodyPr vert="horz" wrap="square" lIns="0" tIns="97790" rIns="0" bIns="0" rtlCol="0">
            <a:spAutoFit/>
          </a:bodyPr>
          <a:lstStyle/>
          <a:p>
            <a:pPr marL="12700">
              <a:lnSpc>
                <a:spcPct val="100000"/>
              </a:lnSpc>
              <a:spcBef>
                <a:spcPts val="770"/>
              </a:spcBef>
            </a:pPr>
            <a:r>
              <a:rPr sz="2000" b="1" dirty="0" err="1">
                <a:latin typeface="Times New Roman"/>
                <a:cs typeface="Times New Roman"/>
              </a:rPr>
              <a:t>Giảng</a:t>
            </a:r>
            <a:r>
              <a:rPr sz="2000" b="1" spc="-60" dirty="0">
                <a:latin typeface="Times New Roman"/>
                <a:cs typeface="Times New Roman"/>
              </a:rPr>
              <a:t> </a:t>
            </a:r>
            <a:r>
              <a:rPr sz="2000" b="1" dirty="0" err="1">
                <a:latin typeface="Times New Roman"/>
                <a:cs typeface="Times New Roman"/>
              </a:rPr>
              <a:t>viên</a:t>
            </a:r>
            <a:r>
              <a:rPr lang="en-US" sz="2000" b="1" dirty="0">
                <a:latin typeface="Times New Roman"/>
                <a:cs typeface="Times New Roman"/>
              </a:rPr>
              <a:t> </a:t>
            </a:r>
            <a:r>
              <a:rPr lang="en-US" sz="2000" b="1" dirty="0" err="1">
                <a:latin typeface="Times New Roman"/>
                <a:cs typeface="Times New Roman"/>
              </a:rPr>
              <a:t>hướng</a:t>
            </a:r>
            <a:r>
              <a:rPr lang="en-US" sz="2000" b="1" dirty="0">
                <a:latin typeface="Times New Roman"/>
                <a:cs typeface="Times New Roman"/>
              </a:rPr>
              <a:t> </a:t>
            </a:r>
            <a:r>
              <a:rPr lang="en-US" sz="2000" b="1" dirty="0" err="1">
                <a:latin typeface="Times New Roman"/>
                <a:cs typeface="Times New Roman"/>
              </a:rPr>
              <a:t>dẫn</a:t>
            </a:r>
            <a:r>
              <a:rPr sz="2000" dirty="0">
                <a:latin typeface="Times New Roman"/>
                <a:cs typeface="Times New Roman"/>
              </a:rPr>
              <a:t>:</a:t>
            </a:r>
            <a:r>
              <a:rPr sz="2000" spc="-60" dirty="0">
                <a:latin typeface="Times New Roman"/>
                <a:cs typeface="Times New Roman"/>
              </a:rPr>
              <a:t> </a:t>
            </a:r>
            <a:endParaRPr lang="en-US" sz="2000" spc="-60" dirty="0">
              <a:latin typeface="Times New Roman"/>
              <a:cs typeface="Times New Roman"/>
            </a:endParaRPr>
          </a:p>
          <a:p>
            <a:pPr marL="12700">
              <a:lnSpc>
                <a:spcPct val="100000"/>
              </a:lnSpc>
              <a:spcBef>
                <a:spcPts val="770"/>
              </a:spcBef>
            </a:pPr>
            <a:r>
              <a:rPr lang="en-US" sz="2000" spc="-60">
                <a:latin typeface="Times New Roman"/>
                <a:cs typeface="Times New Roman"/>
              </a:rPr>
              <a:t>Ts. </a:t>
            </a:r>
            <a:r>
              <a:rPr sz="2000" dirty="0">
                <a:latin typeface="Times New Roman"/>
                <a:cs typeface="Times New Roman"/>
              </a:rPr>
              <a:t>Nguyễn</a:t>
            </a:r>
            <a:r>
              <a:rPr sz="2000" spc="-60" dirty="0">
                <a:latin typeface="Times New Roman"/>
                <a:cs typeface="Times New Roman"/>
              </a:rPr>
              <a:t> </a:t>
            </a:r>
            <a:r>
              <a:rPr sz="2000" dirty="0">
                <a:latin typeface="Times New Roman"/>
                <a:cs typeface="Times New Roman"/>
              </a:rPr>
              <a:t>Văn</a:t>
            </a:r>
            <a:r>
              <a:rPr sz="2000" spc="-45" dirty="0">
                <a:latin typeface="Times New Roman"/>
                <a:cs typeface="Times New Roman"/>
              </a:rPr>
              <a:t> </a:t>
            </a:r>
            <a:r>
              <a:rPr sz="2000" spc="-25" dirty="0" err="1">
                <a:latin typeface="Times New Roman"/>
                <a:cs typeface="Times New Roman"/>
              </a:rPr>
              <a:t>Hòa</a:t>
            </a:r>
            <a:endParaRPr sz="20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p:cNvSpPr txBox="1">
            <a:spLocks noGrp="1"/>
          </p:cNvSpPr>
          <p:nvPr>
            <p:ph type="title"/>
          </p:nvPr>
        </p:nvSpPr>
        <p:spPr>
          <a:xfrm>
            <a:off x="457200" y="165123"/>
            <a:ext cx="8299450" cy="4998804"/>
          </a:xfrm>
          <a:prstGeom prst="rect">
            <a:avLst/>
          </a:prstGeom>
        </p:spPr>
        <p:txBody>
          <a:bodyPr vert="horz" wrap="square" lIns="0" tIns="12700" rIns="0" bIns="0" rtlCol="0">
            <a:spAutoFit/>
          </a:bodyPr>
          <a:lstStyle/>
          <a:p>
            <a:pPr marL="12700">
              <a:lnSpc>
                <a:spcPct val="100000"/>
              </a:lnSpc>
              <a:spcBef>
                <a:spcPts val="100"/>
              </a:spcBef>
            </a:pPr>
            <a:r>
              <a:rPr lang="en-US" sz="3600" dirty="0"/>
              <a:t>NỘI DUNG TRÌNH BÀY:</a:t>
            </a:r>
            <a:br>
              <a:rPr lang="en-US" sz="3600" dirty="0"/>
            </a:br>
            <a:br>
              <a:rPr lang="en-US" sz="3600" dirty="0"/>
            </a:br>
            <a:r>
              <a:rPr lang="en-US" sz="3600" dirty="0"/>
              <a:t>1. CƠ SỞ LÝ THUYẾT VỀ KỸ THUẬT</a:t>
            </a:r>
            <a:br>
              <a:rPr lang="en-US" sz="3600" dirty="0"/>
            </a:br>
            <a:r>
              <a:rPr lang="en-US" sz="3600" dirty="0"/>
              <a:t>ENSEMBLE LEARNING – BAGGING</a:t>
            </a:r>
            <a:br>
              <a:rPr lang="en-US" sz="3600" dirty="0"/>
            </a:br>
            <a:br>
              <a:rPr lang="en-US" sz="3600" dirty="0"/>
            </a:br>
            <a:r>
              <a:rPr lang="en-US" sz="3600" dirty="0"/>
              <a:t>2. GIẢI THUẬT RỪNG NGẪU NHIÊN-RANDOM FOREST</a:t>
            </a:r>
            <a:br>
              <a:rPr lang="en-US" sz="3600" dirty="0"/>
            </a:br>
            <a:br>
              <a:rPr lang="en-US" sz="3600" dirty="0"/>
            </a:br>
            <a:r>
              <a:rPr lang="en-US" sz="3600" dirty="0"/>
              <a:t>3. DEMO</a:t>
            </a:r>
            <a:endParaRPr sz="3600" spc="-10" dirty="0"/>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8F04B-60D2-CE73-8D79-765D5BB89E2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0BC0FAA-7275-F206-F4C8-5BD301FA5DD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4170FD2D-AC12-DDF4-05D8-940BC8F7E603}"/>
              </a:ext>
            </a:extLst>
          </p:cNvPr>
          <p:cNvSpPr txBox="1">
            <a:spLocks noGrp="1"/>
          </p:cNvSpPr>
          <p:nvPr>
            <p:ph type="title"/>
          </p:nvPr>
        </p:nvSpPr>
        <p:spPr>
          <a:xfrm>
            <a:off x="535939" y="295478"/>
            <a:ext cx="8379461" cy="5552802"/>
          </a:xfrm>
          <a:prstGeom prst="rect">
            <a:avLst/>
          </a:prstGeom>
        </p:spPr>
        <p:txBody>
          <a:bodyPr vert="horz" wrap="square" lIns="0" tIns="12700" rIns="0" bIns="0" rtlCol="0">
            <a:spAutoFit/>
          </a:bodyPr>
          <a:lstStyle/>
          <a:p>
            <a:pPr marL="12700">
              <a:lnSpc>
                <a:spcPct val="100000"/>
              </a:lnSpc>
              <a:spcBef>
                <a:spcPts val="100"/>
              </a:spcBef>
            </a:pPr>
            <a:r>
              <a:rPr lang="en-US" sz="3600" dirty="0"/>
              <a:t>1. CƠ SỞ LÝ THUYẾT VỀ KỸ THUẬT</a:t>
            </a:r>
            <a:br>
              <a:rPr lang="en-US" sz="3600" dirty="0"/>
            </a:br>
            <a:r>
              <a:rPr lang="en-US" sz="3600" dirty="0"/>
              <a:t>ENSEMBLE LEARNING – BAGGING</a:t>
            </a:r>
            <a:br>
              <a:rPr lang="en-US" sz="3600" dirty="0"/>
            </a:br>
            <a:r>
              <a:rPr lang="en-US" sz="3600" dirty="0"/>
              <a:t>1.1. </a:t>
            </a:r>
            <a:r>
              <a:rPr lang="en-US" sz="3600" dirty="0" err="1"/>
              <a:t>Boosstraping</a:t>
            </a:r>
            <a:br>
              <a:rPr lang="en-US" sz="3600" dirty="0"/>
            </a:br>
            <a:r>
              <a:rPr lang="en-US" sz="3600" dirty="0"/>
              <a:t>1.2. Bagging</a:t>
            </a:r>
            <a:br>
              <a:rPr lang="en-US" sz="3600" dirty="0"/>
            </a:br>
            <a:r>
              <a:rPr lang="en-US" sz="3600" dirty="0"/>
              <a:t>1.3. Bagging Prediction </a:t>
            </a:r>
            <a:br>
              <a:rPr lang="en-US" sz="3600" dirty="0"/>
            </a:br>
            <a:r>
              <a:rPr lang="en-US" sz="3600" dirty="0"/>
              <a:t>1.4. Out of bag (OOB) Instances</a:t>
            </a:r>
            <a:br>
              <a:rPr lang="en-US" sz="3600" dirty="0"/>
            </a:br>
            <a:r>
              <a:rPr lang="en-US" sz="3600" dirty="0"/>
              <a:t>1.5. 1.5	</a:t>
            </a:r>
            <a:r>
              <a:rPr lang="en-US" sz="3600" dirty="0" err="1"/>
              <a:t>Baggging</a:t>
            </a:r>
            <a:r>
              <a:rPr lang="en-US" sz="3600" dirty="0"/>
              <a:t> Ensemble </a:t>
            </a:r>
            <a:r>
              <a:rPr lang="en-US" sz="3600" dirty="0" err="1"/>
              <a:t>Learing</a:t>
            </a:r>
            <a:r>
              <a:rPr lang="en-US" sz="3600" dirty="0"/>
              <a:t> Using Decision Tree</a:t>
            </a:r>
            <a:br>
              <a:rPr lang="en-US" sz="3600" dirty="0"/>
            </a:br>
            <a:r>
              <a:rPr lang="en-US" sz="3600" dirty="0"/>
              <a:t>1.6. </a:t>
            </a:r>
            <a:r>
              <a:rPr lang="en-US" sz="3600" dirty="0" err="1"/>
              <a:t>Ưu</a:t>
            </a:r>
            <a:r>
              <a:rPr lang="en-US" sz="3600" dirty="0"/>
              <a:t>, </a:t>
            </a:r>
            <a:r>
              <a:rPr lang="en-US" sz="3600" dirty="0" err="1"/>
              <a:t>nhược</a:t>
            </a:r>
            <a:r>
              <a:rPr lang="en-US" sz="3600" dirty="0"/>
              <a:t> </a:t>
            </a:r>
            <a:r>
              <a:rPr lang="en-US" sz="3600" dirty="0" err="1"/>
              <a:t>điểm</a:t>
            </a:r>
            <a:br>
              <a:rPr lang="en-US" sz="3600" dirty="0"/>
            </a:br>
            <a:endParaRPr sz="3600" spc="-10" dirty="0"/>
          </a:p>
        </p:txBody>
      </p:sp>
      <p:sp>
        <p:nvSpPr>
          <p:cNvPr id="10" name="object 10">
            <a:extLst>
              <a:ext uri="{FF2B5EF4-FFF2-40B4-BE49-F238E27FC236}">
                <a16:creationId xmlns:a16="http://schemas.microsoft.com/office/drawing/2014/main" id="{7FED0E2D-6EA1-A3CD-221C-91A1BDE0715D}"/>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3</a:t>
            </a:fld>
            <a:endParaRPr spc="-25" dirty="0"/>
          </a:p>
        </p:txBody>
      </p:sp>
    </p:spTree>
    <p:extLst>
      <p:ext uri="{BB962C8B-B14F-4D97-AF65-F5344CB8AC3E}">
        <p14:creationId xmlns:p14="http://schemas.microsoft.com/office/powerpoint/2010/main" val="1812084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B2298-76D7-F528-9D48-66451079397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B96D12-C4F7-FCD4-C8B8-98565765210E}"/>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2E60BA0E-134D-A9B3-0491-0C38349931BB}"/>
              </a:ext>
            </a:extLst>
          </p:cNvPr>
          <p:cNvSpPr txBox="1">
            <a:spLocks noGrp="1"/>
          </p:cNvSpPr>
          <p:nvPr>
            <p:ph type="title"/>
          </p:nvPr>
        </p:nvSpPr>
        <p:spPr>
          <a:xfrm>
            <a:off x="535940" y="295478"/>
            <a:ext cx="8608060" cy="2228815"/>
          </a:xfrm>
          <a:prstGeom prst="rect">
            <a:avLst/>
          </a:prstGeom>
        </p:spPr>
        <p:txBody>
          <a:bodyPr vert="horz" wrap="square" lIns="0" tIns="12700" rIns="0" bIns="0" rtlCol="0">
            <a:spAutoFit/>
          </a:bodyPr>
          <a:lstStyle/>
          <a:p>
            <a:pPr marL="12700">
              <a:lnSpc>
                <a:spcPct val="100000"/>
              </a:lnSpc>
              <a:spcBef>
                <a:spcPts val="100"/>
              </a:spcBef>
            </a:pPr>
            <a:r>
              <a:rPr lang="en-US" sz="3600" dirty="0"/>
              <a:t>1. CƠ SỞ LÝ THUYẾT VỀ KỸ THUẬT</a:t>
            </a:r>
            <a:br>
              <a:rPr lang="en-US" sz="3600" dirty="0"/>
            </a:br>
            <a:r>
              <a:rPr lang="en-US" sz="3600" dirty="0"/>
              <a:t>ENSEMBLE LEARNING – BAGGING</a:t>
            </a:r>
            <a:br>
              <a:rPr lang="en-US" sz="3600" dirty="0"/>
            </a:br>
            <a:r>
              <a:rPr lang="en-US" sz="3600" dirty="0"/>
              <a:t>1.1. </a:t>
            </a:r>
            <a:r>
              <a:rPr lang="en-US" sz="3600" dirty="0" err="1"/>
              <a:t>Boostraping</a:t>
            </a:r>
            <a:r>
              <a:rPr lang="en-US" sz="3600" dirty="0"/>
              <a:t>:</a:t>
            </a:r>
            <a:br>
              <a:rPr lang="en-US" sz="3600" dirty="0"/>
            </a:br>
            <a:r>
              <a:rPr lang="en-US" sz="3600" dirty="0"/>
              <a:t>1.1.1. </a:t>
            </a:r>
            <a:r>
              <a:rPr lang="en-US" sz="3600" dirty="0" err="1"/>
              <a:t>Boostraping</a:t>
            </a:r>
            <a:r>
              <a:rPr lang="en-US" sz="3600" dirty="0"/>
              <a:t> </a:t>
            </a:r>
            <a:r>
              <a:rPr lang="en-US" sz="3600" dirty="0" err="1"/>
              <a:t>là</a:t>
            </a:r>
            <a:r>
              <a:rPr lang="en-US" sz="3600" dirty="0"/>
              <a:t> </a:t>
            </a:r>
            <a:r>
              <a:rPr lang="en-US" sz="3600" dirty="0" err="1"/>
              <a:t>gì</a:t>
            </a:r>
            <a:r>
              <a:rPr lang="en-US" sz="3600" dirty="0"/>
              <a:t>?</a:t>
            </a:r>
            <a:endParaRPr sz="3600" spc="-10" dirty="0"/>
          </a:p>
        </p:txBody>
      </p:sp>
      <p:sp>
        <p:nvSpPr>
          <p:cNvPr id="4" name="object 4">
            <a:extLst>
              <a:ext uri="{FF2B5EF4-FFF2-40B4-BE49-F238E27FC236}">
                <a16:creationId xmlns:a16="http://schemas.microsoft.com/office/drawing/2014/main" id="{B09428E2-5238-C0E0-6AC9-49B7DD75E2A9}"/>
              </a:ext>
            </a:extLst>
          </p:cNvPr>
          <p:cNvSpPr txBox="1"/>
          <p:nvPr/>
        </p:nvSpPr>
        <p:spPr>
          <a:xfrm>
            <a:off x="446903" y="2733819"/>
            <a:ext cx="8373282" cy="2053767"/>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en-US" sz="3000" dirty="0" err="1">
                <a:latin typeface="Times New Roman"/>
                <a:cs typeface="Times New Roman"/>
              </a:rPr>
              <a:t>Là</a:t>
            </a:r>
            <a:r>
              <a:rPr lang="en-US" sz="3000" dirty="0">
                <a:latin typeface="Times New Roman"/>
                <a:cs typeface="Times New Roman"/>
              </a:rPr>
              <a:t> </a:t>
            </a:r>
            <a:r>
              <a:rPr lang="en-US" sz="3000" dirty="0" err="1">
                <a:latin typeface="Times New Roman"/>
                <a:cs typeface="Times New Roman"/>
              </a:rPr>
              <a:t>kỹ</a:t>
            </a:r>
            <a:r>
              <a:rPr lang="en-US" sz="3000" dirty="0">
                <a:latin typeface="Times New Roman"/>
                <a:cs typeface="Times New Roman"/>
              </a:rPr>
              <a:t> </a:t>
            </a:r>
            <a:r>
              <a:rPr lang="en-US" sz="3000" dirty="0" err="1">
                <a:latin typeface="Times New Roman"/>
                <a:cs typeface="Times New Roman"/>
              </a:rPr>
              <a:t>thuật</a:t>
            </a:r>
            <a:r>
              <a:rPr lang="en-US" sz="3000" dirty="0">
                <a:latin typeface="Times New Roman"/>
                <a:cs typeface="Times New Roman"/>
              </a:rPr>
              <a:t> </a:t>
            </a:r>
            <a:r>
              <a:rPr lang="en-US" sz="3000" dirty="0" err="1">
                <a:latin typeface="Times New Roman"/>
                <a:cs typeface="Times New Roman"/>
              </a:rPr>
              <a:t>tạo</a:t>
            </a:r>
            <a:r>
              <a:rPr lang="en-US" sz="3000" dirty="0">
                <a:latin typeface="Times New Roman"/>
                <a:cs typeface="Times New Roman"/>
              </a:rPr>
              <a:t> </a:t>
            </a:r>
            <a:r>
              <a:rPr lang="en-US" sz="3000" dirty="0" err="1">
                <a:latin typeface="Times New Roman"/>
                <a:cs typeface="Times New Roman"/>
              </a:rPr>
              <a:t>nên</a:t>
            </a:r>
            <a:r>
              <a:rPr lang="en-US" sz="3000" dirty="0">
                <a:latin typeface="Times New Roman"/>
                <a:cs typeface="Times New Roman"/>
              </a:rPr>
              <a:t> </a:t>
            </a:r>
            <a:r>
              <a:rPr lang="en-US" sz="3000" b="1" dirty="0" err="1">
                <a:latin typeface="Times New Roman"/>
                <a:cs typeface="Times New Roman"/>
              </a:rPr>
              <a:t>các</a:t>
            </a:r>
            <a:r>
              <a:rPr lang="en-US" sz="3000" b="1" dirty="0">
                <a:latin typeface="Times New Roman"/>
                <a:cs typeface="Times New Roman"/>
              </a:rPr>
              <a:t> </a:t>
            </a:r>
            <a:r>
              <a:rPr lang="en-US" sz="3000" b="1" dirty="0" err="1">
                <a:latin typeface="Times New Roman"/>
                <a:cs typeface="Times New Roman"/>
              </a:rPr>
              <a:t>mẫu</a:t>
            </a:r>
            <a:r>
              <a:rPr lang="en-US" sz="3000" b="1" dirty="0">
                <a:latin typeface="Times New Roman"/>
                <a:cs typeface="Times New Roman"/>
              </a:rPr>
              <a:t> </a:t>
            </a:r>
            <a:r>
              <a:rPr lang="en-US" sz="3000" b="1" dirty="0" err="1">
                <a:latin typeface="Times New Roman"/>
                <a:cs typeface="Times New Roman"/>
              </a:rPr>
              <a:t>mới</a:t>
            </a:r>
            <a:r>
              <a:rPr lang="en-US" sz="3000" b="1" dirty="0">
                <a:latin typeface="Times New Roman"/>
                <a:cs typeface="Times New Roman"/>
              </a:rPr>
              <a:t> </a:t>
            </a:r>
            <a:r>
              <a:rPr lang="en-US" sz="3000" dirty="0" err="1">
                <a:latin typeface="Times New Roman"/>
                <a:cs typeface="Times New Roman"/>
              </a:rPr>
              <a:t>từ</a:t>
            </a:r>
            <a:r>
              <a:rPr lang="en-US" sz="3000" dirty="0">
                <a:latin typeface="Times New Roman"/>
                <a:cs typeface="Times New Roman"/>
              </a:rPr>
              <a:t> </a:t>
            </a:r>
            <a:r>
              <a:rPr lang="en-US" sz="3000" b="1" dirty="0" err="1">
                <a:latin typeface="Times New Roman"/>
                <a:cs typeface="Times New Roman"/>
              </a:rPr>
              <a:t>bộ</a:t>
            </a:r>
            <a:r>
              <a:rPr lang="en-US" sz="3000" b="1" dirty="0">
                <a:latin typeface="Times New Roman"/>
                <a:cs typeface="Times New Roman"/>
              </a:rPr>
              <a:t> </a:t>
            </a:r>
            <a:r>
              <a:rPr lang="en-US" sz="3000" b="1" dirty="0" err="1">
                <a:latin typeface="Times New Roman"/>
                <a:cs typeface="Times New Roman"/>
              </a:rPr>
              <a:t>dữ</a:t>
            </a:r>
            <a:r>
              <a:rPr lang="en-US" sz="3000" b="1" dirty="0">
                <a:latin typeface="Times New Roman"/>
                <a:cs typeface="Times New Roman"/>
              </a:rPr>
              <a:t> </a:t>
            </a:r>
            <a:r>
              <a:rPr lang="en-US" sz="3000" b="1" dirty="0" err="1">
                <a:latin typeface="Times New Roman"/>
                <a:cs typeface="Times New Roman"/>
              </a:rPr>
              <a:t>liệu</a:t>
            </a:r>
            <a:r>
              <a:rPr lang="en-US" sz="3000" b="1" dirty="0">
                <a:latin typeface="Times New Roman"/>
                <a:cs typeface="Times New Roman"/>
              </a:rPr>
              <a:t> </a:t>
            </a:r>
            <a:r>
              <a:rPr lang="en-US" sz="3000" b="1" dirty="0" err="1">
                <a:latin typeface="Times New Roman"/>
                <a:cs typeface="Times New Roman"/>
              </a:rPr>
              <a:t>gốc</a:t>
            </a:r>
            <a:r>
              <a:rPr lang="en-US" sz="3000" dirty="0">
                <a:latin typeface="Times New Roman"/>
                <a:cs typeface="Times New Roman"/>
              </a:rPr>
              <a:t>.</a:t>
            </a:r>
          </a:p>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Thường sử dụng trong thống kê và mãy học </a:t>
            </a:r>
            <a:br>
              <a:rPr lang="en-US" sz="3000" dirty="0">
                <a:latin typeface="Times New Roman"/>
                <a:cs typeface="Times New Roman"/>
              </a:rPr>
            </a:br>
            <a:r>
              <a:rPr lang="en-US" sz="3000" dirty="0">
                <a:latin typeface="Times New Roman"/>
                <a:cs typeface="Times New Roman"/>
                <a:sym typeface="Wingdings" panose="05000000000000000000" pitchFamily="2" charset="2"/>
              </a:rPr>
              <a:t></a:t>
            </a:r>
            <a:r>
              <a:rPr lang="vi-VN" sz="3000" dirty="0">
                <a:latin typeface="Times New Roman"/>
                <a:cs typeface="Times New Roman"/>
              </a:rPr>
              <a:t> tạo nên những bộ dữ liệu đa dạng hơn từ 1 bộ dữ liệu gốc.</a:t>
            </a:r>
            <a:endParaRPr sz="3000" dirty="0">
              <a:latin typeface="Times New Roman"/>
              <a:cs typeface="Times New Roman"/>
            </a:endParaRPr>
          </a:p>
        </p:txBody>
      </p:sp>
      <p:sp>
        <p:nvSpPr>
          <p:cNvPr id="10" name="object 10">
            <a:extLst>
              <a:ext uri="{FF2B5EF4-FFF2-40B4-BE49-F238E27FC236}">
                <a16:creationId xmlns:a16="http://schemas.microsoft.com/office/drawing/2014/main" id="{D6A2DEB0-55EB-2202-E7DF-034A21C5572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4</a:t>
            </a:fld>
            <a:endParaRPr spc="-25" dirty="0"/>
          </a:p>
        </p:txBody>
      </p:sp>
    </p:spTree>
    <p:extLst>
      <p:ext uri="{BB962C8B-B14F-4D97-AF65-F5344CB8AC3E}">
        <p14:creationId xmlns:p14="http://schemas.microsoft.com/office/powerpoint/2010/main" val="4280966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F8094-31D5-0518-21A9-9D3EB471593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D59E15A-6CB0-F88A-565C-4CA1BAB111DC}"/>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164E1354-99D8-2FC5-ED51-8CD60FE673D4}"/>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1.1.2. </a:t>
            </a:r>
            <a:r>
              <a:rPr lang="en-US" sz="3600" dirty="0" err="1"/>
              <a:t>Ví</a:t>
            </a:r>
            <a:r>
              <a:rPr lang="en-US" sz="3600" dirty="0"/>
              <a:t> </a:t>
            </a:r>
            <a:r>
              <a:rPr lang="en-US" sz="3600" dirty="0" err="1"/>
              <a:t>dụ</a:t>
            </a:r>
            <a:r>
              <a:rPr lang="en-US" sz="3600" dirty="0"/>
              <a:t> </a:t>
            </a:r>
            <a:r>
              <a:rPr lang="en-US" sz="3600" dirty="0" err="1"/>
              <a:t>về</a:t>
            </a:r>
            <a:r>
              <a:rPr lang="en-US" sz="3600" dirty="0"/>
              <a:t> </a:t>
            </a:r>
            <a:r>
              <a:rPr lang="en-US" sz="3600" dirty="0" err="1"/>
              <a:t>Boostraping</a:t>
            </a:r>
            <a:r>
              <a:rPr lang="en-US" sz="3600" dirty="0"/>
              <a:t>:</a:t>
            </a:r>
            <a:endParaRPr sz="3600" spc="-10" dirty="0"/>
          </a:p>
        </p:txBody>
      </p:sp>
      <p:sp>
        <p:nvSpPr>
          <p:cNvPr id="10" name="object 10">
            <a:extLst>
              <a:ext uri="{FF2B5EF4-FFF2-40B4-BE49-F238E27FC236}">
                <a16:creationId xmlns:a16="http://schemas.microsoft.com/office/drawing/2014/main" id="{A7F2FE93-F3F9-CC1E-9A23-5C393A6D432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5</a:t>
            </a:fld>
            <a:endParaRPr spc="-25" dirty="0"/>
          </a:p>
        </p:txBody>
      </p:sp>
      <p:pic>
        <p:nvPicPr>
          <p:cNvPr id="6" name="Picture 5">
            <a:extLst>
              <a:ext uri="{FF2B5EF4-FFF2-40B4-BE49-F238E27FC236}">
                <a16:creationId xmlns:a16="http://schemas.microsoft.com/office/drawing/2014/main" id="{2276CFC9-04D3-985E-FA00-60C8BFD725E2}"/>
              </a:ext>
            </a:extLst>
          </p:cNvPr>
          <p:cNvPicPr>
            <a:picLocks noChangeAspect="1"/>
          </p:cNvPicPr>
          <p:nvPr/>
        </p:nvPicPr>
        <p:blipFill>
          <a:blip r:embed="rId2"/>
          <a:stretch>
            <a:fillRect/>
          </a:stretch>
        </p:blipFill>
        <p:spPr>
          <a:xfrm>
            <a:off x="774520" y="1468018"/>
            <a:ext cx="8130899" cy="3069763"/>
          </a:xfrm>
          <a:prstGeom prst="rect">
            <a:avLst/>
          </a:prstGeom>
        </p:spPr>
      </p:pic>
    </p:spTree>
    <p:extLst>
      <p:ext uri="{BB962C8B-B14F-4D97-AF65-F5344CB8AC3E}">
        <p14:creationId xmlns:p14="http://schemas.microsoft.com/office/powerpoint/2010/main" val="3368498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33DC7-643C-923C-D1AC-A90A24653B9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8863CCB-D83B-E6EF-FB19-08ECCDA145E1}"/>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6983F3C0-B229-E357-395C-0122E6E70CFA}"/>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1.1.2. </a:t>
            </a:r>
            <a:r>
              <a:rPr lang="en-US" sz="3600" dirty="0" err="1"/>
              <a:t>Ví</a:t>
            </a:r>
            <a:r>
              <a:rPr lang="en-US" sz="3600" dirty="0"/>
              <a:t> </a:t>
            </a:r>
            <a:r>
              <a:rPr lang="en-US" sz="3600" dirty="0" err="1"/>
              <a:t>dụ</a:t>
            </a:r>
            <a:r>
              <a:rPr lang="en-US" sz="3600" dirty="0"/>
              <a:t> </a:t>
            </a:r>
            <a:r>
              <a:rPr lang="en-US" sz="3600" dirty="0" err="1"/>
              <a:t>về</a:t>
            </a:r>
            <a:r>
              <a:rPr lang="en-US" sz="3600" dirty="0"/>
              <a:t> </a:t>
            </a:r>
            <a:r>
              <a:rPr lang="en-US" sz="3600" dirty="0" err="1"/>
              <a:t>Boostraping</a:t>
            </a:r>
            <a:r>
              <a:rPr lang="en-US" sz="3600" dirty="0"/>
              <a:t>:</a:t>
            </a:r>
            <a:endParaRPr sz="3600" spc="-10" dirty="0"/>
          </a:p>
        </p:txBody>
      </p:sp>
      <p:sp>
        <p:nvSpPr>
          <p:cNvPr id="4" name="object 4">
            <a:extLst>
              <a:ext uri="{FF2B5EF4-FFF2-40B4-BE49-F238E27FC236}">
                <a16:creationId xmlns:a16="http://schemas.microsoft.com/office/drawing/2014/main" id="{23506687-88CA-EDAD-FE4E-5CCB88B344E4}"/>
              </a:ext>
            </a:extLst>
          </p:cNvPr>
          <p:cNvSpPr txBox="1"/>
          <p:nvPr/>
        </p:nvSpPr>
        <p:spPr>
          <a:xfrm>
            <a:off x="152400" y="1071826"/>
            <a:ext cx="8991599" cy="3284874"/>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en-US" sz="3000" dirty="0" err="1">
                <a:latin typeface="Times New Roman"/>
                <a:cs typeface="Times New Roman"/>
              </a:rPr>
              <a:t>Ví</a:t>
            </a:r>
            <a:r>
              <a:rPr lang="en-US" sz="3000" dirty="0">
                <a:latin typeface="Times New Roman"/>
                <a:cs typeface="Times New Roman"/>
              </a:rPr>
              <a:t> </a:t>
            </a:r>
            <a:r>
              <a:rPr lang="en-US" sz="3000" dirty="0" err="1">
                <a:latin typeface="Times New Roman"/>
                <a:cs typeface="Times New Roman"/>
              </a:rPr>
              <a:t>dụ</a:t>
            </a:r>
            <a:r>
              <a:rPr lang="en-US" sz="3000" dirty="0">
                <a:latin typeface="Times New Roman"/>
                <a:cs typeface="Times New Roman"/>
              </a:rPr>
              <a:t> :"outlook“ "temperature“ "humidity“ "windy“</a:t>
            </a:r>
            <a:br>
              <a:rPr lang="en-US" sz="3000" dirty="0">
                <a:latin typeface="Times New Roman"/>
                <a:cs typeface="Times New Roman"/>
              </a:rPr>
            </a:br>
            <a:endParaRPr lang="en-US" sz="3000" dirty="0">
              <a:latin typeface="Times New Roman"/>
              <a:cs typeface="Times New Roman"/>
            </a:endParaRPr>
          </a:p>
          <a:p>
            <a:pPr marL="12700" lvl="2">
              <a:spcBef>
                <a:spcPts val="815"/>
              </a:spcBef>
              <a:buClr>
                <a:srgbClr val="CC9900"/>
              </a:buClr>
              <a:buSzPct val="65000"/>
              <a:tabLst>
                <a:tab pos="354965" algn="l"/>
              </a:tabLst>
            </a:pPr>
            <a:r>
              <a:rPr lang="en-US" sz="3000" dirty="0">
                <a:latin typeface="Times New Roman"/>
                <a:cs typeface="Times New Roman"/>
              </a:rPr>
              <a:t>	- "outlook" "temperature" "temperature" "windy“</a:t>
            </a:r>
          </a:p>
          <a:p>
            <a:pPr marL="12700">
              <a:lnSpc>
                <a:spcPct val="100000"/>
              </a:lnSpc>
              <a:spcBef>
                <a:spcPts val="815"/>
              </a:spcBef>
              <a:buClr>
                <a:srgbClr val="CC9900"/>
              </a:buClr>
              <a:buSzPct val="65000"/>
              <a:tabLst>
                <a:tab pos="354965" algn="l"/>
              </a:tabLst>
            </a:pPr>
            <a:r>
              <a:rPr lang="en-US" sz="3000" dirty="0">
                <a:latin typeface="Times New Roman"/>
                <a:cs typeface="Times New Roman"/>
              </a:rPr>
              <a:t>	- "outlook“, "outlook“, "humidity“, "windy“</a:t>
            </a:r>
          </a:p>
          <a:p>
            <a:pPr marL="12700">
              <a:lnSpc>
                <a:spcPct val="100000"/>
              </a:lnSpc>
              <a:spcBef>
                <a:spcPts val="815"/>
              </a:spcBef>
              <a:buClr>
                <a:srgbClr val="CC9900"/>
              </a:buClr>
              <a:buSzPct val="65000"/>
              <a:tabLst>
                <a:tab pos="354965" algn="l"/>
              </a:tabLst>
            </a:pPr>
            <a:r>
              <a:rPr lang="en-US" sz="3000" dirty="0">
                <a:latin typeface="Times New Roman"/>
                <a:cs typeface="Times New Roman"/>
              </a:rPr>
              <a:t>	- …</a:t>
            </a:r>
          </a:p>
          <a:p>
            <a:pPr marL="12700">
              <a:lnSpc>
                <a:spcPct val="100000"/>
              </a:lnSpc>
              <a:spcBef>
                <a:spcPts val="815"/>
              </a:spcBef>
              <a:buClr>
                <a:srgbClr val="CC9900"/>
              </a:buClr>
              <a:buSzPct val="65000"/>
              <a:tabLst>
                <a:tab pos="354965" algn="l"/>
              </a:tabLst>
            </a:pPr>
            <a:r>
              <a:rPr lang="en-US" sz="3000" dirty="0">
                <a:latin typeface="Times New Roman"/>
                <a:cs typeface="Times New Roman"/>
              </a:rPr>
              <a:t>	- "outlook“ "temperature" "temperature" "temperature"</a:t>
            </a:r>
            <a:endParaRPr sz="3000" dirty="0">
              <a:latin typeface="Times New Roman"/>
              <a:cs typeface="Times New Roman"/>
            </a:endParaRPr>
          </a:p>
        </p:txBody>
      </p:sp>
      <p:sp>
        <p:nvSpPr>
          <p:cNvPr id="10" name="object 10">
            <a:extLst>
              <a:ext uri="{FF2B5EF4-FFF2-40B4-BE49-F238E27FC236}">
                <a16:creationId xmlns:a16="http://schemas.microsoft.com/office/drawing/2014/main" id="{FB2FAC9B-6BE9-FEC8-934E-50FC4DF1D9A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6</a:t>
            </a:fld>
            <a:endParaRPr spc="-25" dirty="0"/>
          </a:p>
        </p:txBody>
      </p:sp>
    </p:spTree>
    <p:extLst>
      <p:ext uri="{BB962C8B-B14F-4D97-AF65-F5344CB8AC3E}">
        <p14:creationId xmlns:p14="http://schemas.microsoft.com/office/powerpoint/2010/main" val="3642951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4EF67-48E0-C96E-B1F2-03F7CFB8F74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3EBFE7D-E8C8-76FF-E63B-BFFC77D42E73}"/>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232943AB-0470-8D93-97A8-CB9917B252F6}"/>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1.1.3. </a:t>
            </a:r>
            <a:r>
              <a:rPr lang="en-US" sz="3600" dirty="0" err="1"/>
              <a:t>Tóm</a:t>
            </a:r>
            <a:r>
              <a:rPr lang="en-US" sz="3600" dirty="0"/>
              <a:t> </a:t>
            </a:r>
            <a:r>
              <a:rPr lang="en-US" sz="3600" dirty="0" err="1"/>
              <a:t>lại</a:t>
            </a:r>
            <a:r>
              <a:rPr lang="en-US" sz="3600" dirty="0"/>
              <a:t>:</a:t>
            </a:r>
            <a:endParaRPr sz="3600" spc="-10" dirty="0"/>
          </a:p>
        </p:txBody>
      </p:sp>
      <p:sp>
        <p:nvSpPr>
          <p:cNvPr id="4" name="object 4">
            <a:extLst>
              <a:ext uri="{FF2B5EF4-FFF2-40B4-BE49-F238E27FC236}">
                <a16:creationId xmlns:a16="http://schemas.microsoft.com/office/drawing/2014/main" id="{CE196344-DFD7-206C-538C-CED583B736DF}"/>
              </a:ext>
            </a:extLst>
          </p:cNvPr>
          <p:cNvSpPr txBox="1"/>
          <p:nvPr/>
        </p:nvSpPr>
        <p:spPr>
          <a:xfrm>
            <a:off x="0" y="1071826"/>
            <a:ext cx="9448800" cy="3182281"/>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Đây là phương pháp </a:t>
            </a:r>
            <a:r>
              <a:rPr lang="vi-VN" sz="3000" b="1" dirty="0">
                <a:latin typeface="Times New Roman"/>
                <a:cs typeface="Times New Roman"/>
              </a:rPr>
              <a:t>tạo mẫu cơ bản </a:t>
            </a:r>
            <a:r>
              <a:rPr lang="vi-VN" sz="3000" dirty="0">
                <a:latin typeface="Times New Roman"/>
                <a:cs typeface="Times New Roman"/>
              </a:rPr>
              <a:t>được sử dụng trong baggging cũng như trong giải thuật Random Forest.</a:t>
            </a:r>
          </a:p>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1 bộ dữ liệu ban đầu </a:t>
            </a:r>
            <a:r>
              <a:rPr lang="en-US" sz="3000" dirty="0">
                <a:latin typeface="Times New Roman"/>
                <a:cs typeface="Times New Roman"/>
                <a:sym typeface="Wingdings" panose="05000000000000000000" pitchFamily="2" charset="2"/>
              </a:rPr>
              <a:t> </a:t>
            </a:r>
            <a:r>
              <a:rPr lang="vi-VN" sz="3000" dirty="0">
                <a:latin typeface="Times New Roman"/>
                <a:cs typeface="Times New Roman"/>
              </a:rPr>
              <a:t>n bộ dữ liệu khác nhau. </a:t>
            </a:r>
            <a:endParaRPr lang="en-US" sz="3000" dirty="0">
              <a:latin typeface="Times New Roman"/>
              <a:cs typeface="Times New Roman"/>
            </a:endParaRPr>
          </a:p>
          <a:p>
            <a:pPr marL="354965" indent="-342265">
              <a:lnSpc>
                <a:spcPct val="100000"/>
              </a:lnSpc>
              <a:spcBef>
                <a:spcPts val="815"/>
              </a:spcBef>
              <a:buClr>
                <a:srgbClr val="CC9900"/>
              </a:buClr>
              <a:buSzPct val="65000"/>
              <a:buFont typeface="Wingdings"/>
              <a:buChar char=""/>
              <a:tabLst>
                <a:tab pos="354965" algn="l"/>
              </a:tabLst>
            </a:pPr>
            <a:r>
              <a:rPr lang="vi-VN" sz="3000" b="1" dirty="0">
                <a:latin typeface="Times New Roman"/>
                <a:cs typeface="Times New Roman"/>
              </a:rPr>
              <a:t>n models khác nhau </a:t>
            </a:r>
            <a:r>
              <a:rPr lang="vi-VN" sz="3000" dirty="0">
                <a:latin typeface="Times New Roman"/>
                <a:cs typeface="Times New Roman"/>
              </a:rPr>
              <a:t>tương ứng với </a:t>
            </a:r>
            <a:r>
              <a:rPr lang="vi-VN" sz="3000" b="1" dirty="0">
                <a:latin typeface="Times New Roman"/>
                <a:cs typeface="Times New Roman"/>
              </a:rPr>
              <a:t>n dữ liệu mới</a:t>
            </a:r>
            <a:r>
              <a:rPr lang="vi-VN" sz="3000" dirty="0">
                <a:latin typeface="Times New Roman"/>
                <a:cs typeface="Times New Roman"/>
              </a:rPr>
              <a:t>.</a:t>
            </a:r>
          </a:p>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Giúp dữ liệu đa dạng hơn làm giảm sai số phương sai (Varialbe)</a:t>
            </a:r>
            <a:endParaRPr sz="3000" dirty="0">
              <a:latin typeface="Times New Roman"/>
              <a:cs typeface="Times New Roman"/>
            </a:endParaRPr>
          </a:p>
        </p:txBody>
      </p:sp>
      <p:sp>
        <p:nvSpPr>
          <p:cNvPr id="10" name="object 10">
            <a:extLst>
              <a:ext uri="{FF2B5EF4-FFF2-40B4-BE49-F238E27FC236}">
                <a16:creationId xmlns:a16="http://schemas.microsoft.com/office/drawing/2014/main" id="{D79F84D8-6C16-125C-F468-C02F697A450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7</a:t>
            </a:fld>
            <a:endParaRPr spc="-25" dirty="0"/>
          </a:p>
        </p:txBody>
      </p:sp>
    </p:spTree>
    <p:extLst>
      <p:ext uri="{BB962C8B-B14F-4D97-AF65-F5344CB8AC3E}">
        <p14:creationId xmlns:p14="http://schemas.microsoft.com/office/powerpoint/2010/main" val="267535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877AB-53F9-9F56-73EC-77A238B86E0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A893E63-B243-6B39-82E3-5DEE3B681D7A}"/>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A349B6ED-016E-718E-8B74-DD4556273F75}"/>
              </a:ext>
            </a:extLst>
          </p:cNvPr>
          <p:cNvSpPr txBox="1">
            <a:spLocks noGrp="1"/>
          </p:cNvSpPr>
          <p:nvPr>
            <p:ph type="title"/>
          </p:nvPr>
        </p:nvSpPr>
        <p:spPr>
          <a:xfrm>
            <a:off x="535940" y="295478"/>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dirty="0"/>
              <a:t>1.2. Bagging:</a:t>
            </a:r>
            <a:br>
              <a:rPr lang="en-US" sz="3600" dirty="0"/>
            </a:br>
            <a:r>
              <a:rPr lang="en-US" sz="3600" dirty="0"/>
              <a:t>1.2.1. </a:t>
            </a:r>
            <a:r>
              <a:rPr lang="en-US" sz="3600" dirty="0" err="1"/>
              <a:t>Khái</a:t>
            </a:r>
            <a:r>
              <a:rPr lang="en-US" sz="3600" dirty="0"/>
              <a:t> </a:t>
            </a:r>
            <a:r>
              <a:rPr lang="en-US" sz="3600" dirty="0" err="1"/>
              <a:t>niệm</a:t>
            </a:r>
            <a:r>
              <a:rPr lang="en-US" sz="3600" dirty="0"/>
              <a:t>:</a:t>
            </a:r>
            <a:endParaRPr sz="3600" spc="-10" dirty="0"/>
          </a:p>
        </p:txBody>
      </p:sp>
      <p:sp>
        <p:nvSpPr>
          <p:cNvPr id="4" name="object 4">
            <a:extLst>
              <a:ext uri="{FF2B5EF4-FFF2-40B4-BE49-F238E27FC236}">
                <a16:creationId xmlns:a16="http://schemas.microsoft.com/office/drawing/2014/main" id="{FC97F8B2-401A-6717-B09F-59B5ABD62746}"/>
              </a:ext>
            </a:extLst>
          </p:cNvPr>
          <p:cNvSpPr txBox="1"/>
          <p:nvPr/>
        </p:nvSpPr>
        <p:spPr>
          <a:xfrm>
            <a:off x="385358" y="1439982"/>
            <a:ext cx="8758641" cy="1027845"/>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Là kỹ thuật tạo nên bộ dữ liệu mới bằng Bootstraping</a:t>
            </a:r>
            <a:br>
              <a:rPr lang="en-US" sz="3000" dirty="0">
                <a:latin typeface="Times New Roman"/>
                <a:cs typeface="Times New Roman"/>
              </a:rPr>
            </a:br>
            <a:r>
              <a:rPr lang="en-US" sz="3000" dirty="0">
                <a:latin typeface="Times New Roman"/>
                <a:cs typeface="Times New Roman"/>
                <a:sym typeface="Wingdings" panose="05000000000000000000" pitchFamily="2" charset="2"/>
              </a:rPr>
              <a:t> </a:t>
            </a:r>
            <a:r>
              <a:rPr lang="en-US" sz="3000" dirty="0" err="1">
                <a:latin typeface="Times New Roman"/>
                <a:cs typeface="Times New Roman"/>
                <a:sym typeface="Wingdings" panose="05000000000000000000" pitchFamily="2" charset="2"/>
              </a:rPr>
              <a:t>sau</a:t>
            </a:r>
            <a:r>
              <a:rPr lang="en-US" sz="3000" dirty="0">
                <a:latin typeface="Times New Roman"/>
                <a:cs typeface="Times New Roman"/>
                <a:sym typeface="Wingdings" panose="05000000000000000000" pitchFamily="2" charset="2"/>
              </a:rPr>
              <a:t> </a:t>
            </a:r>
            <a:r>
              <a:rPr lang="en-US" sz="3000" dirty="0" err="1">
                <a:latin typeface="Times New Roman"/>
                <a:cs typeface="Times New Roman"/>
                <a:sym typeface="Wingdings" panose="05000000000000000000" pitchFamily="2" charset="2"/>
              </a:rPr>
              <a:t>đó</a:t>
            </a:r>
            <a:r>
              <a:rPr lang="en-US" sz="3000" dirty="0">
                <a:latin typeface="Times New Roman"/>
                <a:cs typeface="Times New Roman"/>
                <a:sym typeface="Wingdings" panose="05000000000000000000" pitchFamily="2" charset="2"/>
              </a:rPr>
              <a:t> </a:t>
            </a:r>
            <a:r>
              <a:rPr lang="vi-VN" sz="3000" dirty="0">
                <a:latin typeface="Times New Roman"/>
                <a:cs typeface="Times New Roman"/>
              </a:rPr>
              <a:t>tạo ra n models khác nhau</a:t>
            </a:r>
          </a:p>
        </p:txBody>
      </p:sp>
      <p:sp>
        <p:nvSpPr>
          <p:cNvPr id="10" name="object 10">
            <a:extLst>
              <a:ext uri="{FF2B5EF4-FFF2-40B4-BE49-F238E27FC236}">
                <a16:creationId xmlns:a16="http://schemas.microsoft.com/office/drawing/2014/main" id="{206576B4-2762-83D5-9E3A-8A8B3E733E9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8</a:t>
            </a:fld>
            <a:endParaRPr spc="-25" dirty="0"/>
          </a:p>
        </p:txBody>
      </p:sp>
      <p:pic>
        <p:nvPicPr>
          <p:cNvPr id="6" name="Picture 5">
            <a:extLst>
              <a:ext uri="{FF2B5EF4-FFF2-40B4-BE49-F238E27FC236}">
                <a16:creationId xmlns:a16="http://schemas.microsoft.com/office/drawing/2014/main" id="{B51B961C-A745-E303-DB54-4A39CBB2B210}"/>
              </a:ext>
            </a:extLst>
          </p:cNvPr>
          <p:cNvPicPr>
            <a:picLocks noChangeAspect="1"/>
          </p:cNvPicPr>
          <p:nvPr/>
        </p:nvPicPr>
        <p:blipFill>
          <a:blip r:embed="rId2"/>
          <a:stretch>
            <a:fillRect/>
          </a:stretch>
        </p:blipFill>
        <p:spPr>
          <a:xfrm>
            <a:off x="1507128" y="2504897"/>
            <a:ext cx="6515100" cy="2712959"/>
          </a:xfrm>
          <a:prstGeom prst="rect">
            <a:avLst/>
          </a:prstGeom>
        </p:spPr>
      </p:pic>
    </p:spTree>
    <p:extLst>
      <p:ext uri="{BB962C8B-B14F-4D97-AF65-F5344CB8AC3E}">
        <p14:creationId xmlns:p14="http://schemas.microsoft.com/office/powerpoint/2010/main" val="2532342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D593C-7168-4C85-0764-E98826C2EB5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EA0F42-7D50-A848-A3CB-A5F8862FA2CB}"/>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AE5A8259-E842-7475-D3DC-A95661995CD2}"/>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1.2.2. </a:t>
            </a:r>
            <a:r>
              <a:rPr lang="en-US" sz="3600" dirty="0" err="1"/>
              <a:t>Ví</a:t>
            </a:r>
            <a:r>
              <a:rPr lang="en-US" sz="3600" dirty="0"/>
              <a:t> </a:t>
            </a:r>
            <a:r>
              <a:rPr lang="en-US" sz="3600" dirty="0" err="1"/>
              <a:t>dụ</a:t>
            </a:r>
            <a:r>
              <a:rPr lang="en-US" sz="3600" dirty="0"/>
              <a:t> </a:t>
            </a:r>
            <a:r>
              <a:rPr lang="en-US" sz="3600" dirty="0" err="1"/>
              <a:t>khác</a:t>
            </a:r>
            <a:r>
              <a:rPr lang="en-US" sz="3600" dirty="0"/>
              <a:t>:</a:t>
            </a:r>
            <a:endParaRPr sz="3600" spc="-10" dirty="0"/>
          </a:p>
        </p:txBody>
      </p:sp>
      <p:sp>
        <p:nvSpPr>
          <p:cNvPr id="4" name="object 4">
            <a:extLst>
              <a:ext uri="{FF2B5EF4-FFF2-40B4-BE49-F238E27FC236}">
                <a16:creationId xmlns:a16="http://schemas.microsoft.com/office/drawing/2014/main" id="{699C5486-D2E8-0A02-5CC6-A8D775970519}"/>
              </a:ext>
            </a:extLst>
          </p:cNvPr>
          <p:cNvSpPr txBox="1"/>
          <p:nvPr/>
        </p:nvSpPr>
        <p:spPr>
          <a:xfrm>
            <a:off x="440724" y="831898"/>
            <a:ext cx="8322276" cy="4208203"/>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en-US" sz="3000" dirty="0" err="1">
                <a:latin typeface="Times New Roman"/>
                <a:cs typeface="Times New Roman"/>
              </a:rPr>
              <a:t>Ví</a:t>
            </a:r>
            <a:r>
              <a:rPr lang="en-US" sz="3000" dirty="0">
                <a:latin typeface="Times New Roman"/>
                <a:cs typeface="Times New Roman"/>
              </a:rPr>
              <a:t> </a:t>
            </a:r>
            <a:r>
              <a:rPr lang="en-US" sz="3000" dirty="0" err="1">
                <a:latin typeface="Times New Roman"/>
                <a:cs typeface="Times New Roman"/>
              </a:rPr>
              <a:t>dụ</a:t>
            </a:r>
            <a:r>
              <a:rPr lang="en-US" sz="3000" dirty="0">
                <a:latin typeface="Times New Roman"/>
                <a:cs typeface="Times New Roman"/>
              </a:rPr>
              <a:t> :"outlook“ "temperature“ "humidity“ "windy“</a:t>
            </a:r>
          </a:p>
          <a:p>
            <a:pPr marL="12700" lvl="2">
              <a:spcBef>
                <a:spcPts val="815"/>
              </a:spcBef>
              <a:buClr>
                <a:srgbClr val="CC9900"/>
              </a:buClr>
              <a:buSzPct val="65000"/>
              <a:tabLst>
                <a:tab pos="354965" algn="l"/>
              </a:tabLst>
            </a:pPr>
            <a:r>
              <a:rPr lang="en-US" sz="3000" dirty="0">
                <a:latin typeface="Times New Roman"/>
                <a:cs typeface="Times New Roman"/>
              </a:rPr>
              <a:t>	- "outlook" "temperature" "temperature" "</a:t>
            </a:r>
            <a:r>
              <a:rPr lang="en-US" sz="3000" dirty="0" err="1">
                <a:latin typeface="Times New Roman"/>
                <a:cs typeface="Times New Roman"/>
              </a:rPr>
              <a:t>windy“</a:t>
            </a:r>
            <a:r>
              <a:rPr lang="en-US" sz="3000" dirty="0" err="1">
                <a:latin typeface="Times New Roman"/>
                <a:cs typeface="Times New Roman"/>
                <a:sym typeface="Wingdings" panose="05000000000000000000" pitchFamily="2" charset="2"/>
              </a:rPr>
              <a:t>model</a:t>
            </a:r>
            <a:r>
              <a:rPr lang="en-US" sz="3000" dirty="0">
                <a:latin typeface="Times New Roman"/>
                <a:cs typeface="Times New Roman"/>
                <a:sym typeface="Wingdings" panose="05000000000000000000" pitchFamily="2" charset="2"/>
              </a:rPr>
              <a:t> 1</a:t>
            </a:r>
            <a:endParaRPr lang="en-US" sz="3000" dirty="0">
              <a:latin typeface="Times New Roman"/>
              <a:cs typeface="Times New Roman"/>
            </a:endParaRPr>
          </a:p>
          <a:p>
            <a:pPr marL="12700">
              <a:lnSpc>
                <a:spcPct val="100000"/>
              </a:lnSpc>
              <a:spcBef>
                <a:spcPts val="815"/>
              </a:spcBef>
              <a:buClr>
                <a:srgbClr val="CC9900"/>
              </a:buClr>
              <a:buSzPct val="65000"/>
              <a:tabLst>
                <a:tab pos="354965" algn="l"/>
              </a:tabLst>
            </a:pPr>
            <a:r>
              <a:rPr lang="en-US" sz="3000" dirty="0">
                <a:latin typeface="Times New Roman"/>
                <a:cs typeface="Times New Roman"/>
              </a:rPr>
              <a:t>	- "outlook“, "outlook“, "humidity“, "</a:t>
            </a:r>
            <a:r>
              <a:rPr lang="en-US" sz="3000" dirty="0" err="1">
                <a:latin typeface="Times New Roman"/>
                <a:cs typeface="Times New Roman"/>
              </a:rPr>
              <a:t>windy“</a:t>
            </a:r>
            <a:r>
              <a:rPr lang="en-US" sz="3000" dirty="0" err="1">
                <a:latin typeface="Times New Roman"/>
                <a:cs typeface="Times New Roman"/>
                <a:sym typeface="Wingdings" panose="05000000000000000000" pitchFamily="2" charset="2"/>
              </a:rPr>
              <a:t>Model</a:t>
            </a:r>
            <a:r>
              <a:rPr lang="en-US" sz="3000" dirty="0">
                <a:latin typeface="Times New Roman"/>
                <a:cs typeface="Times New Roman"/>
                <a:sym typeface="Wingdings" panose="05000000000000000000" pitchFamily="2" charset="2"/>
              </a:rPr>
              <a:t> 2</a:t>
            </a:r>
            <a:endParaRPr lang="en-US" sz="3000" dirty="0">
              <a:latin typeface="Times New Roman"/>
              <a:cs typeface="Times New Roman"/>
            </a:endParaRPr>
          </a:p>
          <a:p>
            <a:pPr marL="12700">
              <a:lnSpc>
                <a:spcPct val="100000"/>
              </a:lnSpc>
              <a:spcBef>
                <a:spcPts val="815"/>
              </a:spcBef>
              <a:buClr>
                <a:srgbClr val="CC9900"/>
              </a:buClr>
              <a:buSzPct val="65000"/>
              <a:tabLst>
                <a:tab pos="354965" algn="l"/>
              </a:tabLst>
            </a:pPr>
            <a:r>
              <a:rPr lang="en-US" sz="3000" dirty="0">
                <a:latin typeface="Times New Roman"/>
                <a:cs typeface="Times New Roman"/>
              </a:rPr>
              <a:t>	- …</a:t>
            </a:r>
          </a:p>
          <a:p>
            <a:pPr marL="12700">
              <a:lnSpc>
                <a:spcPct val="100000"/>
              </a:lnSpc>
              <a:spcBef>
                <a:spcPts val="815"/>
              </a:spcBef>
              <a:buClr>
                <a:srgbClr val="CC9900"/>
              </a:buClr>
              <a:buSzPct val="65000"/>
              <a:tabLst>
                <a:tab pos="354965" algn="l"/>
              </a:tabLst>
            </a:pPr>
            <a:r>
              <a:rPr lang="en-US" sz="3000" dirty="0">
                <a:latin typeface="Times New Roman"/>
                <a:cs typeface="Times New Roman"/>
              </a:rPr>
              <a:t>	- "outlook“ "temperature" "temperature" "temperature“</a:t>
            </a:r>
            <a:r>
              <a:rPr lang="en-US" sz="3000" dirty="0">
                <a:latin typeface="Times New Roman"/>
                <a:cs typeface="Times New Roman"/>
                <a:sym typeface="Wingdings" panose="05000000000000000000" pitchFamily="2" charset="2"/>
              </a:rPr>
              <a:t> Model n</a:t>
            </a:r>
            <a:endParaRPr lang="en-US" sz="3000" dirty="0">
              <a:latin typeface="Times New Roman"/>
              <a:cs typeface="Times New Roman"/>
            </a:endParaRPr>
          </a:p>
        </p:txBody>
      </p:sp>
      <p:sp>
        <p:nvSpPr>
          <p:cNvPr id="10" name="object 10">
            <a:extLst>
              <a:ext uri="{FF2B5EF4-FFF2-40B4-BE49-F238E27FC236}">
                <a16:creationId xmlns:a16="http://schemas.microsoft.com/office/drawing/2014/main" id="{0E9B5AC4-13B0-48D7-7546-CD64140CE200}"/>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9</a:t>
            </a:fld>
            <a:endParaRPr spc="-25" dirty="0"/>
          </a:p>
        </p:txBody>
      </p:sp>
    </p:spTree>
    <p:extLst>
      <p:ext uri="{BB962C8B-B14F-4D97-AF65-F5344CB8AC3E}">
        <p14:creationId xmlns:p14="http://schemas.microsoft.com/office/powerpoint/2010/main" val="2353964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01F47-7F8A-6B5A-0BAE-2FBDEBABE48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2E7457A-B493-4E96-B3C6-B6995891FB9C}"/>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521680F2-B53C-2658-374A-93232510C450}"/>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1.2.3. </a:t>
            </a:r>
            <a:r>
              <a:rPr lang="en-US" sz="3600" dirty="0" err="1"/>
              <a:t>Tóm</a:t>
            </a:r>
            <a:r>
              <a:rPr lang="en-US" sz="3600" dirty="0"/>
              <a:t> </a:t>
            </a:r>
            <a:r>
              <a:rPr lang="en-US" sz="3600" dirty="0" err="1"/>
              <a:t>lại</a:t>
            </a:r>
            <a:r>
              <a:rPr lang="en-US" sz="3600" dirty="0"/>
              <a:t>:</a:t>
            </a:r>
            <a:endParaRPr sz="3600" spc="-10" dirty="0"/>
          </a:p>
        </p:txBody>
      </p:sp>
      <p:sp>
        <p:nvSpPr>
          <p:cNvPr id="4" name="object 4">
            <a:extLst>
              <a:ext uri="{FF2B5EF4-FFF2-40B4-BE49-F238E27FC236}">
                <a16:creationId xmlns:a16="http://schemas.microsoft.com/office/drawing/2014/main" id="{DE01FC27-399D-B693-6E94-1CDFA50366B6}"/>
              </a:ext>
            </a:extLst>
          </p:cNvPr>
          <p:cNvSpPr txBox="1"/>
          <p:nvPr/>
        </p:nvSpPr>
        <p:spPr>
          <a:xfrm>
            <a:off x="152400" y="831898"/>
            <a:ext cx="9144000" cy="3433632"/>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vi-VN" sz="2900" dirty="0">
                <a:latin typeface="Times New Roman"/>
                <a:cs typeface="Times New Roman"/>
              </a:rPr>
              <a:t>Mỗi mô hình con (như Decision Tree, KNN) được xem là một "máy học cơ bản" hay "mô hình yếu" (weak learner).</a:t>
            </a:r>
            <a:endParaRPr lang="en-US" sz="2900" dirty="0">
              <a:latin typeface="Times New Roman"/>
              <a:cs typeface="Times New Roman"/>
            </a:endParaRPr>
          </a:p>
          <a:p>
            <a:pPr marL="12700">
              <a:lnSpc>
                <a:spcPct val="100000"/>
              </a:lnSpc>
              <a:spcBef>
                <a:spcPts val="815"/>
              </a:spcBef>
              <a:buClr>
                <a:srgbClr val="CC9900"/>
              </a:buClr>
              <a:buSzPct val="65000"/>
              <a:tabLst>
                <a:tab pos="354965" algn="l"/>
              </a:tabLst>
            </a:pPr>
            <a:r>
              <a:rPr lang="en-US" sz="2900" dirty="0">
                <a:latin typeface="Times New Roman"/>
                <a:cs typeface="Times New Roman"/>
                <a:sym typeface="Wingdings" panose="05000000000000000000" pitchFamily="2" charset="2"/>
              </a:rPr>
              <a:t></a:t>
            </a:r>
            <a:r>
              <a:rPr lang="vi-VN" sz="2900" dirty="0">
                <a:latin typeface="Times New Roman"/>
                <a:cs typeface="Times New Roman"/>
              </a:rPr>
              <a:t>Kết quả thu được từ sự </a:t>
            </a:r>
            <a:r>
              <a:rPr lang="vi-VN" sz="2900" b="1" dirty="0">
                <a:latin typeface="Times New Roman"/>
                <a:cs typeface="Times New Roman"/>
              </a:rPr>
              <a:t>tổng hợp</a:t>
            </a:r>
            <a:r>
              <a:rPr lang="en-US" sz="2900" b="1" dirty="0">
                <a:latin typeface="Times New Roman"/>
                <a:cs typeface="Times New Roman"/>
              </a:rPr>
              <a:t> </a:t>
            </a:r>
            <a:r>
              <a:rPr lang="vi-VN" sz="2900" dirty="0">
                <a:latin typeface="Times New Roman"/>
                <a:cs typeface="Times New Roman"/>
              </a:rPr>
              <a:t>của nhiều </a:t>
            </a:r>
            <a:r>
              <a:rPr lang="vi-VN" sz="2900" b="1" dirty="0">
                <a:latin typeface="Times New Roman"/>
                <a:cs typeface="Times New Roman"/>
              </a:rPr>
              <a:t>mô hình yếu</a:t>
            </a:r>
            <a:r>
              <a:rPr lang="vi-VN" sz="2900" dirty="0">
                <a:latin typeface="Times New Roman"/>
                <a:cs typeface="Times New Roman"/>
              </a:rPr>
              <a:t> </a:t>
            </a:r>
            <a:r>
              <a:rPr lang="en-US" sz="2900" dirty="0">
                <a:latin typeface="Times New Roman"/>
                <a:cs typeface="Times New Roman"/>
                <a:sym typeface="Wingdings" panose="05000000000000000000" pitchFamily="2" charset="2"/>
              </a:rPr>
              <a:t> </a:t>
            </a:r>
            <a:r>
              <a:rPr lang="vi-VN" sz="2900" dirty="0">
                <a:latin typeface="Times New Roman"/>
                <a:cs typeface="Times New Roman"/>
              </a:rPr>
              <a:t>mạnh hơn và chính xác hơn so với kết quả của một mô hình đơn lẻ</a:t>
            </a:r>
            <a:r>
              <a:rPr lang="en-US" sz="2900" dirty="0">
                <a:latin typeface="Times New Roman"/>
                <a:cs typeface="Times New Roman"/>
              </a:rPr>
              <a:t>. </a:t>
            </a:r>
            <a:r>
              <a:rPr lang="vi-VN" sz="2900" dirty="0">
                <a:latin typeface="Times New Roman"/>
                <a:cs typeface="Times New Roman"/>
              </a:rPr>
              <a:t>Giống như việc lấy ý kiến chung từ nhiều chuyên gia độc lập</a:t>
            </a:r>
            <a:endParaRPr lang="en-US" sz="2900" dirty="0">
              <a:latin typeface="Times New Roman"/>
              <a:cs typeface="Times New Roman"/>
            </a:endParaRPr>
          </a:p>
          <a:p>
            <a:pPr marL="354965" indent="-342265">
              <a:lnSpc>
                <a:spcPct val="100000"/>
              </a:lnSpc>
              <a:spcBef>
                <a:spcPts val="815"/>
              </a:spcBef>
              <a:buClr>
                <a:srgbClr val="CC9900"/>
              </a:buClr>
              <a:buSzPct val="65000"/>
              <a:buFont typeface="Wingdings"/>
              <a:buChar char=""/>
              <a:tabLst>
                <a:tab pos="354965" algn="l"/>
              </a:tabLst>
            </a:pPr>
            <a:r>
              <a:rPr lang="vi-VN" sz="2900" dirty="0">
                <a:latin typeface="Times New Roman"/>
                <a:cs typeface="Times New Roman"/>
              </a:rPr>
              <a:t>Huấn luyện </a:t>
            </a:r>
            <a:r>
              <a:rPr lang="vi-VN" sz="2900" b="1" dirty="0">
                <a:latin typeface="Times New Roman"/>
                <a:cs typeface="Times New Roman"/>
              </a:rPr>
              <a:t>độc lập </a:t>
            </a:r>
            <a:r>
              <a:rPr lang="vi-VN" sz="2900" dirty="0">
                <a:latin typeface="Times New Roman"/>
                <a:cs typeface="Times New Roman"/>
              </a:rPr>
              <a:t>và </a:t>
            </a:r>
            <a:r>
              <a:rPr lang="vi-VN" sz="2900" b="1" dirty="0">
                <a:latin typeface="Times New Roman"/>
                <a:cs typeface="Times New Roman"/>
              </a:rPr>
              <a:t>song song</a:t>
            </a:r>
          </a:p>
        </p:txBody>
      </p:sp>
      <p:sp>
        <p:nvSpPr>
          <p:cNvPr id="10" name="object 10">
            <a:extLst>
              <a:ext uri="{FF2B5EF4-FFF2-40B4-BE49-F238E27FC236}">
                <a16:creationId xmlns:a16="http://schemas.microsoft.com/office/drawing/2014/main" id="{DD7A25D4-A312-E414-F639-E1606B968B5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10</a:t>
            </a:fld>
            <a:endParaRPr spc="-25" dirty="0"/>
          </a:p>
        </p:txBody>
      </p:sp>
    </p:spTree>
    <p:extLst>
      <p:ext uri="{BB962C8B-B14F-4D97-AF65-F5344CB8AC3E}">
        <p14:creationId xmlns:p14="http://schemas.microsoft.com/office/powerpoint/2010/main" val="2898315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D26AA-A28D-1861-7809-C1756A88683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CF42B1C-7B52-53F4-EB41-EB831107B74A}"/>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C6424382-2D80-F286-9A49-75F00E9C5D80}"/>
              </a:ext>
            </a:extLst>
          </p:cNvPr>
          <p:cNvSpPr txBox="1">
            <a:spLocks noGrp="1"/>
          </p:cNvSpPr>
          <p:nvPr>
            <p:ph type="title"/>
          </p:nvPr>
        </p:nvSpPr>
        <p:spPr>
          <a:xfrm>
            <a:off x="422189" y="139717"/>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1.3. Bagging Prediction (</a:t>
            </a:r>
            <a:r>
              <a:rPr lang="en-US" sz="3600" dirty="0" err="1"/>
              <a:t>Dự</a:t>
            </a:r>
            <a:r>
              <a:rPr lang="en-US" sz="3600" dirty="0"/>
              <a:t> </a:t>
            </a:r>
            <a:r>
              <a:rPr lang="en-US" sz="3600" dirty="0" err="1"/>
              <a:t>đoán</a:t>
            </a:r>
            <a:r>
              <a:rPr lang="en-US" sz="3600" dirty="0"/>
              <a:t>)</a:t>
            </a:r>
            <a:endParaRPr sz="3600" spc="-10" dirty="0"/>
          </a:p>
        </p:txBody>
      </p:sp>
      <p:sp>
        <p:nvSpPr>
          <p:cNvPr id="4" name="object 4">
            <a:extLst>
              <a:ext uri="{FF2B5EF4-FFF2-40B4-BE49-F238E27FC236}">
                <a16:creationId xmlns:a16="http://schemas.microsoft.com/office/drawing/2014/main" id="{65DE2786-A3B3-768E-2137-6B5F0D91EEC8}"/>
              </a:ext>
            </a:extLst>
          </p:cNvPr>
          <p:cNvSpPr txBox="1"/>
          <p:nvPr/>
        </p:nvSpPr>
        <p:spPr>
          <a:xfrm>
            <a:off x="-26773" y="726980"/>
            <a:ext cx="9119286" cy="1027845"/>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en-US" sz="3000" dirty="0">
                <a:latin typeface="Times New Roman"/>
                <a:cs typeface="Times New Roman"/>
              </a:rPr>
              <a:t>Khi </a:t>
            </a:r>
            <a:r>
              <a:rPr lang="en-US" sz="3000" dirty="0" err="1">
                <a:latin typeface="Times New Roman"/>
                <a:cs typeface="Times New Roman"/>
              </a:rPr>
              <a:t>đưa</a:t>
            </a:r>
            <a:r>
              <a:rPr lang="en-US" sz="3000" dirty="0">
                <a:latin typeface="Times New Roman"/>
                <a:cs typeface="Times New Roman"/>
              </a:rPr>
              <a:t> 1 input </a:t>
            </a:r>
            <a:r>
              <a:rPr lang="en-US" sz="3000" dirty="0" err="1">
                <a:latin typeface="Times New Roman"/>
                <a:cs typeface="Times New Roman"/>
              </a:rPr>
              <a:t>vào</a:t>
            </a:r>
            <a:r>
              <a:rPr lang="en-US" sz="3000" dirty="0" err="1">
                <a:latin typeface="Times New Roman"/>
                <a:cs typeface="Times New Roman"/>
                <a:sym typeface="Wingdings" panose="05000000000000000000" pitchFamily="2" charset="2"/>
              </a:rPr>
              <a:t></a:t>
            </a:r>
            <a:r>
              <a:rPr lang="en-US" sz="3000" dirty="0" err="1">
                <a:latin typeface="Times New Roman"/>
                <a:cs typeface="Times New Roman"/>
              </a:rPr>
              <a:t>n</a:t>
            </a:r>
            <a:r>
              <a:rPr lang="en-US" sz="3000" dirty="0">
                <a:latin typeface="Times New Roman"/>
                <a:cs typeface="Times New Roman"/>
              </a:rPr>
              <a:t> model </a:t>
            </a:r>
            <a:r>
              <a:rPr lang="en-US" sz="3000" dirty="0" err="1">
                <a:latin typeface="Times New Roman"/>
                <a:cs typeface="Times New Roman"/>
              </a:rPr>
              <a:t>dự</a:t>
            </a:r>
            <a:r>
              <a:rPr lang="en-US" sz="3000" dirty="0">
                <a:latin typeface="Times New Roman"/>
                <a:cs typeface="Times New Roman"/>
              </a:rPr>
              <a:t> </a:t>
            </a:r>
            <a:r>
              <a:rPr lang="en-US" sz="3000" dirty="0" err="1">
                <a:latin typeface="Times New Roman"/>
                <a:cs typeface="Times New Roman"/>
              </a:rPr>
              <a:t>đoán</a:t>
            </a:r>
            <a:r>
              <a:rPr lang="en-US" sz="3000" dirty="0">
                <a:latin typeface="Times New Roman"/>
                <a:cs typeface="Times New Roman"/>
              </a:rPr>
              <a:t> </a:t>
            </a:r>
            <a:r>
              <a:rPr lang="en-US" sz="3000" dirty="0" err="1">
                <a:latin typeface="Times New Roman"/>
                <a:cs typeface="Times New Roman"/>
              </a:rPr>
              <a:t>ra</a:t>
            </a:r>
            <a:r>
              <a:rPr lang="en-US" sz="3000" dirty="0">
                <a:latin typeface="Times New Roman"/>
                <a:cs typeface="Times New Roman"/>
              </a:rPr>
              <a:t> n </a:t>
            </a:r>
            <a:r>
              <a:rPr lang="en-US" sz="3000" dirty="0" err="1">
                <a:latin typeface="Times New Roman"/>
                <a:cs typeface="Times New Roman"/>
              </a:rPr>
              <a:t>kết</a:t>
            </a:r>
            <a:r>
              <a:rPr lang="en-US" sz="3000" dirty="0">
                <a:latin typeface="Times New Roman"/>
                <a:cs typeface="Times New Roman"/>
              </a:rPr>
              <a:t> </a:t>
            </a:r>
            <a:r>
              <a:rPr lang="en-US" sz="3000" dirty="0" err="1">
                <a:latin typeface="Times New Roman"/>
                <a:cs typeface="Times New Roman"/>
              </a:rPr>
              <a:t>quả</a:t>
            </a:r>
            <a:r>
              <a:rPr lang="en-US" sz="3000" dirty="0">
                <a:latin typeface="Times New Roman"/>
                <a:cs typeface="Times New Roman"/>
              </a:rPr>
              <a:t> </a:t>
            </a:r>
            <a:r>
              <a:rPr lang="en-US" sz="3000" dirty="0">
                <a:latin typeface="Times New Roman"/>
                <a:cs typeface="Times New Roman"/>
                <a:sym typeface="Wingdings" panose="05000000000000000000" pitchFamily="2" charset="2"/>
              </a:rPr>
              <a:t></a:t>
            </a:r>
            <a:r>
              <a:rPr lang="en-US" sz="3000" dirty="0" err="1">
                <a:latin typeface="Times New Roman"/>
                <a:cs typeface="Times New Roman"/>
                <a:sym typeface="Wingdings" panose="05000000000000000000" pitchFamily="2" charset="2"/>
              </a:rPr>
              <a:t>kết</a:t>
            </a:r>
            <a:r>
              <a:rPr lang="en-US" sz="3000" dirty="0">
                <a:latin typeface="Times New Roman"/>
                <a:cs typeface="Times New Roman"/>
                <a:sym typeface="Wingdings" panose="05000000000000000000" pitchFamily="2" charset="2"/>
              </a:rPr>
              <a:t> </a:t>
            </a:r>
            <a:r>
              <a:rPr lang="en-US" sz="3000" dirty="0" err="1">
                <a:latin typeface="Times New Roman"/>
                <a:cs typeface="Times New Roman"/>
                <a:sym typeface="Wingdings" panose="05000000000000000000" pitchFamily="2" charset="2"/>
              </a:rPr>
              <a:t>quả</a:t>
            </a:r>
            <a:r>
              <a:rPr lang="en-US" sz="3000" dirty="0">
                <a:latin typeface="Times New Roman"/>
                <a:cs typeface="Times New Roman"/>
                <a:sym typeface="Wingdings" panose="05000000000000000000" pitchFamily="2" charset="2"/>
              </a:rPr>
              <a:t> </a:t>
            </a:r>
            <a:r>
              <a:rPr lang="en-US" sz="3000" dirty="0" err="1">
                <a:latin typeface="Times New Roman"/>
                <a:cs typeface="Times New Roman"/>
                <a:sym typeface="Wingdings" panose="05000000000000000000" pitchFamily="2" charset="2"/>
              </a:rPr>
              <a:t>cuối</a:t>
            </a:r>
            <a:r>
              <a:rPr lang="en-US" sz="3000" dirty="0">
                <a:latin typeface="Times New Roman"/>
                <a:cs typeface="Times New Roman"/>
                <a:sym typeface="Wingdings" panose="05000000000000000000" pitchFamily="2" charset="2"/>
              </a:rPr>
              <a:t> </a:t>
            </a:r>
            <a:r>
              <a:rPr lang="en-US" sz="3000" dirty="0" err="1">
                <a:latin typeface="Times New Roman"/>
                <a:cs typeface="Times New Roman"/>
                <a:sym typeface="Wingdings" panose="05000000000000000000" pitchFamily="2" charset="2"/>
              </a:rPr>
              <a:t>cùng</a:t>
            </a:r>
            <a:r>
              <a:rPr lang="en-US" sz="3000" dirty="0">
                <a:latin typeface="Times New Roman"/>
                <a:cs typeface="Times New Roman"/>
                <a:sym typeface="Wingdings" panose="05000000000000000000" pitchFamily="2" charset="2"/>
              </a:rPr>
              <a:t> </a:t>
            </a:r>
            <a:endParaRPr lang="vi-VN" sz="3000" dirty="0">
              <a:latin typeface="Times New Roman"/>
              <a:cs typeface="Times New Roman"/>
            </a:endParaRPr>
          </a:p>
        </p:txBody>
      </p:sp>
      <p:sp>
        <p:nvSpPr>
          <p:cNvPr id="10" name="object 10">
            <a:extLst>
              <a:ext uri="{FF2B5EF4-FFF2-40B4-BE49-F238E27FC236}">
                <a16:creationId xmlns:a16="http://schemas.microsoft.com/office/drawing/2014/main" id="{58F44191-4E56-5404-BB4C-BE0D8F2D148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11</a:t>
            </a:fld>
            <a:endParaRPr spc="-25" dirty="0"/>
          </a:p>
        </p:txBody>
      </p:sp>
      <p:pic>
        <p:nvPicPr>
          <p:cNvPr id="12" name="Picture 11">
            <a:extLst>
              <a:ext uri="{FF2B5EF4-FFF2-40B4-BE49-F238E27FC236}">
                <a16:creationId xmlns:a16="http://schemas.microsoft.com/office/drawing/2014/main" id="{FF5FBD3D-A6C5-E0C3-6908-1D3628F7DF14}"/>
              </a:ext>
            </a:extLst>
          </p:cNvPr>
          <p:cNvPicPr>
            <a:picLocks noChangeAspect="1"/>
          </p:cNvPicPr>
          <p:nvPr/>
        </p:nvPicPr>
        <p:blipFill>
          <a:blip r:embed="rId2"/>
          <a:stretch>
            <a:fillRect/>
          </a:stretch>
        </p:blipFill>
        <p:spPr>
          <a:xfrm>
            <a:off x="1828800" y="1851682"/>
            <a:ext cx="5017192" cy="2604961"/>
          </a:xfrm>
          <a:prstGeom prst="rect">
            <a:avLst/>
          </a:prstGeom>
        </p:spPr>
      </p:pic>
      <p:sp>
        <p:nvSpPr>
          <p:cNvPr id="13" name="object 4">
            <a:extLst>
              <a:ext uri="{FF2B5EF4-FFF2-40B4-BE49-F238E27FC236}">
                <a16:creationId xmlns:a16="http://schemas.microsoft.com/office/drawing/2014/main" id="{FB352C6B-81E1-488F-85BD-8AFB846E9557}"/>
              </a:ext>
            </a:extLst>
          </p:cNvPr>
          <p:cNvSpPr txBox="1"/>
          <p:nvPr/>
        </p:nvSpPr>
        <p:spPr>
          <a:xfrm>
            <a:off x="35011" y="4456643"/>
            <a:ext cx="9119286" cy="1130438"/>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en-US" sz="3000" dirty="0">
                <a:latin typeface="Times New Roman"/>
                <a:cs typeface="Times New Roman"/>
                <a:sym typeface="Wingdings" panose="05000000000000000000" pitchFamily="2" charset="2"/>
              </a:rPr>
              <a:t>Kết </a:t>
            </a:r>
            <a:r>
              <a:rPr lang="en-US" sz="3000" dirty="0" err="1">
                <a:latin typeface="Times New Roman"/>
                <a:cs typeface="Times New Roman"/>
                <a:sym typeface="Wingdings" panose="05000000000000000000" pitchFamily="2" charset="2"/>
              </a:rPr>
              <a:t>quả</a:t>
            </a:r>
            <a:r>
              <a:rPr lang="en-US" sz="3000" dirty="0">
                <a:latin typeface="Times New Roman"/>
                <a:cs typeface="Times New Roman"/>
                <a:sym typeface="Wingdings" panose="05000000000000000000" pitchFamily="2" charset="2"/>
              </a:rPr>
              <a:t> </a:t>
            </a:r>
            <a:r>
              <a:rPr lang="en-US" sz="3000" dirty="0" err="1">
                <a:latin typeface="Times New Roman"/>
                <a:cs typeface="Times New Roman"/>
                <a:sym typeface="Wingdings" panose="05000000000000000000" pitchFamily="2" charset="2"/>
              </a:rPr>
              <a:t>cuối</a:t>
            </a:r>
            <a:r>
              <a:rPr lang="en-US" sz="3000" dirty="0">
                <a:latin typeface="Times New Roman"/>
                <a:cs typeface="Times New Roman"/>
                <a:sym typeface="Wingdings" panose="05000000000000000000" pitchFamily="2" charset="2"/>
              </a:rPr>
              <a:t> </a:t>
            </a:r>
            <a:r>
              <a:rPr lang="en-US" sz="3000" dirty="0" err="1">
                <a:latin typeface="Times New Roman"/>
                <a:cs typeface="Times New Roman"/>
                <a:sym typeface="Wingdings" panose="05000000000000000000" pitchFamily="2" charset="2"/>
              </a:rPr>
              <a:t>cùng</a:t>
            </a:r>
            <a:r>
              <a:rPr lang="en-US" sz="3000" dirty="0">
                <a:latin typeface="Times New Roman"/>
                <a:cs typeface="Times New Roman"/>
                <a:sym typeface="Wingdings" panose="05000000000000000000" pitchFamily="2" charset="2"/>
              </a:rPr>
              <a:t> </a:t>
            </a:r>
            <a:r>
              <a:rPr lang="en-US" sz="3000" dirty="0" err="1">
                <a:latin typeface="Times New Roman"/>
                <a:cs typeface="Times New Roman"/>
                <a:sym typeface="Wingdings" panose="05000000000000000000" pitchFamily="2" charset="2"/>
              </a:rPr>
              <a:t>được</a:t>
            </a:r>
            <a:r>
              <a:rPr lang="en-US" sz="3000" dirty="0">
                <a:latin typeface="Times New Roman"/>
                <a:cs typeface="Times New Roman"/>
                <a:sym typeface="Wingdings" panose="05000000000000000000" pitchFamily="2" charset="2"/>
              </a:rPr>
              <a:t> </a:t>
            </a:r>
            <a:r>
              <a:rPr lang="en-US" sz="3000" dirty="0" err="1">
                <a:latin typeface="Times New Roman"/>
                <a:cs typeface="Times New Roman"/>
                <a:sym typeface="Wingdings" panose="05000000000000000000" pitchFamily="2" charset="2"/>
              </a:rPr>
              <a:t>chọn</a:t>
            </a:r>
            <a:r>
              <a:rPr lang="en-US" sz="3000" dirty="0">
                <a:latin typeface="Times New Roman"/>
                <a:cs typeface="Times New Roman"/>
                <a:sym typeface="Wingdings" panose="05000000000000000000" pitchFamily="2" charset="2"/>
              </a:rPr>
              <a:t> </a:t>
            </a:r>
            <a:r>
              <a:rPr lang="en-US" sz="3000" dirty="0" err="1">
                <a:latin typeface="Times New Roman"/>
                <a:cs typeface="Times New Roman"/>
                <a:sym typeface="Wingdings" panose="05000000000000000000" pitchFamily="2" charset="2"/>
              </a:rPr>
              <a:t>lựa</a:t>
            </a:r>
            <a:r>
              <a:rPr lang="en-US" sz="3000" dirty="0">
                <a:latin typeface="Times New Roman"/>
                <a:cs typeface="Times New Roman"/>
                <a:sym typeface="Wingdings" panose="05000000000000000000" pitchFamily="2" charset="2"/>
              </a:rPr>
              <a:t> </a:t>
            </a:r>
            <a:r>
              <a:rPr lang="en-US" sz="3000" dirty="0" err="1">
                <a:latin typeface="Times New Roman"/>
                <a:cs typeface="Times New Roman"/>
                <a:sym typeface="Wingdings" panose="05000000000000000000" pitchFamily="2" charset="2"/>
              </a:rPr>
              <a:t>dựa</a:t>
            </a:r>
            <a:r>
              <a:rPr lang="en-US" sz="3000" dirty="0">
                <a:latin typeface="Times New Roman"/>
                <a:cs typeface="Times New Roman"/>
                <a:sym typeface="Wingdings" panose="05000000000000000000" pitchFamily="2" charset="2"/>
              </a:rPr>
              <a:t> </a:t>
            </a:r>
            <a:r>
              <a:rPr lang="en-US" sz="3000" dirty="0" err="1">
                <a:latin typeface="Times New Roman"/>
                <a:cs typeface="Times New Roman"/>
                <a:sym typeface="Wingdings" panose="05000000000000000000" pitchFamily="2" charset="2"/>
              </a:rPr>
              <a:t>trên</a:t>
            </a:r>
            <a:r>
              <a:rPr lang="en-US" sz="3000" dirty="0">
                <a:latin typeface="Times New Roman"/>
                <a:cs typeface="Times New Roman"/>
                <a:sym typeface="Wingdings" panose="05000000000000000000" pitchFamily="2" charset="2"/>
              </a:rPr>
              <a:t>: </a:t>
            </a:r>
          </a:p>
          <a:p>
            <a:pPr marL="12700">
              <a:lnSpc>
                <a:spcPct val="100000"/>
              </a:lnSpc>
              <a:spcBef>
                <a:spcPts val="815"/>
              </a:spcBef>
              <a:buClr>
                <a:srgbClr val="CC9900"/>
              </a:buClr>
              <a:buSzPct val="65000"/>
              <a:tabLst>
                <a:tab pos="354965" algn="l"/>
              </a:tabLst>
            </a:pPr>
            <a:r>
              <a:rPr lang="en-US" sz="3000" b="1" dirty="0">
                <a:latin typeface="Times New Roman"/>
                <a:cs typeface="Times New Roman"/>
                <a:sym typeface="Wingdings" panose="05000000000000000000" pitchFamily="2" charset="2"/>
              </a:rPr>
              <a:t>Voting</a:t>
            </a:r>
            <a:r>
              <a:rPr lang="en-US" sz="3000" dirty="0">
                <a:latin typeface="Times New Roman"/>
                <a:cs typeface="Times New Roman"/>
                <a:sym typeface="Wingdings" panose="05000000000000000000" pitchFamily="2" charset="2"/>
              </a:rPr>
              <a:t> </a:t>
            </a:r>
            <a:r>
              <a:rPr lang="en-US" sz="3000" dirty="0" err="1">
                <a:latin typeface="Times New Roman"/>
                <a:cs typeface="Times New Roman"/>
                <a:sym typeface="Wingdings" panose="05000000000000000000" pitchFamily="2" charset="2"/>
              </a:rPr>
              <a:t>hoặc</a:t>
            </a:r>
            <a:r>
              <a:rPr lang="en-US" sz="3000" dirty="0">
                <a:latin typeface="Times New Roman"/>
                <a:cs typeface="Times New Roman"/>
                <a:sym typeface="Wingdings" panose="05000000000000000000" pitchFamily="2" charset="2"/>
              </a:rPr>
              <a:t> </a:t>
            </a:r>
            <a:r>
              <a:rPr lang="en-US" sz="3000" b="1" dirty="0">
                <a:latin typeface="Times New Roman"/>
                <a:cs typeface="Times New Roman"/>
                <a:sym typeface="Wingdings" panose="05000000000000000000" pitchFamily="2" charset="2"/>
              </a:rPr>
              <a:t>Trung </a:t>
            </a:r>
            <a:r>
              <a:rPr lang="en-US" sz="3000" b="1" dirty="0" err="1">
                <a:latin typeface="Times New Roman"/>
                <a:cs typeface="Times New Roman"/>
                <a:sym typeface="Wingdings" panose="05000000000000000000" pitchFamily="2" charset="2"/>
              </a:rPr>
              <a:t>bình</a:t>
            </a:r>
            <a:r>
              <a:rPr lang="en-US" sz="3000" b="1" dirty="0">
                <a:latin typeface="Times New Roman"/>
                <a:cs typeface="Times New Roman"/>
                <a:sym typeface="Wingdings" panose="05000000000000000000" pitchFamily="2" charset="2"/>
              </a:rPr>
              <a:t>(Average)</a:t>
            </a:r>
            <a:r>
              <a:rPr lang="en-US" sz="3000" dirty="0">
                <a:latin typeface="Times New Roman"/>
                <a:cs typeface="Times New Roman"/>
                <a:sym typeface="Wingdings" panose="05000000000000000000" pitchFamily="2" charset="2"/>
              </a:rPr>
              <a:t>. </a:t>
            </a:r>
            <a:r>
              <a:rPr lang="en-US" sz="3000" dirty="0">
                <a:latin typeface="Times New Roman"/>
                <a:cs typeface="Times New Roman"/>
              </a:rPr>
              <a:t> </a:t>
            </a:r>
            <a:endParaRPr lang="vi-VN" sz="3000" dirty="0">
              <a:latin typeface="Times New Roman"/>
              <a:cs typeface="Times New Roman"/>
            </a:endParaRPr>
          </a:p>
        </p:txBody>
      </p:sp>
    </p:spTree>
    <p:extLst>
      <p:ext uri="{BB962C8B-B14F-4D97-AF65-F5344CB8AC3E}">
        <p14:creationId xmlns:p14="http://schemas.microsoft.com/office/powerpoint/2010/main" val="632169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DE6A3-6201-3763-0B6B-73072BB912C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F773CCF-06F5-C815-F88E-378EABE6FCFA}"/>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41D50B94-5430-B277-8639-084E702D4C50}"/>
              </a:ext>
            </a:extLst>
          </p:cNvPr>
          <p:cNvSpPr txBox="1">
            <a:spLocks noGrp="1"/>
          </p:cNvSpPr>
          <p:nvPr>
            <p:ph type="title"/>
          </p:nvPr>
        </p:nvSpPr>
        <p:spPr>
          <a:xfrm>
            <a:off x="422189" y="139717"/>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1.3. Bagging Prediction (</a:t>
            </a:r>
            <a:r>
              <a:rPr lang="en-US" sz="3600" dirty="0" err="1"/>
              <a:t>Dự</a:t>
            </a:r>
            <a:r>
              <a:rPr lang="en-US" sz="3600" dirty="0"/>
              <a:t> </a:t>
            </a:r>
            <a:r>
              <a:rPr lang="en-US" sz="3600" dirty="0" err="1"/>
              <a:t>đoán</a:t>
            </a:r>
            <a:r>
              <a:rPr lang="en-US" sz="3600" dirty="0"/>
              <a:t>)</a:t>
            </a:r>
            <a:endParaRPr sz="3600" spc="-10" dirty="0"/>
          </a:p>
        </p:txBody>
      </p:sp>
      <p:sp>
        <p:nvSpPr>
          <p:cNvPr id="10" name="object 10">
            <a:extLst>
              <a:ext uri="{FF2B5EF4-FFF2-40B4-BE49-F238E27FC236}">
                <a16:creationId xmlns:a16="http://schemas.microsoft.com/office/drawing/2014/main" id="{81CBF7BD-80A6-804E-1893-FDEE07D876CD}"/>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12</a:t>
            </a:fld>
            <a:endParaRPr spc="-25" dirty="0"/>
          </a:p>
        </p:txBody>
      </p:sp>
      <p:graphicFrame>
        <p:nvGraphicFramePr>
          <p:cNvPr id="6" name="Table 5">
            <a:extLst>
              <a:ext uri="{FF2B5EF4-FFF2-40B4-BE49-F238E27FC236}">
                <a16:creationId xmlns:a16="http://schemas.microsoft.com/office/drawing/2014/main" id="{34623A08-E0D1-212A-4944-E7B56D627E56}"/>
              </a:ext>
            </a:extLst>
          </p:cNvPr>
          <p:cNvGraphicFramePr>
            <a:graphicFrameLocks noGrp="1"/>
          </p:cNvGraphicFramePr>
          <p:nvPr>
            <p:extLst>
              <p:ext uri="{D42A27DB-BD31-4B8C-83A1-F6EECF244321}">
                <p14:modId xmlns:p14="http://schemas.microsoft.com/office/powerpoint/2010/main" val="3868481927"/>
              </p:ext>
            </p:extLst>
          </p:nvPr>
        </p:nvGraphicFramePr>
        <p:xfrm>
          <a:off x="253554" y="955479"/>
          <a:ext cx="8636892" cy="3939080"/>
        </p:xfrm>
        <a:graphic>
          <a:graphicData uri="http://schemas.openxmlformats.org/drawingml/2006/table">
            <a:tbl>
              <a:tblPr firstRow="1" bandRow="1">
                <a:tableStyleId>{5C22544A-7EE6-4342-B048-85BDC9FD1C3A}</a:tableStyleId>
              </a:tblPr>
              <a:tblGrid>
                <a:gridCol w="2878964">
                  <a:extLst>
                    <a:ext uri="{9D8B030D-6E8A-4147-A177-3AD203B41FA5}">
                      <a16:colId xmlns:a16="http://schemas.microsoft.com/office/drawing/2014/main" val="493614231"/>
                    </a:ext>
                  </a:extLst>
                </a:gridCol>
                <a:gridCol w="2878964">
                  <a:extLst>
                    <a:ext uri="{9D8B030D-6E8A-4147-A177-3AD203B41FA5}">
                      <a16:colId xmlns:a16="http://schemas.microsoft.com/office/drawing/2014/main" val="4167439770"/>
                    </a:ext>
                  </a:extLst>
                </a:gridCol>
                <a:gridCol w="2878964">
                  <a:extLst>
                    <a:ext uri="{9D8B030D-6E8A-4147-A177-3AD203B41FA5}">
                      <a16:colId xmlns:a16="http://schemas.microsoft.com/office/drawing/2014/main" val="272369176"/>
                    </a:ext>
                  </a:extLst>
                </a:gridCol>
              </a:tblGrid>
              <a:tr h="865664">
                <a:tc>
                  <a:txBody>
                    <a:bodyPr/>
                    <a:lstStyle/>
                    <a:p>
                      <a:r>
                        <a:rPr lang="vi-VN" sz="2000" dirty="0"/>
                        <a:t>Cơ Chế Tổng Hợp</a:t>
                      </a:r>
                      <a:endParaRPr lang="en-US" sz="2000" dirty="0"/>
                    </a:p>
                  </a:txBody>
                  <a:tcPr/>
                </a:tc>
                <a:tc>
                  <a:txBody>
                    <a:bodyPr/>
                    <a:lstStyle/>
                    <a:p>
                      <a:r>
                        <a:rPr lang="en-US" sz="2000" b="1" dirty="0"/>
                        <a:t>GIẢI THUẬT</a:t>
                      </a:r>
                    </a:p>
                  </a:txBody>
                  <a:tcPr/>
                </a:tc>
                <a:tc>
                  <a:txBody>
                    <a:bodyPr/>
                    <a:lstStyle/>
                    <a:p>
                      <a:r>
                        <a:rPr lang="en-US" sz="2000" dirty="0" err="1"/>
                        <a:t>Mô</a:t>
                      </a:r>
                      <a:r>
                        <a:rPr lang="en-US" sz="2000" dirty="0"/>
                        <a:t> </a:t>
                      </a:r>
                      <a:r>
                        <a:rPr lang="en-US" sz="2000" dirty="0" err="1"/>
                        <a:t>Tả</a:t>
                      </a:r>
                      <a:r>
                        <a:rPr lang="en-US" sz="2000" dirty="0"/>
                        <a:t> Chi </a:t>
                      </a:r>
                      <a:r>
                        <a:rPr lang="en-US" sz="2000" dirty="0" err="1"/>
                        <a:t>Tiết</a:t>
                      </a:r>
                      <a:endParaRPr lang="en-US" sz="2000" dirty="0"/>
                    </a:p>
                  </a:txBody>
                  <a:tcPr/>
                </a:tc>
                <a:extLst>
                  <a:ext uri="{0D108BD9-81ED-4DB2-BD59-A6C34878D82A}">
                    <a16:rowId xmlns:a16="http://schemas.microsoft.com/office/drawing/2014/main" val="1132425545"/>
                  </a:ext>
                </a:extLst>
              </a:tr>
              <a:tr h="1376634">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000" b="1" dirty="0"/>
                        <a:t>Trung Bình</a:t>
                      </a:r>
                      <a:r>
                        <a:rPr lang="en-US" sz="2000" dirty="0"/>
                        <a:t> (Averaging)</a:t>
                      </a:r>
                    </a:p>
                    <a:p>
                      <a:endParaRPr lang="en-US" sz="2000" b="1" dirty="0"/>
                    </a:p>
                  </a:txBody>
                  <a:tcPr/>
                </a:tc>
                <a:tc>
                  <a:txBody>
                    <a:bodyPr/>
                    <a:lstStyle/>
                    <a:p>
                      <a:r>
                        <a:rPr lang="en-US" sz="2000" dirty="0" err="1"/>
                        <a:t>Hồi</a:t>
                      </a:r>
                      <a:r>
                        <a:rPr lang="en-US" sz="2000" dirty="0"/>
                        <a:t> Quy (Regression)</a:t>
                      </a:r>
                    </a:p>
                    <a:p>
                      <a:endParaRPr lang="en-US" sz="2000" dirty="0"/>
                    </a:p>
                    <a:p>
                      <a:endParaRPr lang="en-US" sz="2000" dirty="0"/>
                    </a:p>
                  </a:txBody>
                  <a:tcPr/>
                </a:tc>
                <a:tc>
                  <a:txBody>
                    <a:bodyPr/>
                    <a:lstStyle/>
                    <a:p>
                      <a:r>
                        <a:rPr lang="en-US" sz="2000" dirty="0"/>
                        <a:t>Kết </a:t>
                      </a:r>
                      <a:r>
                        <a:rPr lang="en-US" sz="2000" dirty="0" err="1"/>
                        <a:t>quả</a:t>
                      </a:r>
                      <a:r>
                        <a:rPr lang="en-US" sz="2000" dirty="0"/>
                        <a:t> </a:t>
                      </a:r>
                      <a:r>
                        <a:rPr lang="en-US" sz="2000" dirty="0" err="1"/>
                        <a:t>cuối</a:t>
                      </a:r>
                      <a:r>
                        <a:rPr lang="en-US" sz="2000" dirty="0"/>
                        <a:t> </a:t>
                      </a:r>
                      <a:r>
                        <a:rPr lang="en-US" sz="2000" dirty="0" err="1"/>
                        <a:t>cùng</a:t>
                      </a:r>
                      <a:r>
                        <a:rPr lang="en-US" sz="2000" dirty="0"/>
                        <a:t> </a:t>
                      </a:r>
                      <a:r>
                        <a:rPr lang="en-US" sz="2000" dirty="0" err="1"/>
                        <a:t>là</a:t>
                      </a:r>
                      <a:r>
                        <a:rPr lang="en-US" sz="2000" dirty="0"/>
                        <a:t> </a:t>
                      </a:r>
                      <a:r>
                        <a:rPr lang="en-US" sz="2000" b="1" dirty="0" err="1">
                          <a:solidFill>
                            <a:schemeClr val="dk1"/>
                          </a:solidFill>
                          <a:effectLst/>
                          <a:latin typeface="+mn-lt"/>
                          <a:ea typeface="+mn-ea"/>
                          <a:cs typeface="+mn-cs"/>
                        </a:rPr>
                        <a:t>giá</a:t>
                      </a:r>
                      <a:r>
                        <a:rPr lang="en-US" sz="2000" b="1" dirty="0">
                          <a:solidFill>
                            <a:schemeClr val="dk1"/>
                          </a:solidFill>
                          <a:effectLst/>
                          <a:latin typeface="+mn-lt"/>
                          <a:ea typeface="+mn-ea"/>
                          <a:cs typeface="+mn-cs"/>
                        </a:rPr>
                        <a:t> </a:t>
                      </a:r>
                      <a:r>
                        <a:rPr lang="en-US" sz="2000" b="1" dirty="0" err="1">
                          <a:solidFill>
                            <a:schemeClr val="dk1"/>
                          </a:solidFill>
                          <a:effectLst/>
                          <a:latin typeface="+mn-lt"/>
                          <a:ea typeface="+mn-ea"/>
                          <a:cs typeface="+mn-cs"/>
                        </a:rPr>
                        <a:t>trị</a:t>
                      </a:r>
                      <a:r>
                        <a:rPr lang="en-US" sz="2000" b="1" dirty="0">
                          <a:solidFill>
                            <a:schemeClr val="dk1"/>
                          </a:solidFill>
                          <a:effectLst/>
                          <a:latin typeface="+mn-lt"/>
                          <a:ea typeface="+mn-ea"/>
                          <a:cs typeface="+mn-cs"/>
                        </a:rPr>
                        <a:t> </a:t>
                      </a:r>
                      <a:r>
                        <a:rPr lang="en-US" sz="2000" b="1" dirty="0" err="1">
                          <a:solidFill>
                            <a:schemeClr val="dk1"/>
                          </a:solidFill>
                          <a:effectLst/>
                          <a:latin typeface="+mn-lt"/>
                          <a:ea typeface="+mn-ea"/>
                          <a:cs typeface="+mn-cs"/>
                        </a:rPr>
                        <a:t>trung</a:t>
                      </a:r>
                      <a:r>
                        <a:rPr lang="en-US" sz="2000" b="1" dirty="0">
                          <a:solidFill>
                            <a:schemeClr val="dk1"/>
                          </a:solidFill>
                          <a:effectLst/>
                          <a:latin typeface="+mn-lt"/>
                          <a:ea typeface="+mn-ea"/>
                          <a:cs typeface="+mn-cs"/>
                        </a:rPr>
                        <a:t> </a:t>
                      </a:r>
                      <a:r>
                        <a:rPr lang="en-US" sz="2000" b="1" dirty="0" err="1">
                          <a:solidFill>
                            <a:schemeClr val="dk1"/>
                          </a:solidFill>
                          <a:effectLst/>
                          <a:latin typeface="+mn-lt"/>
                          <a:ea typeface="+mn-ea"/>
                          <a:cs typeface="+mn-cs"/>
                        </a:rPr>
                        <a:t>bình</a:t>
                      </a:r>
                      <a:r>
                        <a:rPr lang="en-US" sz="2000" dirty="0"/>
                        <a:t> </a:t>
                      </a:r>
                      <a:r>
                        <a:rPr lang="en-US" sz="2000" dirty="0" err="1"/>
                        <a:t>của</a:t>
                      </a:r>
                      <a:r>
                        <a:rPr lang="en-US" sz="2000" dirty="0"/>
                        <a:t> </a:t>
                      </a:r>
                      <a:r>
                        <a:rPr lang="en-US" sz="2000" dirty="0">
                          <a:solidFill>
                            <a:schemeClr val="dk1"/>
                          </a:solidFill>
                          <a:effectLst/>
                          <a:latin typeface="+mn-lt"/>
                          <a:ea typeface="+mn-ea"/>
                          <a:cs typeface="+mn-cs"/>
                        </a:rPr>
                        <a:t>n</a:t>
                      </a:r>
                      <a:r>
                        <a:rPr lang="en-US" sz="2000" dirty="0"/>
                        <a:t> </a:t>
                      </a:r>
                      <a:r>
                        <a:rPr lang="en-US" sz="2000" dirty="0" err="1"/>
                        <a:t>dự</a:t>
                      </a:r>
                      <a:r>
                        <a:rPr lang="en-US" sz="2000" dirty="0"/>
                        <a:t> </a:t>
                      </a:r>
                      <a:r>
                        <a:rPr lang="en-US" sz="2000" dirty="0" err="1"/>
                        <a:t>đoán</a:t>
                      </a:r>
                      <a:r>
                        <a:rPr lang="en-US" sz="2000" dirty="0"/>
                        <a:t> </a:t>
                      </a:r>
                      <a:r>
                        <a:rPr lang="en-US" sz="2000" dirty="0" err="1"/>
                        <a:t>số</a:t>
                      </a:r>
                      <a:r>
                        <a:rPr lang="en-US" sz="2000" dirty="0"/>
                        <a:t> </a:t>
                      </a:r>
                      <a:r>
                        <a:rPr lang="en-US" sz="2000" dirty="0" err="1"/>
                        <a:t>học</a:t>
                      </a:r>
                      <a:r>
                        <a:rPr lang="en-US" sz="2000" dirty="0"/>
                        <a:t> </a:t>
                      </a:r>
                      <a:r>
                        <a:rPr lang="en-US" sz="2000" dirty="0" err="1"/>
                        <a:t>từ</a:t>
                      </a:r>
                      <a:r>
                        <a:rPr lang="en-US" sz="2000" dirty="0"/>
                        <a:t> </a:t>
                      </a:r>
                      <a:r>
                        <a:rPr lang="en-US" sz="2000" dirty="0" err="1"/>
                        <a:t>các</a:t>
                      </a:r>
                      <a:r>
                        <a:rPr lang="en-US" sz="2000" dirty="0"/>
                        <a:t> </a:t>
                      </a:r>
                      <a:r>
                        <a:rPr lang="en-US" sz="2000" dirty="0" err="1"/>
                        <a:t>mô</a:t>
                      </a:r>
                      <a:r>
                        <a:rPr lang="en-US" sz="2000" dirty="0"/>
                        <a:t> </a:t>
                      </a:r>
                      <a:r>
                        <a:rPr lang="en-US" sz="2000" dirty="0" err="1"/>
                        <a:t>hình</a:t>
                      </a:r>
                      <a:r>
                        <a:rPr lang="en-US" sz="2000" dirty="0"/>
                        <a:t> con</a:t>
                      </a:r>
                    </a:p>
                  </a:txBody>
                  <a:tcPr/>
                </a:tc>
                <a:extLst>
                  <a:ext uri="{0D108BD9-81ED-4DB2-BD59-A6C34878D82A}">
                    <a16:rowId xmlns:a16="http://schemas.microsoft.com/office/drawing/2014/main" val="4004172066"/>
                  </a:ext>
                </a:extLst>
              </a:tr>
              <a:tr h="1696782">
                <a:tc>
                  <a:txBody>
                    <a:bodyPr/>
                    <a:lstStyle/>
                    <a:p>
                      <a:r>
                        <a:rPr lang="en-US" sz="2000" b="1" dirty="0" err="1"/>
                        <a:t>Bầu</a:t>
                      </a:r>
                      <a:r>
                        <a:rPr lang="en-US" sz="2000" b="1" dirty="0"/>
                        <a:t> </a:t>
                      </a:r>
                      <a:r>
                        <a:rPr lang="en-US" sz="2000" b="1" dirty="0" err="1"/>
                        <a:t>Chọn</a:t>
                      </a:r>
                      <a:r>
                        <a:rPr lang="en-US" sz="2000" dirty="0"/>
                        <a:t> (Voting)</a:t>
                      </a:r>
                    </a:p>
                  </a:txBody>
                  <a:tcPr/>
                </a:tc>
                <a:tc>
                  <a:txBody>
                    <a:bodyPr/>
                    <a:lstStyle/>
                    <a:p>
                      <a:r>
                        <a:rPr lang="en-US" sz="2000" dirty="0" err="1"/>
                        <a:t>Phân</a:t>
                      </a:r>
                      <a:r>
                        <a:rPr lang="en-US" sz="2000" dirty="0"/>
                        <a:t> </a:t>
                      </a:r>
                      <a:r>
                        <a:rPr lang="en-US" sz="2000" dirty="0" err="1"/>
                        <a:t>Loại</a:t>
                      </a:r>
                      <a:r>
                        <a:rPr lang="en-US" sz="2000" dirty="0"/>
                        <a:t> (Classification)</a:t>
                      </a:r>
                    </a:p>
                  </a:txBody>
                  <a:tcPr/>
                </a:tc>
                <a:tc>
                  <a:txBody>
                    <a:bodyPr/>
                    <a:lstStyle/>
                    <a:p>
                      <a:r>
                        <a:rPr lang="vi-VN" sz="2000" dirty="0"/>
                        <a:t>Kết quả cuối cùng là </a:t>
                      </a:r>
                      <a:r>
                        <a:rPr lang="vi-VN" sz="2000" b="1" dirty="0"/>
                        <a:t>lớp (Class) được bầu chọn nhiều nhất</a:t>
                      </a:r>
                      <a:r>
                        <a:rPr lang="vi-VN" sz="2000" dirty="0"/>
                        <a:t> (chiếm đa số) từ các mô hình con.</a:t>
                      </a:r>
                      <a:endParaRPr lang="en-US" sz="2000" dirty="0"/>
                    </a:p>
                  </a:txBody>
                  <a:tcPr/>
                </a:tc>
                <a:extLst>
                  <a:ext uri="{0D108BD9-81ED-4DB2-BD59-A6C34878D82A}">
                    <a16:rowId xmlns:a16="http://schemas.microsoft.com/office/drawing/2014/main" val="394723539"/>
                  </a:ext>
                </a:extLst>
              </a:tr>
            </a:tbl>
          </a:graphicData>
        </a:graphic>
      </p:graphicFrame>
    </p:spTree>
    <p:extLst>
      <p:ext uri="{BB962C8B-B14F-4D97-AF65-F5344CB8AC3E}">
        <p14:creationId xmlns:p14="http://schemas.microsoft.com/office/powerpoint/2010/main" val="3242293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738B3-B457-4115-D24E-3799573F55D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92A9278-9C6A-E8D7-3F04-E42F38229B39}"/>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3C99552B-BA5A-FD4C-F41F-FF1912400C93}"/>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1.4. Out of bag (OOB) Instances</a:t>
            </a:r>
            <a:endParaRPr sz="3600" spc="-10" dirty="0"/>
          </a:p>
        </p:txBody>
      </p:sp>
      <p:sp>
        <p:nvSpPr>
          <p:cNvPr id="4" name="object 4">
            <a:extLst>
              <a:ext uri="{FF2B5EF4-FFF2-40B4-BE49-F238E27FC236}">
                <a16:creationId xmlns:a16="http://schemas.microsoft.com/office/drawing/2014/main" id="{9B1CC0FD-235A-E8A7-939A-9B8F501BBD2C}"/>
              </a:ext>
            </a:extLst>
          </p:cNvPr>
          <p:cNvSpPr txBox="1"/>
          <p:nvPr/>
        </p:nvSpPr>
        <p:spPr>
          <a:xfrm>
            <a:off x="76200" y="862300"/>
            <a:ext cx="9119286" cy="1489510"/>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vi-VN" sz="3000" b="1" dirty="0">
                <a:latin typeface="Times New Roman"/>
                <a:cs typeface="Times New Roman"/>
              </a:rPr>
              <a:t>Out-of-Bag (OOB) Instances </a:t>
            </a:r>
            <a:r>
              <a:rPr lang="vi-VN" sz="3000" dirty="0">
                <a:latin typeface="Times New Roman"/>
                <a:cs typeface="Times New Roman"/>
              </a:rPr>
              <a:t>Là các mẫu dữ liệu gốc chưa được chọn (còn sót lại) khi tạo Bootstrap Sample cho một mô hình con.</a:t>
            </a:r>
            <a:endParaRPr lang="en-US" sz="3000" dirty="0">
              <a:latin typeface="Times New Roman"/>
              <a:cs typeface="Times New Roman"/>
            </a:endParaRPr>
          </a:p>
        </p:txBody>
      </p:sp>
      <p:sp>
        <p:nvSpPr>
          <p:cNvPr id="10" name="object 10">
            <a:extLst>
              <a:ext uri="{FF2B5EF4-FFF2-40B4-BE49-F238E27FC236}">
                <a16:creationId xmlns:a16="http://schemas.microsoft.com/office/drawing/2014/main" id="{8AF8630E-B2B2-B9A4-3678-EB13F04D60D5}"/>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13</a:t>
            </a:fld>
            <a:endParaRPr spc="-25" dirty="0"/>
          </a:p>
        </p:txBody>
      </p:sp>
      <p:pic>
        <p:nvPicPr>
          <p:cNvPr id="7" name="Picture 6">
            <a:extLst>
              <a:ext uri="{FF2B5EF4-FFF2-40B4-BE49-F238E27FC236}">
                <a16:creationId xmlns:a16="http://schemas.microsoft.com/office/drawing/2014/main" id="{4A30CCC8-3DB5-8C75-F91F-83E9FB5279CC}"/>
              </a:ext>
            </a:extLst>
          </p:cNvPr>
          <p:cNvPicPr>
            <a:picLocks noChangeAspect="1"/>
          </p:cNvPicPr>
          <p:nvPr/>
        </p:nvPicPr>
        <p:blipFill>
          <a:blip r:embed="rId2"/>
          <a:stretch>
            <a:fillRect/>
          </a:stretch>
        </p:blipFill>
        <p:spPr>
          <a:xfrm>
            <a:off x="1071880" y="2402138"/>
            <a:ext cx="7536180" cy="2984870"/>
          </a:xfrm>
          <a:prstGeom prst="rect">
            <a:avLst/>
          </a:prstGeom>
        </p:spPr>
      </p:pic>
    </p:spTree>
    <p:extLst>
      <p:ext uri="{BB962C8B-B14F-4D97-AF65-F5344CB8AC3E}">
        <p14:creationId xmlns:p14="http://schemas.microsoft.com/office/powerpoint/2010/main" val="1215029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73799-4476-7BFC-F19A-4D60494A897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1198896-47F3-CD35-7886-5914F9A04A2F}"/>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E4E4680D-561A-B26F-0C02-E36DF7A1ECB9}"/>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1.4. Out of bag (OOB) Instances</a:t>
            </a:r>
            <a:endParaRPr sz="3600" spc="-10" dirty="0"/>
          </a:p>
        </p:txBody>
      </p:sp>
      <p:sp>
        <p:nvSpPr>
          <p:cNvPr id="10" name="object 10">
            <a:extLst>
              <a:ext uri="{FF2B5EF4-FFF2-40B4-BE49-F238E27FC236}">
                <a16:creationId xmlns:a16="http://schemas.microsoft.com/office/drawing/2014/main" id="{0CA0D5C7-9E33-6503-0E54-C47A2A26F4B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14</a:t>
            </a:fld>
            <a:endParaRPr spc="-25" dirty="0"/>
          </a:p>
        </p:txBody>
      </p:sp>
      <p:graphicFrame>
        <p:nvGraphicFramePr>
          <p:cNvPr id="6" name="Table 5">
            <a:extLst>
              <a:ext uri="{FF2B5EF4-FFF2-40B4-BE49-F238E27FC236}">
                <a16:creationId xmlns:a16="http://schemas.microsoft.com/office/drawing/2014/main" id="{27382DFF-9A30-4676-15AB-5A112D034AE9}"/>
              </a:ext>
            </a:extLst>
          </p:cNvPr>
          <p:cNvGraphicFramePr>
            <a:graphicFrameLocks noGrp="1"/>
          </p:cNvGraphicFramePr>
          <p:nvPr>
            <p:extLst>
              <p:ext uri="{D42A27DB-BD31-4B8C-83A1-F6EECF244321}">
                <p14:modId xmlns:p14="http://schemas.microsoft.com/office/powerpoint/2010/main" val="3300223423"/>
              </p:ext>
            </p:extLst>
          </p:nvPr>
        </p:nvGraphicFramePr>
        <p:xfrm>
          <a:off x="457200" y="1925946"/>
          <a:ext cx="7956550" cy="1963513"/>
        </p:xfrm>
        <a:graphic>
          <a:graphicData uri="http://schemas.openxmlformats.org/drawingml/2006/table">
            <a:tbl>
              <a:tblPr firstRow="1" bandRow="1">
                <a:tableStyleId>{5C22544A-7EE6-4342-B048-85BDC9FD1C3A}</a:tableStyleId>
              </a:tblPr>
              <a:tblGrid>
                <a:gridCol w="4773930">
                  <a:extLst>
                    <a:ext uri="{9D8B030D-6E8A-4147-A177-3AD203B41FA5}">
                      <a16:colId xmlns:a16="http://schemas.microsoft.com/office/drawing/2014/main" val="710936475"/>
                    </a:ext>
                  </a:extLst>
                </a:gridCol>
                <a:gridCol w="3182620">
                  <a:extLst>
                    <a:ext uri="{9D8B030D-6E8A-4147-A177-3AD203B41FA5}">
                      <a16:colId xmlns:a16="http://schemas.microsoft.com/office/drawing/2014/main" val="69648409"/>
                    </a:ext>
                  </a:extLst>
                </a:gridCol>
              </a:tblGrid>
              <a:tr h="505101">
                <a:tc>
                  <a:txBody>
                    <a:bodyPr/>
                    <a:lstStyle/>
                    <a:p>
                      <a:r>
                        <a:rPr lang="en-US" dirty="0" err="1"/>
                        <a:t>Dữ</a:t>
                      </a:r>
                      <a:r>
                        <a:rPr lang="en-US" dirty="0"/>
                        <a:t> </a:t>
                      </a:r>
                      <a:r>
                        <a:rPr lang="en-US" dirty="0" err="1"/>
                        <a:t>liệu</a:t>
                      </a:r>
                      <a:r>
                        <a:rPr lang="en-US" dirty="0"/>
                        <a:t> </a:t>
                      </a:r>
                      <a:r>
                        <a:rPr lang="en-US" dirty="0" err="1"/>
                        <a:t>huấn</a:t>
                      </a:r>
                      <a:r>
                        <a:rPr lang="en-US" dirty="0"/>
                        <a:t> </a:t>
                      </a:r>
                      <a:r>
                        <a:rPr lang="en-US" dirty="0" err="1"/>
                        <a:t>luyện</a:t>
                      </a:r>
                      <a:r>
                        <a:rPr lang="en-US" dirty="0"/>
                        <a:t> (Training Set - Bootstrap Sample)</a:t>
                      </a:r>
                    </a:p>
                  </a:txBody>
                  <a:tcPr/>
                </a:tc>
                <a:tc>
                  <a:txBody>
                    <a:bodyPr/>
                    <a:lstStyle/>
                    <a:p>
                      <a:r>
                        <a:rPr lang="en-US" dirty="0" err="1"/>
                        <a:t>Dữ</a:t>
                      </a:r>
                      <a:r>
                        <a:rPr lang="en-US" dirty="0"/>
                        <a:t> </a:t>
                      </a:r>
                      <a:r>
                        <a:rPr lang="en-US" dirty="0" err="1"/>
                        <a:t>liệu</a:t>
                      </a:r>
                      <a:r>
                        <a:rPr lang="en-US" dirty="0"/>
                        <a:t> OOB (Out-of-Bag)</a:t>
                      </a:r>
                    </a:p>
                  </a:txBody>
                  <a:tcPr/>
                </a:tc>
                <a:extLst>
                  <a:ext uri="{0D108BD9-81ED-4DB2-BD59-A6C34878D82A}">
                    <a16:rowId xmlns:a16="http://schemas.microsoft.com/office/drawing/2014/main" val="3345845609"/>
                  </a:ext>
                </a:extLst>
              </a:tr>
              <a:tr h="505101">
                <a:tc>
                  <a:txBody>
                    <a:bodyPr/>
                    <a:lstStyle/>
                    <a:p>
                      <a:r>
                        <a:rPr lang="en-US" b="1" dirty="0"/>
                        <a:t>"outlook"</a:t>
                      </a:r>
                      <a:r>
                        <a:rPr lang="en-US" dirty="0"/>
                        <a:t>, </a:t>
                      </a:r>
                      <a:r>
                        <a:rPr lang="en-US" b="1" dirty="0"/>
                        <a:t>"temperature"</a:t>
                      </a:r>
                      <a:r>
                        <a:rPr lang="en-US" dirty="0"/>
                        <a:t>, </a:t>
                      </a:r>
                      <a:r>
                        <a:rPr lang="en-US" b="1" dirty="0"/>
                        <a:t>"temperature"</a:t>
                      </a:r>
                      <a:r>
                        <a:rPr lang="en-US" dirty="0"/>
                        <a:t>, </a:t>
                      </a:r>
                      <a:r>
                        <a:rPr lang="en-US" b="1" dirty="0"/>
                        <a:t>"windy"</a:t>
                      </a:r>
                      <a:endParaRPr lang="en-US" dirty="0"/>
                    </a:p>
                  </a:txBody>
                  <a:tcPr/>
                </a:tc>
                <a:tc>
                  <a:txBody>
                    <a:bodyPr/>
                    <a:lstStyle/>
                    <a:p>
                      <a:r>
                        <a:rPr lang="en-US" dirty="0">
                          <a:sym typeface="Wingdings" panose="05000000000000000000" pitchFamily="2" charset="2"/>
                        </a:rPr>
                        <a:t> </a:t>
                      </a:r>
                      <a:r>
                        <a:rPr lang="vi-VN" b="1" dirty="0"/>
                        <a:t>"humidity"</a:t>
                      </a:r>
                      <a:r>
                        <a:rPr lang="vi-VN" dirty="0"/>
                        <a:t> (Chưa được lấy)</a:t>
                      </a:r>
                      <a:endParaRPr lang="en-US" dirty="0"/>
                    </a:p>
                  </a:txBody>
                  <a:tcPr/>
                </a:tc>
                <a:extLst>
                  <a:ext uri="{0D108BD9-81ED-4DB2-BD59-A6C34878D82A}">
                    <a16:rowId xmlns:a16="http://schemas.microsoft.com/office/drawing/2014/main" val="2869601009"/>
                  </a:ext>
                </a:extLst>
              </a:tr>
              <a:tr h="683353">
                <a:tc>
                  <a:txBody>
                    <a:bodyPr/>
                    <a:lstStyle/>
                    <a:p>
                      <a:r>
                        <a:rPr lang="en-US" b="1" dirty="0"/>
                        <a:t>"outlook"</a:t>
                      </a:r>
                      <a:r>
                        <a:rPr lang="en-US" dirty="0"/>
                        <a:t>, </a:t>
                      </a:r>
                      <a:r>
                        <a:rPr lang="en-US" b="1" dirty="0"/>
                        <a:t>"outlook"</a:t>
                      </a:r>
                      <a:r>
                        <a:rPr lang="en-US" dirty="0"/>
                        <a:t>, </a:t>
                      </a:r>
                      <a:r>
                        <a:rPr lang="en-US" b="1" dirty="0"/>
                        <a:t>"humidity"</a:t>
                      </a:r>
                      <a:r>
                        <a:rPr lang="en-US" dirty="0"/>
                        <a:t>, </a:t>
                      </a:r>
                      <a:r>
                        <a:rPr lang="en-US" b="1" dirty="0"/>
                        <a:t>"windy"</a:t>
                      </a:r>
                      <a:endParaRPr lang="en-US" dirty="0"/>
                    </a:p>
                  </a:txBody>
                  <a:tcPr/>
                </a:tc>
                <a:tc>
                  <a:txBody>
                    <a:bodyPr/>
                    <a:lstStyle/>
                    <a:p>
                      <a:r>
                        <a:rPr lang="en-US" dirty="0">
                          <a:sym typeface="Wingdings" panose="05000000000000000000" pitchFamily="2" charset="2"/>
                        </a:rPr>
                        <a:t></a:t>
                      </a:r>
                      <a:r>
                        <a:rPr lang="vi-VN" b="1" dirty="0"/>
                        <a:t>"temperature"</a:t>
                      </a:r>
                      <a:r>
                        <a:rPr lang="vi-VN" dirty="0"/>
                        <a:t> (Chưa được lấy)</a:t>
                      </a:r>
                      <a:endParaRPr lang="en-US" dirty="0"/>
                    </a:p>
                  </a:txBody>
                  <a:tcPr/>
                </a:tc>
                <a:extLst>
                  <a:ext uri="{0D108BD9-81ED-4DB2-BD59-A6C34878D82A}">
                    <a16:rowId xmlns:a16="http://schemas.microsoft.com/office/drawing/2014/main" val="758279717"/>
                  </a:ext>
                </a:extLst>
              </a:tr>
            </a:tbl>
          </a:graphicData>
        </a:graphic>
      </p:graphicFrame>
      <p:sp>
        <p:nvSpPr>
          <p:cNvPr id="11" name="object 4">
            <a:extLst>
              <a:ext uri="{FF2B5EF4-FFF2-40B4-BE49-F238E27FC236}">
                <a16:creationId xmlns:a16="http://schemas.microsoft.com/office/drawing/2014/main" id="{1F7E32DD-81E1-03D5-0CD8-D99D76BC1ACC}"/>
              </a:ext>
            </a:extLst>
          </p:cNvPr>
          <p:cNvSpPr txBox="1"/>
          <p:nvPr/>
        </p:nvSpPr>
        <p:spPr>
          <a:xfrm>
            <a:off x="76200" y="862300"/>
            <a:ext cx="9119286" cy="1027845"/>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en-US" sz="3000" b="1" dirty="0" err="1">
                <a:latin typeface="Times New Roman"/>
                <a:cs typeface="Times New Roman"/>
              </a:rPr>
              <a:t>Ví</a:t>
            </a:r>
            <a:r>
              <a:rPr lang="en-US" sz="3000" b="1" dirty="0">
                <a:latin typeface="Times New Roman"/>
                <a:cs typeface="Times New Roman"/>
              </a:rPr>
              <a:t> </a:t>
            </a:r>
            <a:r>
              <a:rPr lang="en-US" sz="3000" b="1" dirty="0" err="1">
                <a:latin typeface="Times New Roman"/>
                <a:cs typeface="Times New Roman"/>
              </a:rPr>
              <a:t>dụ</a:t>
            </a:r>
            <a:r>
              <a:rPr lang="en-US" sz="3000" b="1" dirty="0">
                <a:latin typeface="Times New Roman"/>
                <a:cs typeface="Times New Roman"/>
              </a:rPr>
              <a:t>: </a:t>
            </a:r>
            <a:r>
              <a:rPr lang="en-US" sz="3000" dirty="0">
                <a:latin typeface="Times New Roman"/>
                <a:cs typeface="Times New Roman"/>
              </a:rPr>
              <a:t>ta </a:t>
            </a:r>
            <a:r>
              <a:rPr lang="en-US" sz="3000" dirty="0" err="1">
                <a:latin typeface="Times New Roman"/>
                <a:cs typeface="Times New Roman"/>
              </a:rPr>
              <a:t>có</a:t>
            </a:r>
            <a:r>
              <a:rPr lang="en-US" sz="3000" dirty="0">
                <a:latin typeface="Times New Roman"/>
                <a:cs typeface="Times New Roman"/>
              </a:rPr>
              <a:t> </a:t>
            </a:r>
            <a:r>
              <a:rPr lang="en-US" sz="3000" dirty="0" err="1">
                <a:latin typeface="Times New Roman"/>
                <a:cs typeface="Times New Roman"/>
              </a:rPr>
              <a:t>dữ</a:t>
            </a:r>
            <a:r>
              <a:rPr lang="en-US" sz="3000" dirty="0">
                <a:latin typeface="Times New Roman"/>
                <a:cs typeface="Times New Roman"/>
              </a:rPr>
              <a:t> </a:t>
            </a:r>
            <a:r>
              <a:rPr lang="en-US" sz="3000" dirty="0" err="1">
                <a:latin typeface="Times New Roman"/>
                <a:cs typeface="Times New Roman"/>
              </a:rPr>
              <a:t>liệu</a:t>
            </a:r>
            <a:r>
              <a:rPr lang="en-US" sz="3000" dirty="0">
                <a:latin typeface="Times New Roman"/>
                <a:cs typeface="Times New Roman"/>
              </a:rPr>
              <a:t> </a:t>
            </a:r>
            <a:r>
              <a:rPr lang="en-US" sz="3000" dirty="0" err="1">
                <a:latin typeface="Times New Roman"/>
                <a:cs typeface="Times New Roman"/>
              </a:rPr>
              <a:t>gốc</a:t>
            </a:r>
            <a:br>
              <a:rPr lang="en-US" sz="3000" b="1" dirty="0">
                <a:latin typeface="Times New Roman"/>
                <a:cs typeface="Times New Roman"/>
              </a:rPr>
            </a:br>
            <a:r>
              <a:rPr lang="en-US" sz="3000" b="1" dirty="0">
                <a:latin typeface="Times New Roman"/>
                <a:cs typeface="Times New Roman"/>
              </a:rPr>
              <a:t>"outlook", "temperature", "humidity", "windy"</a:t>
            </a:r>
            <a:endParaRPr lang="en-US" sz="3000" dirty="0">
              <a:latin typeface="Times New Roman"/>
              <a:cs typeface="Times New Roman"/>
            </a:endParaRPr>
          </a:p>
        </p:txBody>
      </p:sp>
    </p:spTree>
    <p:extLst>
      <p:ext uri="{BB962C8B-B14F-4D97-AF65-F5344CB8AC3E}">
        <p14:creationId xmlns:p14="http://schemas.microsoft.com/office/powerpoint/2010/main" val="3149118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6C01C-1FE5-CD36-E7E1-CCC04CC98D2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4105F18-874F-AF2A-B43B-D712040B153C}"/>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2F70A7E8-C74D-9A4C-3161-736308190DF7}"/>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1.4. Out of bag (OOB) Instances</a:t>
            </a:r>
            <a:endParaRPr sz="3600" spc="-10" dirty="0"/>
          </a:p>
        </p:txBody>
      </p:sp>
      <p:sp>
        <p:nvSpPr>
          <p:cNvPr id="10" name="object 10">
            <a:extLst>
              <a:ext uri="{FF2B5EF4-FFF2-40B4-BE49-F238E27FC236}">
                <a16:creationId xmlns:a16="http://schemas.microsoft.com/office/drawing/2014/main" id="{7CC4A44E-F501-3F03-F0D4-422FB93C7F77}"/>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15</a:t>
            </a:fld>
            <a:endParaRPr spc="-25" dirty="0"/>
          </a:p>
        </p:txBody>
      </p:sp>
      <p:sp>
        <p:nvSpPr>
          <p:cNvPr id="11" name="object 4">
            <a:extLst>
              <a:ext uri="{FF2B5EF4-FFF2-40B4-BE49-F238E27FC236}">
                <a16:creationId xmlns:a16="http://schemas.microsoft.com/office/drawing/2014/main" id="{22297332-E5D4-F0CE-BAA7-EB00EA50AA5F}"/>
              </a:ext>
            </a:extLst>
          </p:cNvPr>
          <p:cNvSpPr txBox="1"/>
          <p:nvPr/>
        </p:nvSpPr>
        <p:spPr>
          <a:xfrm>
            <a:off x="76200" y="862300"/>
            <a:ext cx="9119286" cy="4105611"/>
          </a:xfrm>
          <a:prstGeom prst="rect">
            <a:avLst/>
          </a:prstGeom>
        </p:spPr>
        <p:txBody>
          <a:bodyPr vert="horz" wrap="square" lIns="0" tIns="103505" rIns="0" bIns="0" rtlCol="0">
            <a:spAutoFit/>
          </a:bodyPr>
          <a:lstStyle/>
          <a:p>
            <a:pPr marL="12700">
              <a:lnSpc>
                <a:spcPct val="100000"/>
              </a:lnSpc>
              <a:spcBef>
                <a:spcPts val="815"/>
              </a:spcBef>
              <a:buClr>
                <a:srgbClr val="CC9900"/>
              </a:buClr>
              <a:buSzPct val="65000"/>
              <a:tabLst>
                <a:tab pos="354965" algn="l"/>
              </a:tabLst>
            </a:pPr>
            <a:r>
              <a:rPr lang="vi-VN" sz="3000" dirty="0">
                <a:latin typeface="Times New Roman"/>
                <a:cs typeface="Times New Roman"/>
              </a:rPr>
              <a:t>Vai trò quan trọng:</a:t>
            </a:r>
            <a:endParaRPr lang="en-US" sz="3000" dirty="0">
              <a:latin typeface="Times New Roman"/>
              <a:cs typeface="Times New Roman"/>
            </a:endParaRPr>
          </a:p>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Dùng làm </a:t>
            </a:r>
            <a:r>
              <a:rPr lang="vi-VN" sz="3000" b="1" dirty="0">
                <a:latin typeface="Times New Roman"/>
                <a:cs typeface="Times New Roman"/>
              </a:rPr>
              <a:t>Tập Kiểm tra (Test Set) </a:t>
            </a:r>
            <a:r>
              <a:rPr lang="vi-VN" sz="3000" dirty="0">
                <a:latin typeface="Times New Roman"/>
                <a:cs typeface="Times New Roman"/>
              </a:rPr>
              <a:t>Nội bộ cho mô hình con đó.</a:t>
            </a:r>
            <a:endParaRPr lang="en-US" sz="3000" dirty="0">
              <a:latin typeface="Times New Roman"/>
              <a:cs typeface="Times New Roman"/>
            </a:endParaRPr>
          </a:p>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Đánh giá hiệu suất mô hình một cách khách quan vì dữ liệu OOB hoàn toàn chưa được nhìn thấy trong quá trình huấn luyện.</a:t>
            </a:r>
            <a:endParaRPr lang="en-US" sz="3000" dirty="0">
              <a:latin typeface="Times New Roman"/>
              <a:cs typeface="Times New Roman"/>
            </a:endParaRPr>
          </a:p>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Giúp kiểm tra khả năng tổng quát hóa và tránh Overfitting.</a:t>
            </a:r>
            <a:endParaRPr lang="en-US" sz="3000" dirty="0">
              <a:latin typeface="Times New Roman"/>
              <a:cs typeface="Times New Roman"/>
            </a:endParaRPr>
          </a:p>
        </p:txBody>
      </p:sp>
    </p:spTree>
    <p:extLst>
      <p:ext uri="{BB962C8B-B14F-4D97-AF65-F5344CB8AC3E}">
        <p14:creationId xmlns:p14="http://schemas.microsoft.com/office/powerpoint/2010/main" val="3263591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B9884-FA55-8DCB-0A29-4AF25C21962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868E97A-45C6-B57F-3E21-F136C35B01BC}"/>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10" name="object 10">
            <a:extLst>
              <a:ext uri="{FF2B5EF4-FFF2-40B4-BE49-F238E27FC236}">
                <a16:creationId xmlns:a16="http://schemas.microsoft.com/office/drawing/2014/main" id="{0AF154E5-0BD3-F0EE-F092-7719A4A0594E}"/>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16</a:t>
            </a:fld>
            <a:endParaRPr spc="-25" dirty="0"/>
          </a:p>
        </p:txBody>
      </p:sp>
      <p:pic>
        <p:nvPicPr>
          <p:cNvPr id="6" name="Picture 5">
            <a:extLst>
              <a:ext uri="{FF2B5EF4-FFF2-40B4-BE49-F238E27FC236}">
                <a16:creationId xmlns:a16="http://schemas.microsoft.com/office/drawing/2014/main" id="{3262E700-A4F3-29CF-A998-075515CB813D}"/>
              </a:ext>
            </a:extLst>
          </p:cNvPr>
          <p:cNvPicPr>
            <a:picLocks noChangeAspect="1"/>
          </p:cNvPicPr>
          <p:nvPr/>
        </p:nvPicPr>
        <p:blipFill>
          <a:blip r:embed="rId2"/>
          <a:stretch>
            <a:fillRect/>
          </a:stretch>
        </p:blipFill>
        <p:spPr>
          <a:xfrm>
            <a:off x="0" y="3724173"/>
            <a:ext cx="12561389" cy="876376"/>
          </a:xfrm>
          <a:prstGeom prst="rect">
            <a:avLst/>
          </a:prstGeom>
        </p:spPr>
      </p:pic>
      <p:sp>
        <p:nvSpPr>
          <p:cNvPr id="7" name="object 3">
            <a:extLst>
              <a:ext uri="{FF2B5EF4-FFF2-40B4-BE49-F238E27FC236}">
                <a16:creationId xmlns:a16="http://schemas.microsoft.com/office/drawing/2014/main" id="{551D37BB-85DF-A8A7-CD15-CC9A722A3E0E}"/>
              </a:ext>
            </a:extLst>
          </p:cNvPr>
          <p:cNvSpPr txBox="1">
            <a:spLocks/>
          </p:cNvSpPr>
          <p:nvPr/>
        </p:nvSpPr>
        <p:spPr>
          <a:xfrm>
            <a:off x="574589" y="292117"/>
            <a:ext cx="8608060" cy="222881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vi-VN" sz="3600"/>
              <a:t>1.5	Baggging Ensemble Learing Using Decision Tree</a:t>
            </a:r>
            <a:br>
              <a:rPr lang="vi-VN" sz="3600"/>
            </a:br>
            <a:r>
              <a:rPr lang="vi-VN" sz="3600"/>
              <a:t>1.5.1	Khởi tạo Base Estimator (Bộ Ước tính Cơ sở</a:t>
            </a:r>
            <a:endParaRPr lang="vi-VN" sz="3600" spc="-10" dirty="0"/>
          </a:p>
        </p:txBody>
      </p:sp>
      <p:sp>
        <p:nvSpPr>
          <p:cNvPr id="11" name="object 4">
            <a:extLst>
              <a:ext uri="{FF2B5EF4-FFF2-40B4-BE49-F238E27FC236}">
                <a16:creationId xmlns:a16="http://schemas.microsoft.com/office/drawing/2014/main" id="{8CD386CD-74F7-8F34-0CD3-CCBC8551F0B8}"/>
              </a:ext>
            </a:extLst>
          </p:cNvPr>
          <p:cNvSpPr txBox="1"/>
          <p:nvPr/>
        </p:nvSpPr>
        <p:spPr>
          <a:xfrm>
            <a:off x="-164756" y="2574409"/>
            <a:ext cx="9119286" cy="1027845"/>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Chọn </a:t>
            </a:r>
            <a:r>
              <a:rPr lang="vi-VN" sz="3000" b="1" dirty="0">
                <a:latin typeface="Times New Roman"/>
                <a:cs typeface="Times New Roman"/>
              </a:rPr>
              <a:t>Cây Quyết Định</a:t>
            </a:r>
            <a:r>
              <a:rPr lang="vi-VN" sz="3000" dirty="0">
                <a:latin typeface="Times New Roman"/>
                <a:cs typeface="Times New Roman"/>
              </a:rPr>
              <a:t> là bộ ước tính cơ sở</a:t>
            </a:r>
            <a:r>
              <a:rPr lang="en-US" sz="3000" dirty="0">
                <a:latin typeface="Times New Roman"/>
                <a:cs typeface="Times New Roman"/>
              </a:rPr>
              <a:t> </a:t>
            </a:r>
            <a:r>
              <a:rPr lang="en-US" sz="3000" dirty="0" err="1">
                <a:latin typeface="Times New Roman"/>
                <a:cs typeface="Times New Roman"/>
              </a:rPr>
              <a:t>và</a:t>
            </a:r>
            <a:r>
              <a:rPr lang="en-US" sz="3000" dirty="0">
                <a:latin typeface="Times New Roman"/>
                <a:cs typeface="Times New Roman"/>
              </a:rPr>
              <a:t> </a:t>
            </a:r>
            <a:r>
              <a:rPr lang="vi-VN" sz="3000" b="1" dirty="0">
                <a:latin typeface="Times New Roman"/>
                <a:cs typeface="Times New Roman"/>
              </a:rPr>
              <a:t>Bagging</a:t>
            </a:r>
            <a:r>
              <a:rPr lang="vi-VN" sz="3000" dirty="0">
                <a:latin typeface="Times New Roman"/>
                <a:cs typeface="Times New Roman"/>
              </a:rPr>
              <a:t> sẽ giúp giảm phương sai </a:t>
            </a:r>
            <a:r>
              <a:rPr lang="en-US" sz="3000" dirty="0">
                <a:latin typeface="Times New Roman"/>
                <a:cs typeface="Times New Roman"/>
              </a:rPr>
              <a:t>      </a:t>
            </a:r>
          </a:p>
        </p:txBody>
      </p:sp>
    </p:spTree>
    <p:extLst>
      <p:ext uri="{BB962C8B-B14F-4D97-AF65-F5344CB8AC3E}">
        <p14:creationId xmlns:p14="http://schemas.microsoft.com/office/powerpoint/2010/main" val="162460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95492-C62B-A41B-CFC2-12D702424B0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FEAAAB2-D782-3D92-A6C4-C137A90BF2B8}"/>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10" name="object 10">
            <a:extLst>
              <a:ext uri="{FF2B5EF4-FFF2-40B4-BE49-F238E27FC236}">
                <a16:creationId xmlns:a16="http://schemas.microsoft.com/office/drawing/2014/main" id="{E5C1B62A-EA15-110F-7BCD-2336941A6318}"/>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17</a:t>
            </a:fld>
            <a:endParaRPr spc="-25" dirty="0"/>
          </a:p>
        </p:txBody>
      </p:sp>
      <p:sp>
        <p:nvSpPr>
          <p:cNvPr id="7" name="object 3">
            <a:extLst>
              <a:ext uri="{FF2B5EF4-FFF2-40B4-BE49-F238E27FC236}">
                <a16:creationId xmlns:a16="http://schemas.microsoft.com/office/drawing/2014/main" id="{E7983F76-C7AD-E96D-8BCF-F5CB0B08D57E}"/>
              </a:ext>
            </a:extLst>
          </p:cNvPr>
          <p:cNvSpPr txBox="1">
            <a:spLocks/>
          </p:cNvSpPr>
          <p:nvPr/>
        </p:nvSpPr>
        <p:spPr>
          <a:xfrm>
            <a:off x="574589" y="292117"/>
            <a:ext cx="8608060" cy="1120820"/>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vi-VN" sz="3600" dirty="0"/>
              <a:t>1.5.2	Khởi tạo và huấn luyện mô hình Bagging</a:t>
            </a:r>
            <a:endParaRPr lang="vi-VN" sz="3600" spc="-10" dirty="0"/>
          </a:p>
        </p:txBody>
      </p:sp>
      <p:pic>
        <p:nvPicPr>
          <p:cNvPr id="4" name="Picture 3">
            <a:extLst>
              <a:ext uri="{FF2B5EF4-FFF2-40B4-BE49-F238E27FC236}">
                <a16:creationId xmlns:a16="http://schemas.microsoft.com/office/drawing/2014/main" id="{EE85EE9A-4D29-47E1-0390-E20FD0A79046}"/>
              </a:ext>
            </a:extLst>
          </p:cNvPr>
          <p:cNvPicPr>
            <a:picLocks noChangeAspect="1"/>
          </p:cNvPicPr>
          <p:nvPr/>
        </p:nvPicPr>
        <p:blipFill>
          <a:blip r:embed="rId2"/>
          <a:stretch>
            <a:fillRect/>
          </a:stretch>
        </p:blipFill>
        <p:spPr>
          <a:xfrm>
            <a:off x="152400" y="2857500"/>
            <a:ext cx="8839200" cy="1268019"/>
          </a:xfrm>
          <a:prstGeom prst="rect">
            <a:avLst/>
          </a:prstGeom>
        </p:spPr>
      </p:pic>
      <p:sp>
        <p:nvSpPr>
          <p:cNvPr id="5" name="object 2">
            <a:extLst>
              <a:ext uri="{FF2B5EF4-FFF2-40B4-BE49-F238E27FC236}">
                <a16:creationId xmlns:a16="http://schemas.microsoft.com/office/drawing/2014/main" id="{5452775A-CAF3-484B-F53B-EBF67A60776A}"/>
              </a:ext>
            </a:extLst>
          </p:cNvPr>
          <p:cNvSpPr/>
          <p:nvPr/>
        </p:nvSpPr>
        <p:spPr>
          <a:xfrm>
            <a:off x="382209" y="6419012"/>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6" name="object 10">
            <a:extLst>
              <a:ext uri="{FF2B5EF4-FFF2-40B4-BE49-F238E27FC236}">
                <a16:creationId xmlns:a16="http://schemas.microsoft.com/office/drawing/2014/main" id="{9AE2308F-E707-6E2D-1EC1-03E8B97ACE15}"/>
              </a:ext>
            </a:extLst>
          </p:cNvPr>
          <p:cNvSpPr txBox="1">
            <a:spLocks/>
          </p:cNvSpPr>
          <p:nvPr/>
        </p:nvSpPr>
        <p:spPr>
          <a:xfrm>
            <a:off x="8338759" y="6628539"/>
            <a:ext cx="232409" cy="196850"/>
          </a:xfrm>
          <a:prstGeom prst="rect">
            <a:avLst/>
          </a:prstGeom>
        </p:spPr>
        <p:txBody>
          <a:bodyPr vert="horz" wrap="square" lIns="0" tIns="0" rIns="0" bIns="0" rtlCol="0">
            <a:spAutoFit/>
          </a:bodyPr>
          <a:lstStyle>
            <a:defPPr>
              <a:defRPr kern="0"/>
            </a:defPPr>
            <a:lvl1pPr>
              <a:defRPr sz="1200" b="0" i="0">
                <a:solidFill>
                  <a:schemeClr val="tx1"/>
                </a:solidFill>
                <a:latin typeface="Garamond"/>
                <a:cs typeface="Garamond"/>
              </a:defRPr>
            </a:lvl1pPr>
          </a:lstStyle>
          <a:p>
            <a:pPr marL="38100">
              <a:lnSpc>
                <a:spcPts val="1375"/>
              </a:lnSpc>
            </a:pPr>
            <a:fld id="{81D60167-4931-47E6-BA6A-407CBD079E47}" type="slidenum">
              <a:rPr lang="en-US" spc="-25" smtClean="0"/>
              <a:pPr marL="38100">
                <a:lnSpc>
                  <a:spcPts val="1375"/>
                </a:lnSpc>
              </a:pPr>
              <a:t>17</a:t>
            </a:fld>
            <a:endParaRPr lang="en-US" spc="-25" dirty="0"/>
          </a:p>
        </p:txBody>
      </p:sp>
      <p:sp>
        <p:nvSpPr>
          <p:cNvPr id="11" name="object 4">
            <a:extLst>
              <a:ext uri="{FF2B5EF4-FFF2-40B4-BE49-F238E27FC236}">
                <a16:creationId xmlns:a16="http://schemas.microsoft.com/office/drawing/2014/main" id="{5EA1E37B-C5E1-CEDB-DACE-D3C9AEF50641}"/>
              </a:ext>
            </a:extLst>
          </p:cNvPr>
          <p:cNvSpPr txBox="1"/>
          <p:nvPr/>
        </p:nvSpPr>
        <p:spPr>
          <a:xfrm>
            <a:off x="-62634" y="4132438"/>
            <a:ext cx="9119286" cy="1489510"/>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Cơ chế Aggregating: Sau khi huấn luyện, dự đoán cuối cùng được đưa ra bằng cách bỏ phiếu đa số (Majority Voting) của 100 cây này.</a:t>
            </a:r>
            <a:endParaRPr lang="en-US" sz="3000" dirty="0">
              <a:latin typeface="Times New Roman"/>
              <a:cs typeface="Times New Roman"/>
            </a:endParaRPr>
          </a:p>
        </p:txBody>
      </p:sp>
      <p:sp>
        <p:nvSpPr>
          <p:cNvPr id="12" name="object 4">
            <a:extLst>
              <a:ext uri="{FF2B5EF4-FFF2-40B4-BE49-F238E27FC236}">
                <a16:creationId xmlns:a16="http://schemas.microsoft.com/office/drawing/2014/main" id="{EDFE2640-5F03-17E0-50AC-49F27DBDAD8D}"/>
              </a:ext>
            </a:extLst>
          </p:cNvPr>
          <p:cNvSpPr txBox="1"/>
          <p:nvPr/>
        </p:nvSpPr>
        <p:spPr>
          <a:xfrm>
            <a:off x="-62634" y="1317112"/>
            <a:ext cx="9119286" cy="1489510"/>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Tham số n_estimators=100 chỉ định xây dựng 100 cây quyết định độc lập. Mỗi cây được huấn luyện trên một tập con dữ liệu ngẫu nhiên (bootstrap sample)</a:t>
            </a:r>
            <a:endParaRPr lang="en-US" sz="3000" dirty="0">
              <a:latin typeface="Times New Roman"/>
              <a:cs typeface="Times New Roman"/>
            </a:endParaRPr>
          </a:p>
        </p:txBody>
      </p:sp>
    </p:spTree>
    <p:extLst>
      <p:ext uri="{BB962C8B-B14F-4D97-AF65-F5344CB8AC3E}">
        <p14:creationId xmlns:p14="http://schemas.microsoft.com/office/powerpoint/2010/main" val="635277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B6EF8-33E5-324C-1D13-D86528F20F5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3E28AA9-2E0B-E44D-5CBA-A1154D707611}"/>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10" name="object 10">
            <a:extLst>
              <a:ext uri="{FF2B5EF4-FFF2-40B4-BE49-F238E27FC236}">
                <a16:creationId xmlns:a16="http://schemas.microsoft.com/office/drawing/2014/main" id="{110D04BC-93F3-CF43-5EA6-0C5E1920E29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18</a:t>
            </a:fld>
            <a:endParaRPr spc="-25" dirty="0"/>
          </a:p>
        </p:txBody>
      </p:sp>
      <p:sp>
        <p:nvSpPr>
          <p:cNvPr id="5" name="object 2">
            <a:extLst>
              <a:ext uri="{FF2B5EF4-FFF2-40B4-BE49-F238E27FC236}">
                <a16:creationId xmlns:a16="http://schemas.microsoft.com/office/drawing/2014/main" id="{0EBA19C9-4308-6CE5-6DDF-0AB298F99760}"/>
              </a:ext>
            </a:extLst>
          </p:cNvPr>
          <p:cNvSpPr/>
          <p:nvPr/>
        </p:nvSpPr>
        <p:spPr>
          <a:xfrm>
            <a:off x="382209" y="6419012"/>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6" name="object 10">
            <a:extLst>
              <a:ext uri="{FF2B5EF4-FFF2-40B4-BE49-F238E27FC236}">
                <a16:creationId xmlns:a16="http://schemas.microsoft.com/office/drawing/2014/main" id="{C896F1C1-C311-EFDE-868F-BA715DE743D7}"/>
              </a:ext>
            </a:extLst>
          </p:cNvPr>
          <p:cNvSpPr txBox="1">
            <a:spLocks/>
          </p:cNvSpPr>
          <p:nvPr/>
        </p:nvSpPr>
        <p:spPr>
          <a:xfrm>
            <a:off x="8338759" y="6628539"/>
            <a:ext cx="232409" cy="196850"/>
          </a:xfrm>
          <a:prstGeom prst="rect">
            <a:avLst/>
          </a:prstGeom>
        </p:spPr>
        <p:txBody>
          <a:bodyPr vert="horz" wrap="square" lIns="0" tIns="0" rIns="0" bIns="0" rtlCol="0">
            <a:spAutoFit/>
          </a:bodyPr>
          <a:lstStyle>
            <a:defPPr>
              <a:defRPr kern="0"/>
            </a:defPPr>
            <a:lvl1pPr>
              <a:defRPr sz="1200" b="0" i="0">
                <a:solidFill>
                  <a:schemeClr val="tx1"/>
                </a:solidFill>
                <a:latin typeface="Garamond"/>
                <a:cs typeface="Garamond"/>
              </a:defRPr>
            </a:lvl1pPr>
          </a:lstStyle>
          <a:p>
            <a:pPr marL="38100">
              <a:lnSpc>
                <a:spcPts val="1375"/>
              </a:lnSpc>
            </a:pPr>
            <a:fld id="{81D60167-4931-47E6-BA6A-407CBD079E47}" type="slidenum">
              <a:rPr lang="en-US" spc="-25" smtClean="0"/>
              <a:pPr marL="38100">
                <a:lnSpc>
                  <a:spcPts val="1375"/>
                </a:lnSpc>
              </a:pPr>
              <a:t>18</a:t>
            </a:fld>
            <a:endParaRPr lang="en-US" spc="-25" dirty="0"/>
          </a:p>
        </p:txBody>
      </p:sp>
      <p:sp>
        <p:nvSpPr>
          <p:cNvPr id="8" name="object 3">
            <a:extLst>
              <a:ext uri="{FF2B5EF4-FFF2-40B4-BE49-F238E27FC236}">
                <a16:creationId xmlns:a16="http://schemas.microsoft.com/office/drawing/2014/main" id="{6013F39A-1E0D-E74B-A854-957F2AC15BD7}"/>
              </a:ext>
            </a:extLst>
          </p:cNvPr>
          <p:cNvSpPr txBox="1">
            <a:spLocks/>
          </p:cNvSpPr>
          <p:nvPr/>
        </p:nvSpPr>
        <p:spPr>
          <a:xfrm>
            <a:off x="355436" y="126766"/>
            <a:ext cx="8608060" cy="1120820"/>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3600" dirty="0"/>
              <a:t>1.5.3	</a:t>
            </a:r>
            <a:r>
              <a:rPr lang="en-US" sz="3600" dirty="0" err="1"/>
              <a:t>Phân</a:t>
            </a:r>
            <a:r>
              <a:rPr lang="en-US" sz="3600" dirty="0"/>
              <a:t> </a:t>
            </a:r>
            <a:r>
              <a:rPr lang="en-US" sz="3600" dirty="0" err="1"/>
              <a:t>tích</a:t>
            </a:r>
            <a:r>
              <a:rPr lang="en-US" sz="3600" dirty="0"/>
              <a:t> OOB Score (Out-of-Bag Score)</a:t>
            </a:r>
            <a:endParaRPr lang="vi-VN" sz="3600" spc="-10" dirty="0"/>
          </a:p>
        </p:txBody>
      </p:sp>
      <p:pic>
        <p:nvPicPr>
          <p:cNvPr id="9" name="Picture 8">
            <a:extLst>
              <a:ext uri="{FF2B5EF4-FFF2-40B4-BE49-F238E27FC236}">
                <a16:creationId xmlns:a16="http://schemas.microsoft.com/office/drawing/2014/main" id="{572BE7F3-76CA-C7CD-D2C4-FABCCAC65AF5}"/>
              </a:ext>
            </a:extLst>
          </p:cNvPr>
          <p:cNvPicPr>
            <a:picLocks noChangeAspect="1"/>
          </p:cNvPicPr>
          <p:nvPr/>
        </p:nvPicPr>
        <p:blipFill>
          <a:blip r:embed="rId2"/>
          <a:stretch>
            <a:fillRect/>
          </a:stretch>
        </p:blipFill>
        <p:spPr>
          <a:xfrm>
            <a:off x="8355" y="2522687"/>
            <a:ext cx="9302221" cy="736147"/>
          </a:xfrm>
          <a:prstGeom prst="rect">
            <a:avLst/>
          </a:prstGeom>
        </p:spPr>
      </p:pic>
      <p:sp>
        <p:nvSpPr>
          <p:cNvPr id="3" name="object 4">
            <a:extLst>
              <a:ext uri="{FF2B5EF4-FFF2-40B4-BE49-F238E27FC236}">
                <a16:creationId xmlns:a16="http://schemas.microsoft.com/office/drawing/2014/main" id="{E7DF1AC6-C1E9-BBB0-DF02-59C7741C330A}"/>
              </a:ext>
            </a:extLst>
          </p:cNvPr>
          <p:cNvSpPr txBox="1"/>
          <p:nvPr/>
        </p:nvSpPr>
        <p:spPr>
          <a:xfrm>
            <a:off x="-155790" y="1367990"/>
            <a:ext cx="9119286" cy="1027845"/>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Đặc tính Độc đáo của Bagging OOB Score là một trong những ưu điểm lớn nhất của Bagging</a:t>
            </a:r>
            <a:endParaRPr lang="en-US" sz="3000" dirty="0">
              <a:latin typeface="Times New Roman"/>
              <a:cs typeface="Times New Roman"/>
            </a:endParaRPr>
          </a:p>
        </p:txBody>
      </p:sp>
      <p:sp>
        <p:nvSpPr>
          <p:cNvPr id="11" name="object 4">
            <a:extLst>
              <a:ext uri="{FF2B5EF4-FFF2-40B4-BE49-F238E27FC236}">
                <a16:creationId xmlns:a16="http://schemas.microsoft.com/office/drawing/2014/main" id="{7C812C47-AE5E-7E00-DBDB-2E10EB57D939}"/>
              </a:ext>
            </a:extLst>
          </p:cNvPr>
          <p:cNvSpPr txBox="1"/>
          <p:nvPr/>
        </p:nvSpPr>
        <p:spPr>
          <a:xfrm>
            <a:off x="-62634" y="3343804"/>
            <a:ext cx="9119286" cy="1489510"/>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OOB Score tính toán độ chính xác bằng cách dự đoán các mẫu OOB bằng cách sử dụng chỉ những cây chưa từng thấy các mẫu đó</a:t>
            </a:r>
            <a:endParaRPr lang="en-US" sz="3000" dirty="0">
              <a:latin typeface="Times New Roman"/>
              <a:cs typeface="Times New Roman"/>
            </a:endParaRPr>
          </a:p>
        </p:txBody>
      </p:sp>
    </p:spTree>
    <p:extLst>
      <p:ext uri="{BB962C8B-B14F-4D97-AF65-F5344CB8AC3E}">
        <p14:creationId xmlns:p14="http://schemas.microsoft.com/office/powerpoint/2010/main" val="663155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8172B-EBD9-979A-4097-1BBB088C444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A80DC9C-8944-DBA0-8501-0D88AE2B14CE}"/>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10" name="object 10">
            <a:extLst>
              <a:ext uri="{FF2B5EF4-FFF2-40B4-BE49-F238E27FC236}">
                <a16:creationId xmlns:a16="http://schemas.microsoft.com/office/drawing/2014/main" id="{2D8D2EE3-45DF-D166-9075-BBCFDD28C86C}"/>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19</a:t>
            </a:fld>
            <a:endParaRPr spc="-25" dirty="0"/>
          </a:p>
        </p:txBody>
      </p:sp>
      <p:sp>
        <p:nvSpPr>
          <p:cNvPr id="7" name="object 3">
            <a:extLst>
              <a:ext uri="{FF2B5EF4-FFF2-40B4-BE49-F238E27FC236}">
                <a16:creationId xmlns:a16="http://schemas.microsoft.com/office/drawing/2014/main" id="{0CD2F568-71B6-4144-5E57-7F9A318DB9ED}"/>
              </a:ext>
            </a:extLst>
          </p:cNvPr>
          <p:cNvSpPr txBox="1">
            <a:spLocks/>
          </p:cNvSpPr>
          <p:nvPr/>
        </p:nvSpPr>
        <p:spPr>
          <a:xfrm>
            <a:off x="574589" y="292117"/>
            <a:ext cx="8608060" cy="566822"/>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vi-VN" sz="3600" dirty="0"/>
              <a:t>1.5.4	Đánh giá	</a:t>
            </a:r>
            <a:endParaRPr lang="vi-VN" sz="3600" spc="-10" dirty="0"/>
          </a:p>
        </p:txBody>
      </p:sp>
      <p:pic>
        <p:nvPicPr>
          <p:cNvPr id="11" name="Picture 10">
            <a:extLst>
              <a:ext uri="{FF2B5EF4-FFF2-40B4-BE49-F238E27FC236}">
                <a16:creationId xmlns:a16="http://schemas.microsoft.com/office/drawing/2014/main" id="{5305300C-0C1F-5FAC-3E4D-393FA4D23E7E}"/>
              </a:ext>
            </a:extLst>
          </p:cNvPr>
          <p:cNvPicPr>
            <a:picLocks noChangeAspect="1"/>
          </p:cNvPicPr>
          <p:nvPr/>
        </p:nvPicPr>
        <p:blipFill>
          <a:blip r:embed="rId2"/>
          <a:stretch>
            <a:fillRect/>
          </a:stretch>
        </p:blipFill>
        <p:spPr>
          <a:xfrm>
            <a:off x="79446" y="1960562"/>
            <a:ext cx="8985108" cy="1295399"/>
          </a:xfrm>
          <a:prstGeom prst="rect">
            <a:avLst/>
          </a:prstGeom>
        </p:spPr>
      </p:pic>
      <p:sp>
        <p:nvSpPr>
          <p:cNvPr id="12" name="object 4">
            <a:extLst>
              <a:ext uri="{FF2B5EF4-FFF2-40B4-BE49-F238E27FC236}">
                <a16:creationId xmlns:a16="http://schemas.microsoft.com/office/drawing/2014/main" id="{9E8E8E17-6E90-A2EE-D56A-809B1312829A}"/>
              </a:ext>
            </a:extLst>
          </p:cNvPr>
          <p:cNvSpPr txBox="1"/>
          <p:nvPr/>
        </p:nvSpPr>
        <p:spPr>
          <a:xfrm>
            <a:off x="-76440" y="884682"/>
            <a:ext cx="9119286" cy="1027845"/>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Mô hình được đánh giá trên tập kiểm tra (X_test) bằng Accuracy và Classification Report chi tiết. </a:t>
            </a:r>
            <a:endParaRPr lang="en-US" sz="3000" dirty="0">
              <a:latin typeface="Times New Roman"/>
              <a:cs typeface="Times New Roman"/>
            </a:endParaRPr>
          </a:p>
        </p:txBody>
      </p:sp>
      <p:sp>
        <p:nvSpPr>
          <p:cNvPr id="13" name="object 4">
            <a:extLst>
              <a:ext uri="{FF2B5EF4-FFF2-40B4-BE49-F238E27FC236}">
                <a16:creationId xmlns:a16="http://schemas.microsoft.com/office/drawing/2014/main" id="{08353406-C416-8A8D-3994-BB2E25BB0544}"/>
              </a:ext>
            </a:extLst>
          </p:cNvPr>
          <p:cNvSpPr txBox="1"/>
          <p:nvPr/>
        </p:nvSpPr>
        <p:spPr>
          <a:xfrm>
            <a:off x="12357" y="3382287"/>
            <a:ext cx="9119286" cy="1951175"/>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Kết quả này (kết hợp với OOB Score) xác nhận rằng mô hình Bagging Ensemble đã đạt được độ chính xác cao hơn và tổng quát hóa tốt hơn so với một Cây Quyết Định đơn lẻ</a:t>
            </a:r>
            <a:endParaRPr lang="en-US" sz="3000" dirty="0">
              <a:latin typeface="Times New Roman"/>
              <a:cs typeface="Times New Roman"/>
            </a:endParaRPr>
          </a:p>
        </p:txBody>
      </p:sp>
    </p:spTree>
    <p:extLst>
      <p:ext uri="{BB962C8B-B14F-4D97-AF65-F5344CB8AC3E}">
        <p14:creationId xmlns:p14="http://schemas.microsoft.com/office/powerpoint/2010/main" val="1662396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BDD75-E26C-6955-3A4A-1EB825510C8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995B448-25C1-AB45-3E5B-EAD6E8E270B6}"/>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3111047C-7D5F-698B-E684-B69212A46E7B}"/>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spc="-10" dirty="0"/>
              <a:t>1.6. </a:t>
            </a:r>
            <a:r>
              <a:rPr lang="en-US" sz="3600" spc="-10" dirty="0" err="1"/>
              <a:t>Ưu</a:t>
            </a:r>
            <a:r>
              <a:rPr lang="en-US" sz="3600" spc="-10" dirty="0"/>
              <a:t> </a:t>
            </a:r>
            <a:r>
              <a:rPr lang="en-US" sz="3600" spc="-10" dirty="0" err="1"/>
              <a:t>điểm</a:t>
            </a:r>
            <a:r>
              <a:rPr lang="en-US" sz="3600" spc="-10" dirty="0"/>
              <a:t> </a:t>
            </a:r>
            <a:r>
              <a:rPr lang="en-US" sz="3600" spc="-10" dirty="0" err="1"/>
              <a:t>và</a:t>
            </a:r>
            <a:r>
              <a:rPr lang="en-US" sz="3600" spc="-10" dirty="0"/>
              <a:t> </a:t>
            </a:r>
            <a:r>
              <a:rPr lang="en-US" sz="3600" spc="-10" dirty="0" err="1"/>
              <a:t>nhược</a:t>
            </a:r>
            <a:r>
              <a:rPr lang="en-US" sz="3600" spc="-10" dirty="0"/>
              <a:t> </a:t>
            </a:r>
            <a:r>
              <a:rPr lang="en-US" sz="3600" spc="-10" dirty="0" err="1"/>
              <a:t>điểm</a:t>
            </a:r>
            <a:r>
              <a:rPr lang="en-US" sz="3600" spc="-10" dirty="0"/>
              <a:t>:</a:t>
            </a:r>
            <a:endParaRPr sz="3600" spc="-10" dirty="0"/>
          </a:p>
        </p:txBody>
      </p:sp>
      <p:sp>
        <p:nvSpPr>
          <p:cNvPr id="10" name="object 10">
            <a:extLst>
              <a:ext uri="{FF2B5EF4-FFF2-40B4-BE49-F238E27FC236}">
                <a16:creationId xmlns:a16="http://schemas.microsoft.com/office/drawing/2014/main" id="{10DC1A0F-BEF7-F942-244D-855CDD34537D}"/>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20</a:t>
            </a:fld>
            <a:endParaRPr spc="-25" dirty="0"/>
          </a:p>
        </p:txBody>
      </p:sp>
      <p:graphicFrame>
        <p:nvGraphicFramePr>
          <p:cNvPr id="4" name="Table 3">
            <a:extLst>
              <a:ext uri="{FF2B5EF4-FFF2-40B4-BE49-F238E27FC236}">
                <a16:creationId xmlns:a16="http://schemas.microsoft.com/office/drawing/2014/main" id="{B6AD95B6-8829-F102-0BE3-D632CD7F9547}"/>
              </a:ext>
            </a:extLst>
          </p:cNvPr>
          <p:cNvGraphicFramePr>
            <a:graphicFrameLocks noGrp="1"/>
          </p:cNvGraphicFramePr>
          <p:nvPr>
            <p:extLst>
              <p:ext uri="{D42A27DB-BD31-4B8C-83A1-F6EECF244321}">
                <p14:modId xmlns:p14="http://schemas.microsoft.com/office/powerpoint/2010/main" val="699897829"/>
              </p:ext>
            </p:extLst>
          </p:nvPr>
        </p:nvGraphicFramePr>
        <p:xfrm>
          <a:off x="304800" y="825498"/>
          <a:ext cx="8458200" cy="3749040"/>
        </p:xfrm>
        <a:graphic>
          <a:graphicData uri="http://schemas.openxmlformats.org/drawingml/2006/table">
            <a:tbl>
              <a:tblPr firstRow="1" bandRow="1">
                <a:tableStyleId>{5C22544A-7EE6-4342-B048-85BDC9FD1C3A}</a:tableStyleId>
              </a:tblPr>
              <a:tblGrid>
                <a:gridCol w="4229100">
                  <a:extLst>
                    <a:ext uri="{9D8B030D-6E8A-4147-A177-3AD203B41FA5}">
                      <a16:colId xmlns:a16="http://schemas.microsoft.com/office/drawing/2014/main" val="1947657257"/>
                    </a:ext>
                  </a:extLst>
                </a:gridCol>
                <a:gridCol w="4229100">
                  <a:extLst>
                    <a:ext uri="{9D8B030D-6E8A-4147-A177-3AD203B41FA5}">
                      <a16:colId xmlns:a16="http://schemas.microsoft.com/office/drawing/2014/main" val="598409046"/>
                    </a:ext>
                  </a:extLst>
                </a:gridCol>
              </a:tblGrid>
              <a:tr h="279402">
                <a:tc>
                  <a:txBody>
                    <a:bodyPr/>
                    <a:lstStyle/>
                    <a:p>
                      <a:r>
                        <a:rPr lang="en-US" dirty="0"/>
                        <a:t>ƯU ĐIỂM</a:t>
                      </a:r>
                    </a:p>
                  </a:txBody>
                  <a:tcPr/>
                </a:tc>
                <a:tc>
                  <a:txBody>
                    <a:bodyPr/>
                    <a:lstStyle/>
                    <a:p>
                      <a:r>
                        <a:rPr lang="en-US" dirty="0"/>
                        <a:t>NHƯỢC ĐIỂM</a:t>
                      </a:r>
                    </a:p>
                  </a:txBody>
                  <a:tcPr/>
                </a:tc>
                <a:extLst>
                  <a:ext uri="{0D108BD9-81ED-4DB2-BD59-A6C34878D82A}">
                    <a16:rowId xmlns:a16="http://schemas.microsoft.com/office/drawing/2014/main" val="427902546"/>
                  </a:ext>
                </a:extLst>
              </a:tr>
              <a:tr h="2006600">
                <a:tc>
                  <a:txBody>
                    <a:bodyPr/>
                    <a:lstStyle/>
                    <a:p>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Giảm</a:t>
                      </a:r>
                      <a:r>
                        <a:rPr lang="en-US" sz="1800" b="1" dirty="0">
                          <a:solidFill>
                            <a:schemeClr val="dk1"/>
                          </a:solidFill>
                          <a:effectLst/>
                          <a:latin typeface="+mn-lt"/>
                          <a:ea typeface="+mn-ea"/>
                          <a:cs typeface="+mn-cs"/>
                        </a:rPr>
                        <a:t> Phương Sai (Variance):</a:t>
                      </a:r>
                      <a:endParaRPr lang="en-US" sz="1800" dirty="0">
                        <a:solidFill>
                          <a:schemeClr val="dk1"/>
                        </a:solidFill>
                        <a:effectLst/>
                        <a:latin typeface="+mn-lt"/>
                        <a:ea typeface="+mn-ea"/>
                        <a:cs typeface="+mn-cs"/>
                      </a:endParaRPr>
                    </a:p>
                    <a:p>
                      <a:r>
                        <a:rPr lang="en-US" sz="1800" i="1" dirty="0">
                          <a:solidFill>
                            <a:schemeClr val="dk1"/>
                          </a:solidFill>
                          <a:effectLst/>
                          <a:latin typeface="+mn-lt"/>
                          <a:ea typeface="+mn-ea"/>
                          <a:cs typeface="+mn-cs"/>
                        </a:rPr>
                        <a:t>Do </a:t>
                      </a:r>
                      <a:r>
                        <a:rPr lang="en-US" sz="1800" i="1" dirty="0" err="1">
                          <a:solidFill>
                            <a:schemeClr val="dk1"/>
                          </a:solidFill>
                          <a:effectLst/>
                          <a:latin typeface="+mn-lt"/>
                          <a:ea typeface="+mn-ea"/>
                          <a:cs typeface="+mn-cs"/>
                        </a:rPr>
                        <a:t>lấy</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trung</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bình</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kết</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quả</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của</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nhiều</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mô</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hình</a:t>
                      </a:r>
                      <a:r>
                        <a:rPr lang="en-US" sz="1800" i="1" dirty="0">
                          <a:solidFill>
                            <a:schemeClr val="dk1"/>
                          </a:solidFill>
                          <a:effectLst/>
                          <a:latin typeface="+mn-lt"/>
                          <a:ea typeface="+mn-ea"/>
                          <a:cs typeface="+mn-cs"/>
                        </a:rPr>
                        <a:t>.</a:t>
                      </a:r>
                      <a:endParaRPr lang="en-US" sz="1800" dirty="0">
                        <a:solidFill>
                          <a:schemeClr val="dk1"/>
                        </a:solidFill>
                        <a:effectLst/>
                        <a:latin typeface="+mn-lt"/>
                        <a:ea typeface="+mn-ea"/>
                        <a:cs typeface="+mn-cs"/>
                      </a:endParaRPr>
                    </a:p>
                    <a:p>
                      <a:r>
                        <a:rPr lang="en-US" sz="1800" b="1" dirty="0">
                          <a:solidFill>
                            <a:schemeClr val="dk1"/>
                          </a:solidFill>
                          <a:effectLst/>
                          <a:latin typeface="+mn-lt"/>
                          <a:ea typeface="+mn-ea"/>
                          <a:cs typeface="+mn-cs"/>
                        </a:rPr>
                        <a:t>- Linh </a:t>
                      </a:r>
                      <a:r>
                        <a:rPr lang="en-US" sz="1800" b="1" dirty="0" err="1">
                          <a:solidFill>
                            <a:schemeClr val="dk1"/>
                          </a:solidFill>
                          <a:effectLst/>
                          <a:latin typeface="+mn-lt"/>
                          <a:ea typeface="+mn-ea"/>
                          <a:cs typeface="+mn-cs"/>
                        </a:rPr>
                        <a:t>Hoạt</a:t>
                      </a:r>
                      <a:r>
                        <a:rPr lang="en-US" sz="1800" b="1" dirty="0">
                          <a:solidFill>
                            <a:schemeClr val="dk1"/>
                          </a:solidFill>
                          <a:effectLst/>
                          <a:latin typeface="+mn-lt"/>
                          <a:ea typeface="+mn-ea"/>
                          <a:cs typeface="+mn-cs"/>
                        </a:rPr>
                        <a:t> (Flexibility):</a:t>
                      </a:r>
                      <a:endParaRPr lang="en-US" sz="1800" dirty="0">
                        <a:solidFill>
                          <a:schemeClr val="dk1"/>
                        </a:solidFill>
                        <a:effectLst/>
                        <a:latin typeface="+mn-lt"/>
                        <a:ea typeface="+mn-ea"/>
                        <a:cs typeface="+mn-cs"/>
                      </a:endParaRPr>
                    </a:p>
                    <a:p>
                      <a:r>
                        <a:rPr lang="en-US" sz="1800" i="1" dirty="0" err="1">
                          <a:solidFill>
                            <a:schemeClr val="dk1"/>
                          </a:solidFill>
                          <a:effectLst/>
                          <a:latin typeface="+mn-lt"/>
                          <a:ea typeface="+mn-ea"/>
                          <a:cs typeface="+mn-cs"/>
                        </a:rPr>
                        <a:t>Áp</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dụng</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cho</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nhiều</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giải</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thuật</a:t>
                      </a:r>
                      <a:r>
                        <a:rPr lang="en-US" sz="1800" i="1" dirty="0">
                          <a:solidFill>
                            <a:schemeClr val="dk1"/>
                          </a:solidFill>
                          <a:effectLst/>
                          <a:latin typeface="+mn-lt"/>
                          <a:ea typeface="+mn-ea"/>
                          <a:cs typeface="+mn-cs"/>
                        </a:rPr>
                        <a:t> (DT, KNN, ...).</a:t>
                      </a:r>
                      <a:endParaRPr lang="en-US" sz="1800" dirty="0">
                        <a:solidFill>
                          <a:schemeClr val="dk1"/>
                        </a:solidFill>
                        <a:effectLst/>
                        <a:latin typeface="+mn-lt"/>
                        <a:ea typeface="+mn-ea"/>
                        <a:cs typeface="+mn-cs"/>
                      </a:endParaRPr>
                    </a:p>
                    <a:p>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Giảm</a:t>
                      </a:r>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Độ</a:t>
                      </a:r>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Nhạy</a:t>
                      </a:r>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với</a:t>
                      </a:r>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Dữ</a:t>
                      </a:r>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liệu</a:t>
                      </a:r>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Nhiễu</a:t>
                      </a:r>
                      <a:r>
                        <a:rPr lang="en-US" sz="1800" b="1" dirty="0">
                          <a:solidFill>
                            <a:schemeClr val="dk1"/>
                          </a:solidFill>
                          <a:effectLst/>
                          <a:latin typeface="+mn-lt"/>
                          <a:ea typeface="+mn-ea"/>
                          <a:cs typeface="+mn-cs"/>
                        </a:rPr>
                        <a:t>:</a:t>
                      </a:r>
                      <a:endParaRPr lang="en-US" sz="1800" dirty="0">
                        <a:solidFill>
                          <a:schemeClr val="dk1"/>
                        </a:solidFill>
                        <a:effectLst/>
                        <a:latin typeface="+mn-lt"/>
                        <a:ea typeface="+mn-ea"/>
                        <a:cs typeface="+mn-cs"/>
                      </a:endParaRPr>
                    </a:p>
                    <a:p>
                      <a:r>
                        <a:rPr lang="en-US" sz="1800" i="1" dirty="0" err="1">
                          <a:solidFill>
                            <a:schemeClr val="dk1"/>
                          </a:solidFill>
                          <a:effectLst/>
                          <a:latin typeface="+mn-lt"/>
                          <a:ea typeface="+mn-ea"/>
                          <a:cs typeface="+mn-cs"/>
                        </a:rPr>
                        <a:t>Khắc</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phục</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được</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điểm</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ngoại</a:t>
                      </a:r>
                      <a:r>
                        <a:rPr lang="en-US" sz="1800" i="1" dirty="0">
                          <a:solidFill>
                            <a:schemeClr val="dk1"/>
                          </a:solidFill>
                          <a:effectLst/>
                          <a:latin typeface="+mn-lt"/>
                          <a:ea typeface="+mn-ea"/>
                          <a:cs typeface="+mn-cs"/>
                        </a:rPr>
                        <a:t> lai (Outliers).</a:t>
                      </a:r>
                      <a:endParaRPr lang="en-US" sz="1800" dirty="0">
                        <a:solidFill>
                          <a:schemeClr val="dk1"/>
                        </a:solidFill>
                        <a:effectLst/>
                        <a:latin typeface="+mn-lt"/>
                        <a:ea typeface="+mn-ea"/>
                        <a:cs typeface="+mn-cs"/>
                      </a:endParaRPr>
                    </a:p>
                    <a:p>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Đánh</a:t>
                      </a:r>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giá</a:t>
                      </a:r>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Nội</a:t>
                      </a:r>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Bộ</a:t>
                      </a:r>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với</a:t>
                      </a:r>
                      <a:r>
                        <a:rPr lang="en-US" sz="1800" b="1" dirty="0">
                          <a:solidFill>
                            <a:schemeClr val="dk1"/>
                          </a:solidFill>
                          <a:effectLst/>
                          <a:latin typeface="+mn-lt"/>
                          <a:ea typeface="+mn-ea"/>
                          <a:cs typeface="+mn-cs"/>
                        </a:rPr>
                        <a:t> OOB:</a:t>
                      </a:r>
                      <a:endParaRPr lang="en-US" sz="1800" dirty="0">
                        <a:solidFill>
                          <a:schemeClr val="dk1"/>
                        </a:solidFill>
                        <a:effectLst/>
                        <a:latin typeface="+mn-lt"/>
                        <a:ea typeface="+mn-ea"/>
                        <a:cs typeface="+mn-cs"/>
                      </a:endParaRPr>
                    </a:p>
                    <a:p>
                      <a:r>
                        <a:rPr lang="en-US" sz="1800" dirty="0">
                          <a:solidFill>
                            <a:schemeClr val="dk1"/>
                          </a:solidFill>
                          <a:effectLst/>
                          <a:latin typeface="+mn-lt"/>
                          <a:ea typeface="+mn-ea"/>
                          <a:cs typeface="+mn-cs"/>
                        </a:rPr>
                        <a:t> </a:t>
                      </a:r>
                      <a:r>
                        <a:rPr lang="en-US" sz="1800" i="1" dirty="0" err="1">
                          <a:solidFill>
                            <a:schemeClr val="dk1"/>
                          </a:solidFill>
                          <a:effectLst/>
                          <a:latin typeface="+mn-lt"/>
                          <a:ea typeface="+mn-ea"/>
                          <a:cs typeface="+mn-cs"/>
                        </a:rPr>
                        <a:t>Tận</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dụng</a:t>
                      </a:r>
                      <a:r>
                        <a:rPr lang="en-US" sz="1800" i="1" dirty="0">
                          <a:solidFill>
                            <a:schemeClr val="dk1"/>
                          </a:solidFill>
                          <a:effectLst/>
                          <a:latin typeface="+mn-lt"/>
                          <a:ea typeface="+mn-ea"/>
                          <a:cs typeface="+mn-cs"/>
                        </a:rPr>
                        <a:t> OOB </a:t>
                      </a:r>
                      <a:r>
                        <a:rPr lang="en-US" sz="1800" i="1" dirty="0" err="1">
                          <a:solidFill>
                            <a:schemeClr val="dk1"/>
                          </a:solidFill>
                          <a:effectLst/>
                          <a:latin typeface="+mn-lt"/>
                          <a:ea typeface="+mn-ea"/>
                          <a:cs typeface="+mn-cs"/>
                        </a:rPr>
                        <a:t>để</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kiểm</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tra</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tránh</a:t>
                      </a:r>
                      <a:r>
                        <a:rPr lang="en-US" sz="1800" i="1" dirty="0">
                          <a:solidFill>
                            <a:schemeClr val="dk1"/>
                          </a:solidFill>
                          <a:effectLst/>
                          <a:latin typeface="+mn-lt"/>
                          <a:ea typeface="+mn-ea"/>
                          <a:cs typeface="+mn-cs"/>
                        </a:rPr>
                        <a:t> Overfitting.</a:t>
                      </a:r>
                      <a:endParaRPr lang="en-US" sz="1800" dirty="0">
                        <a:solidFill>
                          <a:schemeClr val="dk1"/>
                        </a:solidFill>
                        <a:effectLst/>
                        <a:latin typeface="+mn-lt"/>
                        <a:ea typeface="+mn-ea"/>
                        <a:cs typeface="+mn-cs"/>
                      </a:endParaRPr>
                    </a:p>
                    <a:p>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Khả</a:t>
                      </a:r>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năng</a:t>
                      </a:r>
                      <a:r>
                        <a:rPr lang="en-US" sz="1800" b="1" dirty="0">
                          <a:solidFill>
                            <a:schemeClr val="dk1"/>
                          </a:solidFill>
                          <a:effectLst/>
                          <a:latin typeface="+mn-lt"/>
                          <a:ea typeface="+mn-ea"/>
                          <a:cs typeface="+mn-cs"/>
                        </a:rPr>
                        <a:t> </a:t>
                      </a:r>
                      <a:r>
                        <a:rPr lang="en-US" sz="1800" b="1" dirty="0" err="1">
                          <a:solidFill>
                            <a:schemeClr val="dk1"/>
                          </a:solidFill>
                          <a:effectLst/>
                          <a:latin typeface="+mn-lt"/>
                          <a:ea typeface="+mn-ea"/>
                          <a:cs typeface="+mn-cs"/>
                        </a:rPr>
                        <a:t>Chạy</a:t>
                      </a:r>
                      <a:r>
                        <a:rPr lang="en-US" sz="1800" b="1" dirty="0">
                          <a:solidFill>
                            <a:schemeClr val="dk1"/>
                          </a:solidFill>
                          <a:effectLst/>
                          <a:latin typeface="+mn-lt"/>
                          <a:ea typeface="+mn-ea"/>
                          <a:cs typeface="+mn-cs"/>
                        </a:rPr>
                        <a:t> Song </a:t>
                      </a:r>
                      <a:r>
                        <a:rPr lang="en-US" sz="1800" b="1" dirty="0" err="1">
                          <a:solidFill>
                            <a:schemeClr val="dk1"/>
                          </a:solidFill>
                          <a:effectLst/>
                          <a:latin typeface="+mn-lt"/>
                          <a:ea typeface="+mn-ea"/>
                          <a:cs typeface="+mn-cs"/>
                        </a:rPr>
                        <a:t>Song</a:t>
                      </a:r>
                      <a:r>
                        <a:rPr lang="en-US" sz="1800" b="1" dirty="0">
                          <a:solidFill>
                            <a:schemeClr val="dk1"/>
                          </a:solidFill>
                          <a:effectLst/>
                          <a:latin typeface="+mn-lt"/>
                          <a:ea typeface="+mn-ea"/>
                          <a:cs typeface="+mn-cs"/>
                        </a:rPr>
                        <a:t>:</a:t>
                      </a:r>
                    </a:p>
                    <a:p>
                      <a:r>
                        <a:rPr lang="en-US" sz="1800" i="1" dirty="0" err="1">
                          <a:solidFill>
                            <a:schemeClr val="dk1"/>
                          </a:solidFill>
                          <a:effectLst/>
                          <a:latin typeface="+mn-lt"/>
                          <a:ea typeface="+mn-ea"/>
                          <a:cs typeface="+mn-cs"/>
                        </a:rPr>
                        <a:t>Tăng</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tốc</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độ</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huấn</a:t>
                      </a:r>
                      <a:r>
                        <a:rPr lang="en-US" sz="1800" i="1" dirty="0">
                          <a:solidFill>
                            <a:schemeClr val="dk1"/>
                          </a:solidFill>
                          <a:effectLst/>
                          <a:latin typeface="+mn-lt"/>
                          <a:ea typeface="+mn-ea"/>
                          <a:cs typeface="+mn-cs"/>
                        </a:rPr>
                        <a:t> </a:t>
                      </a:r>
                      <a:r>
                        <a:rPr lang="en-US" sz="1800" i="1" dirty="0" err="1">
                          <a:solidFill>
                            <a:schemeClr val="dk1"/>
                          </a:solidFill>
                          <a:effectLst/>
                          <a:latin typeface="+mn-lt"/>
                          <a:ea typeface="+mn-ea"/>
                          <a:cs typeface="+mn-cs"/>
                        </a:rPr>
                        <a:t>luyện</a:t>
                      </a:r>
                      <a:r>
                        <a:rPr lang="en-US" sz="1800" i="1" dirty="0">
                          <a:solidFill>
                            <a:schemeClr val="dk1"/>
                          </a:solidFill>
                          <a:effectLst/>
                          <a:latin typeface="+mn-lt"/>
                          <a:ea typeface="+mn-ea"/>
                          <a:cs typeface="+mn-cs"/>
                        </a:rPr>
                        <a:t> (Parallelization).</a:t>
                      </a:r>
                      <a:endParaRPr lang="en-US" dirty="0"/>
                    </a:p>
                  </a:txBody>
                  <a:tcPr/>
                </a:tc>
                <a:tc>
                  <a:txBody>
                    <a:bodyPr/>
                    <a:lstStyle/>
                    <a:p>
                      <a:r>
                        <a:rPr lang="en-US" b="1" dirty="0"/>
                        <a:t>- </a:t>
                      </a:r>
                      <a:r>
                        <a:rPr lang="en-US" b="1" dirty="0" err="1"/>
                        <a:t>Khó</a:t>
                      </a:r>
                      <a:r>
                        <a:rPr lang="en-US" b="1" dirty="0"/>
                        <a:t> </a:t>
                      </a:r>
                      <a:r>
                        <a:rPr lang="en-US" b="1" dirty="0" err="1"/>
                        <a:t>Giải</a:t>
                      </a:r>
                      <a:r>
                        <a:rPr lang="en-US" b="1" dirty="0"/>
                        <a:t> Thích (Interpretability)</a:t>
                      </a:r>
                    </a:p>
                    <a:p>
                      <a:r>
                        <a:rPr lang="en-US" dirty="0"/>
                        <a:t>Kết </a:t>
                      </a:r>
                      <a:r>
                        <a:rPr lang="en-US" dirty="0" err="1"/>
                        <a:t>quả</a:t>
                      </a:r>
                      <a:r>
                        <a:rPr lang="en-US" dirty="0"/>
                        <a:t> </a:t>
                      </a:r>
                      <a:r>
                        <a:rPr lang="en-US" dirty="0" err="1"/>
                        <a:t>tổng</a:t>
                      </a:r>
                      <a:r>
                        <a:rPr lang="en-US" dirty="0"/>
                        <a:t> </a:t>
                      </a:r>
                      <a:r>
                        <a:rPr lang="en-US" dirty="0" err="1"/>
                        <a:t>hợp</a:t>
                      </a:r>
                      <a:r>
                        <a:rPr lang="en-US" dirty="0"/>
                        <a:t> </a:t>
                      </a:r>
                      <a:r>
                        <a:rPr lang="en-US" dirty="0" err="1"/>
                        <a:t>từ</a:t>
                      </a:r>
                      <a:r>
                        <a:rPr lang="en-US" dirty="0"/>
                        <a:t> </a:t>
                      </a:r>
                      <a:r>
                        <a:rPr lang="en-US" dirty="0" err="1"/>
                        <a:t>nhiều</a:t>
                      </a:r>
                      <a:r>
                        <a:rPr lang="en-US" dirty="0"/>
                        <a:t> </a:t>
                      </a:r>
                      <a:r>
                        <a:rPr lang="en-US" dirty="0" err="1"/>
                        <a:t>mô</a:t>
                      </a:r>
                      <a:r>
                        <a:rPr lang="en-US" dirty="0"/>
                        <a:t> </a:t>
                      </a:r>
                      <a:r>
                        <a:rPr lang="en-US" dirty="0" err="1"/>
                        <a:t>hình</a:t>
                      </a:r>
                      <a:r>
                        <a:rPr lang="en-US" dirty="0"/>
                        <a:t> </a:t>
                      </a:r>
                      <a:r>
                        <a:rPr lang="en-US" dirty="0" err="1"/>
                        <a:t>ngẫu</a:t>
                      </a:r>
                      <a:r>
                        <a:rPr lang="en-US" dirty="0"/>
                        <a:t> </a:t>
                      </a:r>
                      <a:r>
                        <a:rPr lang="en-US" dirty="0" err="1"/>
                        <a:t>nhiên</a:t>
                      </a:r>
                      <a:r>
                        <a:rPr lang="en-US" dirty="0"/>
                        <a:t>.</a:t>
                      </a:r>
                    </a:p>
                    <a:p>
                      <a:r>
                        <a:rPr lang="en-US" b="1" dirty="0"/>
                        <a:t>- </a:t>
                      </a:r>
                      <a:r>
                        <a:rPr lang="en-US" b="1" dirty="0" err="1"/>
                        <a:t>Tốn</a:t>
                      </a:r>
                      <a:r>
                        <a:rPr lang="en-US" b="1" dirty="0"/>
                        <a:t> Tài Nguyên (Costly):</a:t>
                      </a:r>
                    </a:p>
                    <a:p>
                      <a:r>
                        <a:rPr lang="en-US" dirty="0" err="1"/>
                        <a:t>Tốn</a:t>
                      </a:r>
                      <a:r>
                        <a:rPr lang="en-US" dirty="0"/>
                        <a:t> </a:t>
                      </a:r>
                      <a:r>
                        <a:rPr lang="en-US" dirty="0" err="1"/>
                        <a:t>thời</a:t>
                      </a:r>
                      <a:r>
                        <a:rPr lang="en-US" dirty="0"/>
                        <a:t> </a:t>
                      </a:r>
                      <a:r>
                        <a:rPr lang="en-US" dirty="0" err="1"/>
                        <a:t>gian</a:t>
                      </a:r>
                      <a:r>
                        <a:rPr lang="en-US" dirty="0"/>
                        <a:t> </a:t>
                      </a:r>
                      <a:r>
                        <a:rPr lang="en-US" dirty="0" err="1"/>
                        <a:t>và</a:t>
                      </a:r>
                      <a:r>
                        <a:rPr lang="en-US" dirty="0"/>
                        <a:t> </a:t>
                      </a:r>
                      <a:r>
                        <a:rPr lang="en-US" dirty="0" err="1"/>
                        <a:t>bộ</a:t>
                      </a:r>
                      <a:r>
                        <a:rPr lang="en-US" dirty="0"/>
                        <a:t> </a:t>
                      </a:r>
                      <a:r>
                        <a:rPr lang="en-US" dirty="0" err="1"/>
                        <a:t>nhớ</a:t>
                      </a:r>
                      <a:r>
                        <a:rPr lang="en-US" dirty="0"/>
                        <a:t> </a:t>
                      </a:r>
                      <a:r>
                        <a:rPr lang="en-US" dirty="0" err="1"/>
                        <a:t>vì</a:t>
                      </a:r>
                      <a:r>
                        <a:rPr lang="en-US" dirty="0"/>
                        <a:t> </a:t>
                      </a:r>
                      <a:r>
                        <a:rPr lang="en-US" dirty="0" err="1"/>
                        <a:t>phải</a:t>
                      </a:r>
                      <a:r>
                        <a:rPr lang="en-US" dirty="0"/>
                        <a:t> </a:t>
                      </a:r>
                      <a:r>
                        <a:rPr lang="en-US" dirty="0" err="1"/>
                        <a:t>huấn</a:t>
                      </a:r>
                      <a:r>
                        <a:rPr lang="en-US" dirty="0"/>
                        <a:t> </a:t>
                      </a:r>
                      <a:r>
                        <a:rPr lang="en-US" dirty="0" err="1"/>
                        <a:t>luyện</a:t>
                      </a:r>
                      <a:r>
                        <a:rPr lang="en-US" dirty="0"/>
                        <a:t> </a:t>
                      </a:r>
                      <a:r>
                        <a:rPr lang="en-US" dirty="0" err="1"/>
                        <a:t>nhiều</a:t>
                      </a:r>
                      <a:r>
                        <a:rPr lang="en-US" dirty="0"/>
                        <a:t> </a:t>
                      </a:r>
                      <a:r>
                        <a:rPr lang="en-US" dirty="0" err="1"/>
                        <a:t>mô</a:t>
                      </a:r>
                      <a:r>
                        <a:rPr lang="en-US" dirty="0"/>
                        <a:t> </a:t>
                      </a:r>
                      <a:r>
                        <a:rPr lang="en-US" dirty="0" err="1"/>
                        <a:t>hình</a:t>
                      </a:r>
                      <a:r>
                        <a:rPr lang="en-US" dirty="0"/>
                        <a:t>.</a:t>
                      </a:r>
                    </a:p>
                    <a:p>
                      <a:r>
                        <a:rPr lang="en-US" b="1" dirty="0"/>
                        <a:t>- </a:t>
                      </a:r>
                      <a:r>
                        <a:rPr lang="en-US" b="1" dirty="0" err="1"/>
                        <a:t>Ít</a:t>
                      </a:r>
                      <a:r>
                        <a:rPr lang="en-US" b="1" dirty="0"/>
                        <a:t> Hiệu </a:t>
                      </a:r>
                      <a:r>
                        <a:rPr lang="en-US" b="1" dirty="0" err="1"/>
                        <a:t>Quả</a:t>
                      </a:r>
                      <a:r>
                        <a:rPr lang="en-US" b="1" dirty="0"/>
                        <a:t> </a:t>
                      </a:r>
                      <a:r>
                        <a:rPr lang="en-US" b="1" dirty="0" err="1"/>
                        <a:t>với</a:t>
                      </a:r>
                      <a:r>
                        <a:rPr lang="en-US" b="1" dirty="0"/>
                        <a:t> </a:t>
                      </a:r>
                      <a:r>
                        <a:rPr lang="en-US" b="1" dirty="0" err="1"/>
                        <a:t>Mô</a:t>
                      </a:r>
                      <a:r>
                        <a:rPr lang="en-US" b="1" dirty="0"/>
                        <a:t> </a:t>
                      </a:r>
                      <a:r>
                        <a:rPr lang="en-US" b="1" dirty="0" err="1"/>
                        <a:t>hình</a:t>
                      </a:r>
                      <a:r>
                        <a:rPr lang="en-US" b="1" dirty="0"/>
                        <a:t> </a:t>
                      </a:r>
                      <a:r>
                        <a:rPr lang="en-US" b="1" dirty="0" err="1"/>
                        <a:t>Ổn</a:t>
                      </a:r>
                      <a:r>
                        <a:rPr lang="en-US" b="1" dirty="0"/>
                        <a:t> </a:t>
                      </a:r>
                      <a:r>
                        <a:rPr lang="en-US" b="1" dirty="0" err="1"/>
                        <a:t>định</a:t>
                      </a:r>
                      <a:r>
                        <a:rPr lang="en-US" b="1" dirty="0"/>
                        <a:t>:</a:t>
                      </a:r>
                    </a:p>
                    <a:p>
                      <a:r>
                        <a:rPr lang="en-US" dirty="0" err="1"/>
                        <a:t>Không</a:t>
                      </a:r>
                      <a:r>
                        <a:rPr lang="en-US" dirty="0"/>
                        <a:t> </a:t>
                      </a:r>
                      <a:r>
                        <a:rPr lang="en-US" dirty="0" err="1"/>
                        <a:t>cải</a:t>
                      </a:r>
                      <a:r>
                        <a:rPr lang="en-US" dirty="0"/>
                        <a:t> </a:t>
                      </a:r>
                      <a:r>
                        <a:rPr lang="en-US" dirty="0" err="1"/>
                        <a:t>thiện</a:t>
                      </a:r>
                      <a:r>
                        <a:rPr lang="en-US" dirty="0"/>
                        <a:t> </a:t>
                      </a:r>
                      <a:r>
                        <a:rPr lang="en-US" dirty="0" err="1"/>
                        <a:t>nhiều</a:t>
                      </a:r>
                      <a:r>
                        <a:rPr lang="en-US" dirty="0"/>
                        <a:t> </a:t>
                      </a:r>
                      <a:r>
                        <a:rPr lang="en-US" dirty="0" err="1"/>
                        <a:t>cho</a:t>
                      </a:r>
                      <a:r>
                        <a:rPr lang="en-US" dirty="0"/>
                        <a:t> </a:t>
                      </a:r>
                      <a:r>
                        <a:rPr lang="en-US" dirty="0" err="1"/>
                        <a:t>mô</a:t>
                      </a:r>
                      <a:r>
                        <a:rPr lang="en-US" dirty="0"/>
                        <a:t> </a:t>
                      </a:r>
                      <a:r>
                        <a:rPr lang="en-US" dirty="0" err="1"/>
                        <a:t>hình</a:t>
                      </a:r>
                      <a:r>
                        <a:rPr lang="en-US" dirty="0"/>
                        <a:t> </a:t>
                      </a:r>
                      <a:r>
                        <a:rPr lang="en-US" dirty="0" err="1"/>
                        <a:t>vốn</a:t>
                      </a:r>
                      <a:r>
                        <a:rPr lang="en-US" dirty="0"/>
                        <a:t> </a:t>
                      </a:r>
                      <a:r>
                        <a:rPr lang="en-US" dirty="0" err="1"/>
                        <a:t>đã</a:t>
                      </a:r>
                      <a:r>
                        <a:rPr lang="en-US" dirty="0"/>
                        <a:t> </a:t>
                      </a:r>
                      <a:r>
                        <a:rPr lang="en-US" dirty="0" err="1"/>
                        <a:t>ổn</a:t>
                      </a:r>
                      <a:r>
                        <a:rPr lang="en-US" dirty="0"/>
                        <a:t> </a:t>
                      </a:r>
                      <a:r>
                        <a:rPr lang="en-US" dirty="0" err="1"/>
                        <a:t>định</a:t>
                      </a:r>
                      <a:r>
                        <a:rPr lang="en-US" dirty="0"/>
                        <a:t> (VD: </a:t>
                      </a:r>
                      <a:r>
                        <a:rPr lang="en-US" dirty="0" err="1"/>
                        <a:t>Hồi</a:t>
                      </a:r>
                      <a:r>
                        <a:rPr lang="en-US" dirty="0"/>
                        <a:t> </a:t>
                      </a:r>
                      <a:r>
                        <a:rPr lang="en-US" dirty="0" err="1"/>
                        <a:t>quy</a:t>
                      </a:r>
                      <a:r>
                        <a:rPr lang="en-US" dirty="0"/>
                        <a:t> </a:t>
                      </a:r>
                      <a:r>
                        <a:rPr lang="en-US" dirty="0" err="1"/>
                        <a:t>tuyến</a:t>
                      </a:r>
                      <a:r>
                        <a:rPr lang="en-US" dirty="0"/>
                        <a:t> </a:t>
                      </a:r>
                      <a:r>
                        <a:rPr lang="en-US" dirty="0" err="1"/>
                        <a:t>tính</a:t>
                      </a:r>
                      <a:r>
                        <a:rPr lang="en-US" dirty="0"/>
                        <a:t>).</a:t>
                      </a:r>
                    </a:p>
                    <a:p>
                      <a:endParaRPr lang="en-US" dirty="0"/>
                    </a:p>
                  </a:txBody>
                  <a:tcPr/>
                </a:tc>
                <a:extLst>
                  <a:ext uri="{0D108BD9-81ED-4DB2-BD59-A6C34878D82A}">
                    <a16:rowId xmlns:a16="http://schemas.microsoft.com/office/drawing/2014/main" val="4070214061"/>
                  </a:ext>
                </a:extLst>
              </a:tr>
            </a:tbl>
          </a:graphicData>
        </a:graphic>
      </p:graphicFrame>
    </p:spTree>
    <p:extLst>
      <p:ext uri="{BB962C8B-B14F-4D97-AF65-F5344CB8AC3E}">
        <p14:creationId xmlns:p14="http://schemas.microsoft.com/office/powerpoint/2010/main" val="389627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612E9-946A-DE58-E1D8-50D918E45F5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F93DE1F-135F-1D2B-E228-FA287E7D316D}"/>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03C748C6-64C3-5DED-98D7-D0B06B0AF1AB}"/>
              </a:ext>
            </a:extLst>
          </p:cNvPr>
          <p:cNvSpPr txBox="1">
            <a:spLocks noGrp="1"/>
          </p:cNvSpPr>
          <p:nvPr>
            <p:ph type="title"/>
          </p:nvPr>
        </p:nvSpPr>
        <p:spPr>
          <a:xfrm>
            <a:off x="535940" y="295478"/>
            <a:ext cx="8608060" cy="4444807"/>
          </a:xfrm>
          <a:prstGeom prst="rect">
            <a:avLst/>
          </a:prstGeom>
        </p:spPr>
        <p:txBody>
          <a:bodyPr vert="horz" wrap="square" lIns="0" tIns="12700" rIns="0" bIns="0" rtlCol="0">
            <a:spAutoFit/>
          </a:bodyPr>
          <a:lstStyle/>
          <a:p>
            <a:pPr marL="12700">
              <a:lnSpc>
                <a:spcPct val="100000"/>
              </a:lnSpc>
              <a:spcBef>
                <a:spcPts val="100"/>
              </a:spcBef>
            </a:pPr>
            <a:r>
              <a:rPr lang="en-US" sz="3600" dirty="0"/>
              <a:t>2. GIẢI THUẬT RỪNG NGẪU NHIÊN-RANDOM FOREST</a:t>
            </a:r>
            <a:br>
              <a:rPr lang="en-US" sz="3600" dirty="0"/>
            </a:br>
            <a:r>
              <a:rPr lang="en-US" sz="3600" dirty="0"/>
              <a:t>2.1. Decision Tree</a:t>
            </a:r>
            <a:br>
              <a:rPr lang="en-US" sz="3600" dirty="0"/>
            </a:br>
            <a:r>
              <a:rPr lang="en-US" sz="3600" dirty="0"/>
              <a:t>2.2. Random Forest</a:t>
            </a:r>
            <a:br>
              <a:rPr lang="en-US" sz="3600" dirty="0"/>
            </a:br>
            <a:r>
              <a:rPr lang="en-US" sz="3600" dirty="0"/>
              <a:t>2.3. Build Random Forest</a:t>
            </a:r>
            <a:br>
              <a:rPr lang="en-US" sz="3600" dirty="0"/>
            </a:br>
            <a:r>
              <a:rPr lang="en-US" sz="3600" dirty="0"/>
              <a:t>2.4. </a:t>
            </a:r>
            <a:r>
              <a:rPr lang="en-US" sz="3600" dirty="0" err="1"/>
              <a:t>Sử</a:t>
            </a:r>
            <a:r>
              <a:rPr lang="en-US" sz="3600" dirty="0"/>
              <a:t> </a:t>
            </a:r>
            <a:r>
              <a:rPr lang="en-US" sz="3600" dirty="0" err="1"/>
              <a:t>dụng</a:t>
            </a:r>
            <a:r>
              <a:rPr lang="en-US" sz="3600" dirty="0"/>
              <a:t> </a:t>
            </a:r>
            <a:r>
              <a:rPr lang="en-US" sz="3600" dirty="0" err="1"/>
              <a:t>giải</a:t>
            </a:r>
            <a:r>
              <a:rPr lang="en-US" sz="3600" dirty="0"/>
              <a:t> </a:t>
            </a:r>
            <a:r>
              <a:rPr lang="en-US" sz="3600" dirty="0" err="1"/>
              <a:t>thuật</a:t>
            </a:r>
            <a:r>
              <a:rPr lang="en-US" sz="3600" dirty="0"/>
              <a:t> </a:t>
            </a:r>
            <a:r>
              <a:rPr lang="en-US" sz="3600" dirty="0" err="1"/>
              <a:t>randomforest</a:t>
            </a:r>
            <a:br>
              <a:rPr lang="en-US" sz="3600" dirty="0"/>
            </a:br>
            <a:r>
              <a:rPr lang="en-US" sz="3600" dirty="0"/>
              <a:t>2.5. HYPERPARAMETERS</a:t>
            </a:r>
            <a:br>
              <a:rPr lang="en-US" sz="3600" dirty="0"/>
            </a:br>
            <a:r>
              <a:rPr lang="en-US" sz="3600" dirty="0"/>
              <a:t>2.6. </a:t>
            </a:r>
            <a:r>
              <a:rPr lang="en-US" sz="3600" dirty="0" err="1"/>
              <a:t>Ưu</a:t>
            </a:r>
            <a:r>
              <a:rPr lang="en-US" sz="3600" dirty="0"/>
              <a:t>, </a:t>
            </a:r>
            <a:r>
              <a:rPr lang="en-US" sz="3600" dirty="0" err="1"/>
              <a:t>nhước</a:t>
            </a:r>
            <a:r>
              <a:rPr lang="en-US" sz="3600" dirty="0"/>
              <a:t> </a:t>
            </a:r>
            <a:r>
              <a:rPr lang="en-US" sz="3600" dirty="0" err="1"/>
              <a:t>điểm</a:t>
            </a:r>
            <a:endParaRPr sz="3600" spc="-10" dirty="0"/>
          </a:p>
        </p:txBody>
      </p:sp>
      <p:sp>
        <p:nvSpPr>
          <p:cNvPr id="10" name="object 10">
            <a:extLst>
              <a:ext uri="{FF2B5EF4-FFF2-40B4-BE49-F238E27FC236}">
                <a16:creationId xmlns:a16="http://schemas.microsoft.com/office/drawing/2014/main" id="{F1F54A96-32CA-2F58-D3DB-26F849CDC327}"/>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21</a:t>
            </a:fld>
            <a:endParaRPr spc="-25" dirty="0"/>
          </a:p>
        </p:txBody>
      </p:sp>
    </p:spTree>
    <p:extLst>
      <p:ext uri="{BB962C8B-B14F-4D97-AF65-F5344CB8AC3E}">
        <p14:creationId xmlns:p14="http://schemas.microsoft.com/office/powerpoint/2010/main" val="1237331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7387D-8DB9-7C08-0282-2FD2B5CA55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D7393EF-DAF8-DF2A-E8D5-A7A2B19047AB}"/>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56D26E74-8DCC-BB91-23AC-995558C9E6B2}"/>
              </a:ext>
            </a:extLst>
          </p:cNvPr>
          <p:cNvSpPr txBox="1">
            <a:spLocks noGrp="1"/>
          </p:cNvSpPr>
          <p:nvPr>
            <p:ph type="title"/>
          </p:nvPr>
        </p:nvSpPr>
        <p:spPr>
          <a:xfrm>
            <a:off x="535940" y="295478"/>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dirty="0"/>
              <a:t>2. GIẢI THUẬT RỪNG NGẪU NHIÊN-RANDOM FOREST</a:t>
            </a:r>
            <a:endParaRPr sz="3600" spc="-10" dirty="0"/>
          </a:p>
        </p:txBody>
      </p:sp>
      <p:sp>
        <p:nvSpPr>
          <p:cNvPr id="10" name="object 10">
            <a:extLst>
              <a:ext uri="{FF2B5EF4-FFF2-40B4-BE49-F238E27FC236}">
                <a16:creationId xmlns:a16="http://schemas.microsoft.com/office/drawing/2014/main" id="{7B0769C2-207C-8438-30DA-A7631D650AB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22</a:t>
            </a:fld>
            <a:endParaRPr spc="-25" dirty="0"/>
          </a:p>
        </p:txBody>
      </p:sp>
      <p:sp>
        <p:nvSpPr>
          <p:cNvPr id="4" name="object 4">
            <a:extLst>
              <a:ext uri="{FF2B5EF4-FFF2-40B4-BE49-F238E27FC236}">
                <a16:creationId xmlns:a16="http://schemas.microsoft.com/office/drawing/2014/main" id="{C779E9D9-4D89-B8C8-5F4C-FC25961D5A28}"/>
              </a:ext>
            </a:extLst>
          </p:cNvPr>
          <p:cNvSpPr txBox="1"/>
          <p:nvPr/>
        </p:nvSpPr>
        <p:spPr>
          <a:xfrm>
            <a:off x="24714" y="1435863"/>
            <a:ext cx="9119286" cy="2053767"/>
          </a:xfrm>
          <a:prstGeom prst="rect">
            <a:avLst/>
          </a:prstGeom>
        </p:spPr>
        <p:txBody>
          <a:bodyPr vert="horz" wrap="square" lIns="0" tIns="103505" rIns="0" bIns="0" rtlCol="0">
            <a:spAutoFit/>
          </a:bodyPr>
          <a:lstStyle/>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Giải thuật Random Forest là một giải thuật đặc trưng của phương pháp Bangging. </a:t>
            </a:r>
          </a:p>
          <a:p>
            <a:pPr marL="354965" indent="-342265">
              <a:lnSpc>
                <a:spcPct val="100000"/>
              </a:lnSpc>
              <a:spcBef>
                <a:spcPts val="815"/>
              </a:spcBef>
              <a:buClr>
                <a:srgbClr val="CC9900"/>
              </a:buClr>
              <a:buSzPct val="65000"/>
              <a:buFont typeface="Wingdings"/>
              <a:buChar char=""/>
              <a:tabLst>
                <a:tab pos="354965" algn="l"/>
              </a:tabLst>
            </a:pPr>
            <a:r>
              <a:rPr lang="vi-VN" sz="3000" dirty="0">
                <a:latin typeface="Times New Roman"/>
                <a:cs typeface="Times New Roman"/>
              </a:rPr>
              <a:t>Đây là 1 giải thuật dựa trên một giải thuật đơn giản hơn đó là Decision Tree</a:t>
            </a:r>
            <a:endParaRPr lang="en-US" sz="3000" dirty="0">
              <a:latin typeface="Times New Roman"/>
              <a:cs typeface="Times New Roman"/>
            </a:endParaRPr>
          </a:p>
        </p:txBody>
      </p:sp>
    </p:spTree>
    <p:extLst>
      <p:ext uri="{BB962C8B-B14F-4D97-AF65-F5344CB8AC3E}">
        <p14:creationId xmlns:p14="http://schemas.microsoft.com/office/powerpoint/2010/main" val="1042346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2B4A4-90A3-6433-4306-3297AE2F690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74EDBC2-DC3D-0FF2-FF74-1E535AD9A7E7}"/>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D5D42F6B-AB70-601D-E1DB-24006F216D35}"/>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2.1. Decision Tree</a:t>
            </a:r>
            <a:endParaRPr sz="3600" spc="-10" dirty="0"/>
          </a:p>
        </p:txBody>
      </p:sp>
      <p:sp>
        <p:nvSpPr>
          <p:cNvPr id="10" name="object 10">
            <a:extLst>
              <a:ext uri="{FF2B5EF4-FFF2-40B4-BE49-F238E27FC236}">
                <a16:creationId xmlns:a16="http://schemas.microsoft.com/office/drawing/2014/main" id="{B8593E5A-D9B0-968F-AEF4-9C0C48F50F57}"/>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23</a:t>
            </a:fld>
            <a:endParaRPr spc="-25" dirty="0"/>
          </a:p>
        </p:txBody>
      </p:sp>
      <p:sp>
        <p:nvSpPr>
          <p:cNvPr id="4" name="object 4">
            <a:extLst>
              <a:ext uri="{FF2B5EF4-FFF2-40B4-BE49-F238E27FC236}">
                <a16:creationId xmlns:a16="http://schemas.microsoft.com/office/drawing/2014/main" id="{FEB12AF3-6B24-EDD4-3862-C7B51F35CB8A}"/>
              </a:ext>
            </a:extLst>
          </p:cNvPr>
          <p:cNvSpPr txBox="1"/>
          <p:nvPr/>
        </p:nvSpPr>
        <p:spPr>
          <a:xfrm>
            <a:off x="59725" y="877746"/>
            <a:ext cx="9119286" cy="2053767"/>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3000" b="1" dirty="0">
                <a:latin typeface="Times New Roman"/>
                <a:cs typeface="Times New Roman"/>
              </a:rPr>
              <a:t>Định nghĩa: </a:t>
            </a:r>
            <a:r>
              <a:rPr lang="vi-VN" sz="3000" dirty="0">
                <a:latin typeface="Times New Roman"/>
                <a:cs typeface="Times New Roman"/>
              </a:rPr>
              <a:t>Là một giải thuật học có giám sát, sử dụng cấu trúc cây để ra quyết định hoặc dự đoán kết quả.</a:t>
            </a:r>
            <a:endParaRPr lang="en-US" sz="3000" dirty="0">
              <a:latin typeface="Times New Roman"/>
              <a:cs typeface="Times New Roman"/>
            </a:endParaRPr>
          </a:p>
          <a:p>
            <a:pPr marL="354965" indent="-342265" algn="l">
              <a:lnSpc>
                <a:spcPct val="100000"/>
              </a:lnSpc>
              <a:spcBef>
                <a:spcPts val="815"/>
              </a:spcBef>
              <a:buClr>
                <a:srgbClr val="CC9900"/>
              </a:buClr>
              <a:buSzPct val="65000"/>
              <a:buFont typeface="Wingdings"/>
              <a:buChar char=""/>
              <a:tabLst>
                <a:tab pos="354965" algn="l"/>
              </a:tabLst>
            </a:pPr>
            <a:r>
              <a:rPr lang="vi-VN" sz="3000" b="1" dirty="0">
                <a:latin typeface="Times New Roman"/>
                <a:cs typeface="Times New Roman"/>
              </a:rPr>
              <a:t>Đặc điểm: </a:t>
            </a:r>
            <a:r>
              <a:rPr lang="vi-VN" sz="3000" dirty="0">
                <a:latin typeface="Times New Roman"/>
                <a:cs typeface="Times New Roman"/>
              </a:rPr>
              <a:t>Thuật toán trực quan, dễ hiểu và dễ giải thích.</a:t>
            </a:r>
            <a:endParaRPr lang="en-US" sz="3000" dirty="0">
              <a:latin typeface="Times New Roman"/>
              <a:cs typeface="Times New Roman"/>
            </a:endParaRPr>
          </a:p>
        </p:txBody>
      </p:sp>
      <p:pic>
        <p:nvPicPr>
          <p:cNvPr id="7" name="Picture 6">
            <a:extLst>
              <a:ext uri="{FF2B5EF4-FFF2-40B4-BE49-F238E27FC236}">
                <a16:creationId xmlns:a16="http://schemas.microsoft.com/office/drawing/2014/main" id="{C9275CBE-DF83-B0F0-2BDA-DBD051DCDB91}"/>
              </a:ext>
            </a:extLst>
          </p:cNvPr>
          <p:cNvPicPr>
            <a:picLocks noChangeAspect="1"/>
          </p:cNvPicPr>
          <p:nvPr/>
        </p:nvPicPr>
        <p:blipFill>
          <a:blip r:embed="rId2"/>
          <a:stretch>
            <a:fillRect/>
          </a:stretch>
        </p:blipFill>
        <p:spPr>
          <a:xfrm>
            <a:off x="2295268" y="2498136"/>
            <a:ext cx="4648200" cy="3089040"/>
          </a:xfrm>
          <a:prstGeom prst="rect">
            <a:avLst/>
          </a:prstGeom>
        </p:spPr>
      </p:pic>
    </p:spTree>
    <p:extLst>
      <p:ext uri="{BB962C8B-B14F-4D97-AF65-F5344CB8AC3E}">
        <p14:creationId xmlns:p14="http://schemas.microsoft.com/office/powerpoint/2010/main" val="326815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68AA7-0809-A0F4-64EE-C7F9C39B2CB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49B1686-4D95-0399-137E-69C3B74CEBDB}"/>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0FFB75F8-4B8F-7513-5588-BA1682529D91}"/>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2.1. Decision Tree</a:t>
            </a:r>
            <a:endParaRPr sz="3600" spc="-10" dirty="0"/>
          </a:p>
        </p:txBody>
      </p:sp>
      <p:sp>
        <p:nvSpPr>
          <p:cNvPr id="10" name="object 10">
            <a:extLst>
              <a:ext uri="{FF2B5EF4-FFF2-40B4-BE49-F238E27FC236}">
                <a16:creationId xmlns:a16="http://schemas.microsoft.com/office/drawing/2014/main" id="{C1F35A10-09FE-963E-F812-D08382B305D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24</a:t>
            </a:fld>
            <a:endParaRPr spc="-25" dirty="0"/>
          </a:p>
        </p:txBody>
      </p:sp>
      <p:graphicFrame>
        <p:nvGraphicFramePr>
          <p:cNvPr id="5" name="Table 4">
            <a:extLst>
              <a:ext uri="{FF2B5EF4-FFF2-40B4-BE49-F238E27FC236}">
                <a16:creationId xmlns:a16="http://schemas.microsoft.com/office/drawing/2014/main" id="{27C9AB6D-6EB0-57AE-26CD-99A132E3F930}"/>
              </a:ext>
            </a:extLst>
          </p:cNvPr>
          <p:cNvGraphicFramePr>
            <a:graphicFrameLocks noGrp="1"/>
          </p:cNvGraphicFramePr>
          <p:nvPr>
            <p:extLst>
              <p:ext uri="{D42A27DB-BD31-4B8C-83A1-F6EECF244321}">
                <p14:modId xmlns:p14="http://schemas.microsoft.com/office/powerpoint/2010/main" val="3021637729"/>
              </p:ext>
            </p:extLst>
          </p:nvPr>
        </p:nvGraphicFramePr>
        <p:xfrm>
          <a:off x="228600" y="1071826"/>
          <a:ext cx="8686800" cy="2651518"/>
        </p:xfrm>
        <a:graphic>
          <a:graphicData uri="http://schemas.openxmlformats.org/drawingml/2006/table">
            <a:tbl>
              <a:tblPr firstRow="1" bandRow="1">
                <a:tableStyleId>{5C22544A-7EE6-4342-B048-85BDC9FD1C3A}</a:tableStyleId>
              </a:tblPr>
              <a:tblGrid>
                <a:gridCol w="4343400">
                  <a:extLst>
                    <a:ext uri="{9D8B030D-6E8A-4147-A177-3AD203B41FA5}">
                      <a16:colId xmlns:a16="http://schemas.microsoft.com/office/drawing/2014/main" val="2610682172"/>
                    </a:ext>
                  </a:extLst>
                </a:gridCol>
                <a:gridCol w="4343400">
                  <a:extLst>
                    <a:ext uri="{9D8B030D-6E8A-4147-A177-3AD203B41FA5}">
                      <a16:colId xmlns:a16="http://schemas.microsoft.com/office/drawing/2014/main" val="316185897"/>
                    </a:ext>
                  </a:extLst>
                </a:gridCol>
              </a:tblGrid>
              <a:tr h="151781">
                <a:tc>
                  <a:txBody>
                    <a:bodyPr/>
                    <a:lstStyle/>
                    <a:p>
                      <a:pPr algn="ctr"/>
                      <a:r>
                        <a:rPr lang="en-US" dirty="0"/>
                        <a:t>ƯU ĐIỂM</a:t>
                      </a:r>
                    </a:p>
                  </a:txBody>
                  <a:tcPr/>
                </a:tc>
                <a:tc>
                  <a:txBody>
                    <a:bodyPr/>
                    <a:lstStyle/>
                    <a:p>
                      <a:pPr algn="ctr"/>
                      <a:r>
                        <a:rPr lang="en-US" dirty="0"/>
                        <a:t>KHUYẾT ĐIỂM</a:t>
                      </a:r>
                    </a:p>
                  </a:txBody>
                  <a:tcPr/>
                </a:tc>
                <a:extLst>
                  <a:ext uri="{0D108BD9-81ED-4DB2-BD59-A6C34878D82A}">
                    <a16:rowId xmlns:a16="http://schemas.microsoft.com/office/drawing/2014/main" val="1520467294"/>
                  </a:ext>
                </a:extLst>
              </a:tr>
              <a:tr h="1142879">
                <a:tc>
                  <a:txBody>
                    <a:bodyPr/>
                    <a:lstStyle/>
                    <a:p>
                      <a:r>
                        <a:rPr lang="vi-VN" b="1" dirty="0"/>
                        <a:t>Đơn giản:</a:t>
                      </a:r>
                      <a:r>
                        <a:rPr lang="vi-VN" dirty="0"/>
                        <a:t> Dễ xây dựng, dễ sử dụng</a:t>
                      </a:r>
                      <a:endParaRPr lang="en-US" dirty="0"/>
                    </a:p>
                  </a:txBody>
                  <a:tcPr/>
                </a:tc>
                <a:tc>
                  <a:txBody>
                    <a:bodyPr/>
                    <a:lstStyle/>
                    <a:p>
                      <a:r>
                        <a:rPr lang="en-US" b="1" dirty="0" err="1">
                          <a:latin typeface="Arial" panose="020B0604020202020204" pitchFamily="34" charset="0"/>
                          <a:cs typeface="Arial" panose="020B0604020202020204" pitchFamily="34" charset="0"/>
                        </a:rPr>
                        <a:t>Nhạy</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cảm</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với</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dữ</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liệu</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nhạy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cảm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thay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đổi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nhỏ</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huấn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luyện</a:t>
                      </a:r>
                      <a:r>
                        <a:rPr lang="en-US" dirty="0">
                          <a:latin typeface="Arial" panose="020B0604020202020204" pitchFamily="34" charset="0"/>
                          <a:cs typeface="Arial" panose="020B0604020202020204" pitchFamily="34" charset="0"/>
                        </a:rPr>
                        <a:t> (Training Set).</a:t>
                      </a:r>
                    </a:p>
                  </a:txBody>
                  <a:tcPr/>
                </a:tc>
                <a:extLst>
                  <a:ext uri="{0D108BD9-81ED-4DB2-BD59-A6C34878D82A}">
                    <a16:rowId xmlns:a16="http://schemas.microsoft.com/office/drawing/2014/main" val="254250393"/>
                  </a:ext>
                </a:extLst>
              </a:tr>
              <a:tr h="1142879">
                <a:tc>
                  <a:txBody>
                    <a:bodyPr/>
                    <a:lstStyle/>
                    <a:p>
                      <a:r>
                        <a:rPr lang="en-US" b="1" dirty="0" err="1">
                          <a:latin typeface="Arial" panose="020B0604020202020204" pitchFamily="34" charset="0"/>
                          <a:cs typeface="Arial" panose="020B0604020202020204" pitchFamily="34" charset="0"/>
                        </a:rPr>
                        <a:t>Dễ</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giải</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thích</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Logic </a:t>
                      </a:r>
                      <a:r>
                        <a:rPr lang="en-US" dirty="0" err="1">
                          <a:latin typeface="Arial" panose="020B0604020202020204" pitchFamily="34" charset="0"/>
                          <a:cs typeface="Arial" panose="020B0604020202020204" pitchFamily="34" charset="0"/>
                        </a:rPr>
                        <a:t>trực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cần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tạp</a:t>
                      </a:r>
                      <a:r>
                        <a:rPr lang="en-US" dirty="0">
                          <a:latin typeface="Arial" panose="020B0604020202020204" pitchFamily="34" charset="0"/>
                          <a:cs typeface="Arial" panose="020B0604020202020204" pitchFamily="34" charset="0"/>
                        </a:rPr>
                        <a:t>.</a:t>
                      </a:r>
                    </a:p>
                  </a:txBody>
                  <a:tcPr/>
                </a:tc>
                <a:tc>
                  <a:txBody>
                    <a:bodyPr/>
                    <a:lstStyle/>
                    <a:p>
                      <a:r>
                        <a:rPr lang="vi-VN" b="1" dirty="0"/>
                        <a:t>Phương sai lớn (High Variance):</a:t>
                      </a:r>
                      <a:r>
                        <a:rPr lang="vi-VN" dirty="0"/>
                        <a:t> Dễ dẫn đến </a:t>
                      </a:r>
                      <a:r>
                        <a:rPr lang="vi-VN" b="1" dirty="0"/>
                        <a:t>Overfitting</a:t>
                      </a:r>
                      <a:r>
                        <a:rPr lang="vi-VN" dirty="0"/>
                        <a:t> (mô hình học thuộc lòng dữ liệu).</a:t>
                      </a:r>
                      <a:endParaRPr lang="en-US" dirty="0"/>
                    </a:p>
                  </a:txBody>
                  <a:tcPr/>
                </a:tc>
                <a:extLst>
                  <a:ext uri="{0D108BD9-81ED-4DB2-BD59-A6C34878D82A}">
                    <a16:rowId xmlns:a16="http://schemas.microsoft.com/office/drawing/2014/main" val="2387602439"/>
                  </a:ext>
                </a:extLst>
              </a:tr>
            </a:tbl>
          </a:graphicData>
        </a:graphic>
      </p:graphicFrame>
    </p:spTree>
    <p:extLst>
      <p:ext uri="{BB962C8B-B14F-4D97-AF65-F5344CB8AC3E}">
        <p14:creationId xmlns:p14="http://schemas.microsoft.com/office/powerpoint/2010/main" val="32573055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69D3-B9FA-CEA3-F398-8BC4F773647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45BC0C8-94D2-F84F-CEF3-074288ECE92D}"/>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869F4E6F-513E-36F9-3B72-01708DA57B28}"/>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2.2. Random Forest</a:t>
            </a:r>
            <a:endParaRPr sz="3600" spc="-10" dirty="0"/>
          </a:p>
        </p:txBody>
      </p:sp>
      <p:sp>
        <p:nvSpPr>
          <p:cNvPr id="10" name="object 10">
            <a:extLst>
              <a:ext uri="{FF2B5EF4-FFF2-40B4-BE49-F238E27FC236}">
                <a16:creationId xmlns:a16="http://schemas.microsoft.com/office/drawing/2014/main" id="{E8D42C5B-FD53-8C83-0828-5CC5DCBFF067}"/>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25</a:t>
            </a:fld>
            <a:endParaRPr spc="-25" dirty="0"/>
          </a:p>
        </p:txBody>
      </p:sp>
      <p:pic>
        <p:nvPicPr>
          <p:cNvPr id="6" name="Picture 5">
            <a:extLst>
              <a:ext uri="{FF2B5EF4-FFF2-40B4-BE49-F238E27FC236}">
                <a16:creationId xmlns:a16="http://schemas.microsoft.com/office/drawing/2014/main" id="{815E48D1-FF09-2690-229F-5836AB17AEA4}"/>
              </a:ext>
            </a:extLst>
          </p:cNvPr>
          <p:cNvPicPr>
            <a:picLocks noChangeAspect="1"/>
          </p:cNvPicPr>
          <p:nvPr/>
        </p:nvPicPr>
        <p:blipFill>
          <a:blip r:embed="rId2"/>
          <a:stretch>
            <a:fillRect/>
          </a:stretch>
        </p:blipFill>
        <p:spPr>
          <a:xfrm>
            <a:off x="913322" y="1825688"/>
            <a:ext cx="7317356" cy="2437203"/>
          </a:xfrm>
          <a:prstGeom prst="rect">
            <a:avLst/>
          </a:prstGeom>
        </p:spPr>
      </p:pic>
      <p:sp>
        <p:nvSpPr>
          <p:cNvPr id="7" name="object 4">
            <a:extLst>
              <a:ext uri="{FF2B5EF4-FFF2-40B4-BE49-F238E27FC236}">
                <a16:creationId xmlns:a16="http://schemas.microsoft.com/office/drawing/2014/main" id="{65227324-47A7-C1EE-98C0-FE227BD0E1BA}"/>
              </a:ext>
            </a:extLst>
          </p:cNvPr>
          <p:cNvSpPr txBox="1"/>
          <p:nvPr/>
        </p:nvSpPr>
        <p:spPr>
          <a:xfrm>
            <a:off x="24714" y="797843"/>
            <a:ext cx="9119286" cy="1027845"/>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3000" b="1" dirty="0">
                <a:latin typeface="Times New Roman"/>
                <a:cs typeface="Times New Roman"/>
              </a:rPr>
              <a:t>Định nghĩa: </a:t>
            </a:r>
            <a:r>
              <a:rPr lang="vi-VN" sz="3000" dirty="0">
                <a:latin typeface="Times New Roman"/>
                <a:cs typeface="Times New Roman"/>
              </a:rPr>
              <a:t>Random Forest là một kỹ thuật Học Nhóm xây dựng từ nhiều Cây Quyết định (Decision Tree).</a:t>
            </a:r>
            <a:endParaRPr lang="en-US" sz="3000" dirty="0">
              <a:latin typeface="Times New Roman"/>
              <a:cs typeface="Times New Roman"/>
            </a:endParaRPr>
          </a:p>
        </p:txBody>
      </p:sp>
      <p:sp>
        <p:nvSpPr>
          <p:cNvPr id="8" name="object 4">
            <a:extLst>
              <a:ext uri="{FF2B5EF4-FFF2-40B4-BE49-F238E27FC236}">
                <a16:creationId xmlns:a16="http://schemas.microsoft.com/office/drawing/2014/main" id="{B9B40DC7-CB5E-F1A1-540D-465A07390C35}"/>
              </a:ext>
            </a:extLst>
          </p:cNvPr>
          <p:cNvSpPr txBox="1"/>
          <p:nvPr/>
        </p:nvSpPr>
        <p:spPr>
          <a:xfrm>
            <a:off x="280327" y="4172402"/>
            <a:ext cx="9119286" cy="1489510"/>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3000" b="1" dirty="0">
                <a:latin typeface="Times New Roman"/>
                <a:cs typeface="Times New Roman"/>
              </a:rPr>
              <a:t>Ý tưởng: </a:t>
            </a:r>
            <a:r>
              <a:rPr lang="vi-VN" sz="3000" dirty="0">
                <a:latin typeface="Times New Roman"/>
                <a:cs typeface="Times New Roman"/>
              </a:rPr>
              <a:t>Tạo ra nhiều cây khác nhau cùng huấn luyện một bộ dữ liệu, sau đó tổng hợp kết quả của chúng để đưa ra </a:t>
            </a:r>
            <a:r>
              <a:rPr lang="en-US" sz="3000" dirty="0" err="1">
                <a:latin typeface="Times New Roman"/>
                <a:cs typeface="Times New Roman"/>
              </a:rPr>
              <a:t>kết</a:t>
            </a:r>
            <a:r>
              <a:rPr lang="en-US" sz="3000" dirty="0">
                <a:latin typeface="Times New Roman"/>
                <a:cs typeface="Times New Roman"/>
              </a:rPr>
              <a:t> </a:t>
            </a:r>
            <a:r>
              <a:rPr lang="en-US" sz="3000" dirty="0" err="1">
                <a:latin typeface="Times New Roman"/>
                <a:cs typeface="Times New Roman"/>
              </a:rPr>
              <a:t>quả</a:t>
            </a:r>
            <a:r>
              <a:rPr lang="en-US" sz="3000" dirty="0">
                <a:latin typeface="Times New Roman"/>
                <a:cs typeface="Times New Roman"/>
              </a:rPr>
              <a:t> </a:t>
            </a:r>
            <a:r>
              <a:rPr lang="vi-VN" sz="3000" dirty="0">
                <a:latin typeface="Times New Roman"/>
                <a:cs typeface="Times New Roman"/>
              </a:rPr>
              <a:t>cuối cùng.</a:t>
            </a:r>
            <a:endParaRPr lang="en-US" sz="3000" dirty="0">
              <a:latin typeface="Times New Roman"/>
              <a:cs typeface="Times New Roman"/>
            </a:endParaRPr>
          </a:p>
        </p:txBody>
      </p:sp>
    </p:spTree>
    <p:extLst>
      <p:ext uri="{BB962C8B-B14F-4D97-AF65-F5344CB8AC3E}">
        <p14:creationId xmlns:p14="http://schemas.microsoft.com/office/powerpoint/2010/main" val="337186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2DB6F-F044-F1DF-83C5-10FB856F8BF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2C7A85F-D44F-2542-8E8D-C832A758F44D}"/>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F480DE95-0894-D22B-2627-D9E5455A2C01}"/>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2.2. Random Forest</a:t>
            </a:r>
            <a:endParaRPr sz="3600" spc="-10" dirty="0"/>
          </a:p>
        </p:txBody>
      </p:sp>
      <p:sp>
        <p:nvSpPr>
          <p:cNvPr id="10" name="object 10">
            <a:extLst>
              <a:ext uri="{FF2B5EF4-FFF2-40B4-BE49-F238E27FC236}">
                <a16:creationId xmlns:a16="http://schemas.microsoft.com/office/drawing/2014/main" id="{49C5D80B-8128-B09E-D4C3-5020CB3B146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26</a:t>
            </a:fld>
            <a:endParaRPr spc="-25" dirty="0"/>
          </a:p>
        </p:txBody>
      </p:sp>
      <p:sp>
        <p:nvSpPr>
          <p:cNvPr id="7" name="object 4">
            <a:extLst>
              <a:ext uri="{FF2B5EF4-FFF2-40B4-BE49-F238E27FC236}">
                <a16:creationId xmlns:a16="http://schemas.microsoft.com/office/drawing/2014/main" id="{39905100-E7C8-11B0-0396-E6F357697AE0}"/>
              </a:ext>
            </a:extLst>
          </p:cNvPr>
          <p:cNvSpPr txBox="1"/>
          <p:nvPr/>
        </p:nvSpPr>
        <p:spPr>
          <a:xfrm>
            <a:off x="24714" y="797843"/>
            <a:ext cx="9119286" cy="3079689"/>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3000" b="1" dirty="0">
                <a:latin typeface="Times New Roman"/>
                <a:cs typeface="Times New Roman"/>
              </a:rPr>
              <a:t>Tận dụng Bagging</a:t>
            </a:r>
            <a:r>
              <a:rPr lang="vi-VN" sz="3000" dirty="0">
                <a:latin typeface="Times New Roman"/>
                <a:cs typeface="Times New Roman"/>
              </a:rPr>
              <a:t>:Sử dụng Bagging để tạo ra nhiều bộ dữ liệu con đa dạng (Bootstrap Samples).Mỗi cây quyết định được huấn luyện trên một bộ dữ liệu con khác nhau.</a:t>
            </a:r>
            <a:endParaRPr lang="en-US" sz="3000" dirty="0">
              <a:latin typeface="Times New Roman"/>
              <a:cs typeface="Times New Roman"/>
            </a:endParaRPr>
          </a:p>
          <a:p>
            <a:pPr marL="354965" indent="-342265" algn="l">
              <a:lnSpc>
                <a:spcPct val="100000"/>
              </a:lnSpc>
              <a:spcBef>
                <a:spcPts val="815"/>
              </a:spcBef>
              <a:buClr>
                <a:srgbClr val="CC9900"/>
              </a:buClr>
              <a:buSzPct val="65000"/>
              <a:buFont typeface="Wingdings"/>
              <a:buChar char=""/>
              <a:tabLst>
                <a:tab pos="354965" algn="l"/>
              </a:tabLst>
            </a:pPr>
            <a:r>
              <a:rPr lang="en-US" sz="3000" b="1" dirty="0">
                <a:latin typeface="Times New Roman"/>
                <a:cs typeface="Times New Roman"/>
              </a:rPr>
              <a:t>Random Forest = Bagging + Decision Trees</a:t>
            </a:r>
            <a:r>
              <a:rPr lang="vi-VN" sz="3000" dirty="0">
                <a:latin typeface="Times New Roman"/>
                <a:cs typeface="Times New Roman"/>
              </a:rPr>
              <a:t>.</a:t>
            </a:r>
            <a:endParaRPr lang="en-US" sz="3000" dirty="0">
              <a:latin typeface="Times New Roman"/>
              <a:cs typeface="Times New Roman"/>
            </a:endParaRPr>
          </a:p>
          <a:p>
            <a:pPr marL="354965" indent="-342265" algn="l">
              <a:lnSpc>
                <a:spcPct val="100000"/>
              </a:lnSpc>
              <a:spcBef>
                <a:spcPts val="815"/>
              </a:spcBef>
              <a:buClr>
                <a:srgbClr val="CC9900"/>
              </a:buClr>
              <a:buSzPct val="65000"/>
              <a:buFont typeface="Wingdings"/>
              <a:buChar char=""/>
              <a:tabLst>
                <a:tab pos="354965" algn="l"/>
              </a:tabLst>
            </a:pPr>
            <a:r>
              <a:rPr lang="vi-VN" sz="3000" b="1" dirty="0">
                <a:latin typeface="Times New Roman"/>
                <a:cs typeface="Times New Roman"/>
              </a:rPr>
              <a:t>Mục tiêu: </a:t>
            </a:r>
            <a:r>
              <a:rPr lang="vi-VN" sz="3000" dirty="0">
                <a:latin typeface="Times New Roman"/>
                <a:cs typeface="Times New Roman"/>
              </a:rPr>
              <a:t>Tạo ra một mô hình mạnh hơn, ổn định hơn so với một cây quyết định đơn lẻ.</a:t>
            </a:r>
            <a:endParaRPr lang="en-US" sz="3000" dirty="0">
              <a:latin typeface="Times New Roman"/>
              <a:cs typeface="Times New Roman"/>
            </a:endParaRPr>
          </a:p>
        </p:txBody>
      </p:sp>
    </p:spTree>
    <p:extLst>
      <p:ext uri="{BB962C8B-B14F-4D97-AF65-F5344CB8AC3E}">
        <p14:creationId xmlns:p14="http://schemas.microsoft.com/office/powerpoint/2010/main" val="20180887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2DD34-1905-333F-7179-55973CA557F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D4B4C34-F941-6240-487D-3F115F28396E}"/>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55861ECC-8B0E-02DA-8420-CF06FF2E1701}"/>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2.3. Build Random Forest</a:t>
            </a:r>
            <a:endParaRPr sz="3600" spc="-10" dirty="0"/>
          </a:p>
        </p:txBody>
      </p:sp>
      <p:sp>
        <p:nvSpPr>
          <p:cNvPr id="10" name="object 10">
            <a:extLst>
              <a:ext uri="{FF2B5EF4-FFF2-40B4-BE49-F238E27FC236}">
                <a16:creationId xmlns:a16="http://schemas.microsoft.com/office/drawing/2014/main" id="{5097A162-52F2-29CB-2797-6A708E4FAA7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27</a:t>
            </a:fld>
            <a:endParaRPr spc="-25" dirty="0"/>
          </a:p>
        </p:txBody>
      </p:sp>
      <p:sp>
        <p:nvSpPr>
          <p:cNvPr id="7" name="object 4">
            <a:extLst>
              <a:ext uri="{FF2B5EF4-FFF2-40B4-BE49-F238E27FC236}">
                <a16:creationId xmlns:a16="http://schemas.microsoft.com/office/drawing/2014/main" id="{0A5DDE7A-472B-7BC2-AFBF-DD5A018B2B9A}"/>
              </a:ext>
            </a:extLst>
          </p:cNvPr>
          <p:cNvSpPr txBox="1"/>
          <p:nvPr/>
        </p:nvSpPr>
        <p:spPr>
          <a:xfrm>
            <a:off x="24714" y="797843"/>
            <a:ext cx="9119286" cy="3674724"/>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2400" b="1" dirty="0">
                <a:latin typeface="Times New Roman"/>
                <a:cs typeface="Times New Roman"/>
              </a:rPr>
              <a:t>Random Forest </a:t>
            </a:r>
            <a:r>
              <a:rPr lang="vi-VN" sz="2400" dirty="0">
                <a:latin typeface="Times New Roman"/>
                <a:cs typeface="Times New Roman"/>
              </a:rPr>
              <a:t>kết hợp hai cơ chế ngẫu nhiên để tạo ra các cây quyết định đa dạng:</a:t>
            </a:r>
            <a:endParaRPr lang="en-US" sz="2400" dirty="0">
              <a:latin typeface="Times New Roman"/>
              <a:cs typeface="Times New Roman"/>
            </a:endParaRPr>
          </a:p>
          <a:p>
            <a:pPr marL="354965" indent="-342265" algn="l">
              <a:lnSpc>
                <a:spcPct val="100000"/>
              </a:lnSpc>
              <a:spcBef>
                <a:spcPts val="815"/>
              </a:spcBef>
              <a:buClr>
                <a:srgbClr val="CC9900"/>
              </a:buClr>
              <a:buSzPct val="65000"/>
              <a:buFont typeface="Wingdings"/>
              <a:buChar char=""/>
              <a:tabLst>
                <a:tab pos="354965" algn="l"/>
              </a:tabLst>
            </a:pPr>
            <a:r>
              <a:rPr lang="vi-VN" sz="2400" b="1" dirty="0">
                <a:latin typeface="Times New Roman"/>
                <a:cs typeface="Times New Roman"/>
              </a:rPr>
              <a:t>Bước 1: </a:t>
            </a:r>
            <a:r>
              <a:rPr lang="vi-VN" sz="2400" dirty="0">
                <a:latin typeface="Times New Roman"/>
                <a:cs typeface="Times New Roman"/>
              </a:rPr>
              <a:t>Ngẫu Nhiên hóa Dữ Liệu (Bootstraping)</a:t>
            </a:r>
            <a:r>
              <a:rPr lang="en-US" sz="2400" dirty="0">
                <a:latin typeface="Times New Roman"/>
                <a:cs typeface="Times New Roman"/>
              </a:rPr>
              <a:t>:</a:t>
            </a:r>
          </a:p>
          <a:p>
            <a:pPr marL="354965" indent="-342265" algn="l">
              <a:lnSpc>
                <a:spcPct val="100000"/>
              </a:lnSpc>
              <a:spcBef>
                <a:spcPts val="815"/>
              </a:spcBef>
              <a:buClr>
                <a:srgbClr val="CC9900"/>
              </a:buClr>
              <a:buSzPct val="65000"/>
              <a:buFont typeface="Wingdings"/>
              <a:buChar char=""/>
              <a:tabLst>
                <a:tab pos="354965" algn="l"/>
              </a:tabLst>
            </a:pPr>
            <a:r>
              <a:rPr lang="vi-VN" sz="2400" b="1" dirty="0">
                <a:latin typeface="Times New Roman"/>
                <a:cs typeface="Times New Roman"/>
              </a:rPr>
              <a:t>Bước 2: </a:t>
            </a:r>
            <a:r>
              <a:rPr lang="vi-VN" sz="2400" dirty="0">
                <a:latin typeface="Times New Roman"/>
                <a:cs typeface="Times New Roman"/>
              </a:rPr>
              <a:t>Ngẫu Nhiên hóa Đặc Trưng (Feature Randomness)</a:t>
            </a:r>
            <a:endParaRPr lang="en-US" sz="2400" dirty="0">
              <a:latin typeface="Times New Roman"/>
              <a:cs typeface="Times New Roman"/>
            </a:endParaRPr>
          </a:p>
          <a:p>
            <a:pPr marL="12700" algn="l">
              <a:lnSpc>
                <a:spcPct val="100000"/>
              </a:lnSpc>
              <a:spcBef>
                <a:spcPts val="815"/>
              </a:spcBef>
              <a:buClr>
                <a:srgbClr val="CC9900"/>
              </a:buClr>
              <a:buSzPct val="65000"/>
              <a:tabLst>
                <a:tab pos="354965" algn="l"/>
              </a:tabLst>
            </a:pPr>
            <a:endParaRPr lang="en-US" sz="2400" b="1" dirty="0">
              <a:latin typeface="Times New Roman"/>
              <a:cs typeface="Times New Roman"/>
            </a:endParaRPr>
          </a:p>
          <a:p>
            <a:pPr marL="12700" algn="l">
              <a:lnSpc>
                <a:spcPct val="100000"/>
              </a:lnSpc>
              <a:spcBef>
                <a:spcPts val="815"/>
              </a:spcBef>
              <a:buClr>
                <a:srgbClr val="CC9900"/>
              </a:buClr>
              <a:buSzPct val="65000"/>
              <a:tabLst>
                <a:tab pos="354965" algn="l"/>
              </a:tabLst>
            </a:pPr>
            <a:endParaRPr lang="en-US" sz="2400" b="1" dirty="0">
              <a:latin typeface="Times New Roman"/>
              <a:cs typeface="Times New Roman"/>
            </a:endParaRPr>
          </a:p>
          <a:p>
            <a:pPr marL="12700" algn="l">
              <a:lnSpc>
                <a:spcPct val="100000"/>
              </a:lnSpc>
              <a:spcBef>
                <a:spcPts val="815"/>
              </a:spcBef>
              <a:buClr>
                <a:srgbClr val="CC9900"/>
              </a:buClr>
              <a:buSzPct val="65000"/>
              <a:tabLst>
                <a:tab pos="354965" algn="l"/>
              </a:tabLst>
            </a:pPr>
            <a:endParaRPr lang="en-US" sz="2400" b="1" dirty="0">
              <a:latin typeface="Times New Roman"/>
              <a:cs typeface="Times New Roman"/>
            </a:endParaRPr>
          </a:p>
          <a:p>
            <a:pPr marL="12700" algn="l">
              <a:lnSpc>
                <a:spcPct val="100000"/>
              </a:lnSpc>
              <a:spcBef>
                <a:spcPts val="815"/>
              </a:spcBef>
              <a:buClr>
                <a:srgbClr val="CC9900"/>
              </a:buClr>
              <a:buSzPct val="65000"/>
              <a:tabLst>
                <a:tab pos="354965" algn="l"/>
              </a:tabLst>
            </a:pPr>
            <a:endParaRPr lang="en-US" sz="2400" b="1" dirty="0">
              <a:latin typeface="Times New Roman"/>
              <a:cs typeface="Times New Roman"/>
            </a:endParaRPr>
          </a:p>
        </p:txBody>
      </p:sp>
      <p:pic>
        <p:nvPicPr>
          <p:cNvPr id="5" name="Picture 4">
            <a:extLst>
              <a:ext uri="{FF2B5EF4-FFF2-40B4-BE49-F238E27FC236}">
                <a16:creationId xmlns:a16="http://schemas.microsoft.com/office/drawing/2014/main" id="{A961773D-81EB-B0FE-D91E-AD66E4135BD9}"/>
              </a:ext>
            </a:extLst>
          </p:cNvPr>
          <p:cNvPicPr>
            <a:picLocks noChangeAspect="1"/>
          </p:cNvPicPr>
          <p:nvPr/>
        </p:nvPicPr>
        <p:blipFill>
          <a:blip r:embed="rId2"/>
          <a:stretch>
            <a:fillRect/>
          </a:stretch>
        </p:blipFill>
        <p:spPr>
          <a:xfrm>
            <a:off x="1905000" y="2588664"/>
            <a:ext cx="5334000" cy="3126336"/>
          </a:xfrm>
          <a:prstGeom prst="rect">
            <a:avLst/>
          </a:prstGeom>
        </p:spPr>
      </p:pic>
    </p:spTree>
    <p:extLst>
      <p:ext uri="{BB962C8B-B14F-4D97-AF65-F5344CB8AC3E}">
        <p14:creationId xmlns:p14="http://schemas.microsoft.com/office/powerpoint/2010/main" val="4210542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52A33-B3E1-06E3-B229-7BACA369A5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B3149C1-D2AF-A1A8-BFFE-30B81A418853}"/>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88FD8EEF-5A31-6D46-4493-CB451E874659}"/>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2.3. Build Random Forest</a:t>
            </a:r>
            <a:endParaRPr sz="3600" spc="-10" dirty="0"/>
          </a:p>
        </p:txBody>
      </p:sp>
      <p:sp>
        <p:nvSpPr>
          <p:cNvPr id="10" name="object 10">
            <a:extLst>
              <a:ext uri="{FF2B5EF4-FFF2-40B4-BE49-F238E27FC236}">
                <a16:creationId xmlns:a16="http://schemas.microsoft.com/office/drawing/2014/main" id="{048DB45C-B2E7-A899-6E0A-FE1C833C9360}"/>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28</a:t>
            </a:fld>
            <a:endParaRPr spc="-25" dirty="0"/>
          </a:p>
        </p:txBody>
      </p:sp>
      <p:sp>
        <p:nvSpPr>
          <p:cNvPr id="7" name="object 4">
            <a:extLst>
              <a:ext uri="{FF2B5EF4-FFF2-40B4-BE49-F238E27FC236}">
                <a16:creationId xmlns:a16="http://schemas.microsoft.com/office/drawing/2014/main" id="{1C2FFD13-30E9-3A2C-E8B6-0E1521F65908}"/>
              </a:ext>
            </a:extLst>
          </p:cNvPr>
          <p:cNvSpPr txBox="1"/>
          <p:nvPr/>
        </p:nvSpPr>
        <p:spPr>
          <a:xfrm>
            <a:off x="24714" y="797843"/>
            <a:ext cx="9119286" cy="473848"/>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2400" b="1" dirty="0">
                <a:latin typeface="Times New Roman"/>
                <a:cs typeface="Times New Roman"/>
              </a:rPr>
              <a:t>Kết Quả và Dự Đoán</a:t>
            </a:r>
            <a:endParaRPr lang="en-US" sz="2400" b="1" dirty="0">
              <a:latin typeface="Times New Roman"/>
              <a:cs typeface="Times New Roman"/>
            </a:endParaRPr>
          </a:p>
        </p:txBody>
      </p:sp>
      <p:pic>
        <p:nvPicPr>
          <p:cNvPr id="6" name="Picture 5">
            <a:extLst>
              <a:ext uri="{FF2B5EF4-FFF2-40B4-BE49-F238E27FC236}">
                <a16:creationId xmlns:a16="http://schemas.microsoft.com/office/drawing/2014/main" id="{7611214D-0568-BB6B-58C5-4F2796AC6482}"/>
              </a:ext>
            </a:extLst>
          </p:cNvPr>
          <p:cNvPicPr>
            <a:picLocks noChangeAspect="1"/>
          </p:cNvPicPr>
          <p:nvPr/>
        </p:nvPicPr>
        <p:blipFill>
          <a:blip r:embed="rId2"/>
          <a:stretch>
            <a:fillRect/>
          </a:stretch>
        </p:blipFill>
        <p:spPr>
          <a:xfrm>
            <a:off x="2435821" y="1364665"/>
            <a:ext cx="4272357" cy="3998569"/>
          </a:xfrm>
          <a:prstGeom prst="rect">
            <a:avLst/>
          </a:prstGeom>
        </p:spPr>
      </p:pic>
    </p:spTree>
    <p:extLst>
      <p:ext uri="{BB962C8B-B14F-4D97-AF65-F5344CB8AC3E}">
        <p14:creationId xmlns:p14="http://schemas.microsoft.com/office/powerpoint/2010/main" val="29504330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5FE60-C0DE-4FE9-5735-788CCCD869A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4436173-5EE7-E2DE-2853-8B4775549F4D}"/>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11C1B166-7FA4-B93E-CEBA-217175C610BC}"/>
              </a:ext>
            </a:extLst>
          </p:cNvPr>
          <p:cNvSpPr txBox="1">
            <a:spLocks noGrp="1"/>
          </p:cNvSpPr>
          <p:nvPr>
            <p:ph type="title"/>
          </p:nvPr>
        </p:nvSpPr>
        <p:spPr>
          <a:xfrm>
            <a:off x="535940" y="295478"/>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dirty="0"/>
              <a:t>2.4. </a:t>
            </a:r>
            <a:r>
              <a:rPr lang="en-US" sz="3600" dirty="0" err="1"/>
              <a:t>Sử</a:t>
            </a:r>
            <a:r>
              <a:rPr lang="en-US" sz="3600" dirty="0"/>
              <a:t> </a:t>
            </a:r>
            <a:r>
              <a:rPr lang="en-US" sz="3600" dirty="0" err="1"/>
              <a:t>dụng</a:t>
            </a:r>
            <a:r>
              <a:rPr lang="en-US" sz="3600" dirty="0"/>
              <a:t> </a:t>
            </a:r>
            <a:r>
              <a:rPr lang="en-US" sz="3600" dirty="0" err="1"/>
              <a:t>giải</a:t>
            </a:r>
            <a:r>
              <a:rPr lang="en-US" sz="3600" dirty="0"/>
              <a:t> </a:t>
            </a:r>
            <a:r>
              <a:rPr lang="en-US" sz="3600" dirty="0" err="1"/>
              <a:t>thuật</a:t>
            </a:r>
            <a:r>
              <a:rPr lang="en-US" sz="3600" dirty="0"/>
              <a:t> </a:t>
            </a:r>
            <a:r>
              <a:rPr lang="en-US" sz="3600" dirty="0" err="1"/>
              <a:t>randomforest</a:t>
            </a:r>
            <a:br>
              <a:rPr lang="en-US" sz="3600" dirty="0"/>
            </a:br>
            <a:r>
              <a:rPr lang="en-US" sz="3600" dirty="0"/>
              <a:t>2.4.1	</a:t>
            </a:r>
            <a:r>
              <a:rPr lang="en-US" sz="3600" dirty="0" err="1"/>
              <a:t>Chuẩn</a:t>
            </a:r>
            <a:r>
              <a:rPr lang="en-US" sz="3600" dirty="0"/>
              <a:t> </a:t>
            </a:r>
            <a:r>
              <a:rPr lang="en-US" sz="3600" dirty="0" err="1"/>
              <a:t>bị</a:t>
            </a:r>
            <a:r>
              <a:rPr lang="en-US" sz="3600" dirty="0"/>
              <a:t> </a:t>
            </a:r>
            <a:r>
              <a:rPr lang="en-US" sz="3600" dirty="0" err="1"/>
              <a:t>dữ</a:t>
            </a:r>
            <a:r>
              <a:rPr lang="en-US" sz="3600" dirty="0"/>
              <a:t> </a:t>
            </a:r>
            <a:r>
              <a:rPr lang="en-US" sz="3600" dirty="0" err="1"/>
              <a:t>liệu</a:t>
            </a:r>
            <a:r>
              <a:rPr lang="en-US" sz="3600" dirty="0"/>
              <a:t> </a:t>
            </a:r>
            <a:r>
              <a:rPr lang="en-US" sz="3600" dirty="0" err="1"/>
              <a:t>và</a:t>
            </a:r>
            <a:r>
              <a:rPr lang="en-US" sz="3600" dirty="0"/>
              <a:t> </a:t>
            </a:r>
            <a:r>
              <a:rPr lang="en-US" sz="3600" dirty="0" err="1"/>
              <a:t>phân</a:t>
            </a:r>
            <a:r>
              <a:rPr lang="en-US" sz="3600" dirty="0"/>
              <a:t> chia</a:t>
            </a:r>
            <a:endParaRPr sz="3600" spc="-10" dirty="0"/>
          </a:p>
        </p:txBody>
      </p:sp>
      <p:sp>
        <p:nvSpPr>
          <p:cNvPr id="10" name="object 10">
            <a:extLst>
              <a:ext uri="{FF2B5EF4-FFF2-40B4-BE49-F238E27FC236}">
                <a16:creationId xmlns:a16="http://schemas.microsoft.com/office/drawing/2014/main" id="{717E9B39-58D3-B61F-E84E-7AF8D53A05A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29</a:t>
            </a:fld>
            <a:endParaRPr spc="-25" dirty="0"/>
          </a:p>
        </p:txBody>
      </p:sp>
      <p:pic>
        <p:nvPicPr>
          <p:cNvPr id="6" name="Picture 5">
            <a:extLst>
              <a:ext uri="{FF2B5EF4-FFF2-40B4-BE49-F238E27FC236}">
                <a16:creationId xmlns:a16="http://schemas.microsoft.com/office/drawing/2014/main" id="{706E70A1-3220-EE87-6D0B-597629A9D742}"/>
              </a:ext>
            </a:extLst>
          </p:cNvPr>
          <p:cNvPicPr>
            <a:picLocks noChangeAspect="1"/>
          </p:cNvPicPr>
          <p:nvPr/>
        </p:nvPicPr>
        <p:blipFill>
          <a:blip r:embed="rId2"/>
          <a:stretch>
            <a:fillRect/>
          </a:stretch>
        </p:blipFill>
        <p:spPr>
          <a:xfrm>
            <a:off x="238934" y="2408625"/>
            <a:ext cx="8666132" cy="2285999"/>
          </a:xfrm>
          <a:prstGeom prst="rect">
            <a:avLst/>
          </a:prstGeom>
        </p:spPr>
      </p:pic>
      <p:sp>
        <p:nvSpPr>
          <p:cNvPr id="8" name="object 4">
            <a:extLst>
              <a:ext uri="{FF2B5EF4-FFF2-40B4-BE49-F238E27FC236}">
                <a16:creationId xmlns:a16="http://schemas.microsoft.com/office/drawing/2014/main" id="{A75AC068-3000-C0E1-0C61-A0FADCCE61DC}"/>
              </a:ext>
            </a:extLst>
          </p:cNvPr>
          <p:cNvSpPr txBox="1"/>
          <p:nvPr/>
        </p:nvSpPr>
        <p:spPr>
          <a:xfrm>
            <a:off x="47368" y="1689528"/>
            <a:ext cx="9119286" cy="473848"/>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2400" dirty="0">
                <a:latin typeface="Times New Roman"/>
                <a:cs typeface="Times New Roman"/>
              </a:rPr>
              <a:t>Chia dữ liệu gốc thành tập huấn luyện (80%) và tập Kiểm tra (20%). </a:t>
            </a:r>
            <a:endParaRPr lang="en-US" sz="2400" dirty="0">
              <a:latin typeface="Times New Roman"/>
              <a:cs typeface="Times New Roman"/>
            </a:endParaRPr>
          </a:p>
        </p:txBody>
      </p:sp>
    </p:spTree>
    <p:extLst>
      <p:ext uri="{BB962C8B-B14F-4D97-AF65-F5344CB8AC3E}">
        <p14:creationId xmlns:p14="http://schemas.microsoft.com/office/powerpoint/2010/main" val="27330333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682D4-EC9E-48C9-DDE7-4866C90C23B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9407FA6-D45A-30FE-4E8E-9FB6F9A0E686}"/>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4D378C71-264D-CFA7-D45C-67797DC2ED43}"/>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2.4.2	</a:t>
            </a:r>
            <a:r>
              <a:rPr lang="en-US" sz="3600" dirty="0" err="1"/>
              <a:t>Khởi</a:t>
            </a:r>
            <a:r>
              <a:rPr lang="en-US" sz="3600" dirty="0"/>
              <a:t> </a:t>
            </a:r>
            <a:r>
              <a:rPr lang="en-US" sz="3600" dirty="0" err="1"/>
              <a:t>tạo</a:t>
            </a:r>
            <a:r>
              <a:rPr lang="en-US" sz="3600" dirty="0"/>
              <a:t> </a:t>
            </a:r>
            <a:r>
              <a:rPr lang="en-US" sz="3600" dirty="0" err="1"/>
              <a:t>và</a:t>
            </a:r>
            <a:r>
              <a:rPr lang="en-US" sz="3600" dirty="0"/>
              <a:t> </a:t>
            </a:r>
            <a:r>
              <a:rPr lang="en-US" sz="3600" dirty="0" err="1"/>
              <a:t>huấn</a:t>
            </a:r>
            <a:r>
              <a:rPr lang="en-US" sz="3600" dirty="0"/>
              <a:t> </a:t>
            </a:r>
            <a:r>
              <a:rPr lang="en-US" sz="3600" dirty="0" err="1"/>
              <a:t>luyện</a:t>
            </a:r>
            <a:r>
              <a:rPr lang="en-US" sz="3600" dirty="0"/>
              <a:t> </a:t>
            </a:r>
            <a:r>
              <a:rPr lang="en-US" sz="3600" dirty="0" err="1"/>
              <a:t>mô</a:t>
            </a:r>
            <a:r>
              <a:rPr lang="en-US" sz="3600" dirty="0"/>
              <a:t> </a:t>
            </a:r>
            <a:r>
              <a:rPr lang="en-US" sz="3600" dirty="0" err="1"/>
              <a:t>hình</a:t>
            </a:r>
            <a:endParaRPr sz="3600" spc="-10" dirty="0"/>
          </a:p>
        </p:txBody>
      </p:sp>
      <p:sp>
        <p:nvSpPr>
          <p:cNvPr id="10" name="object 10">
            <a:extLst>
              <a:ext uri="{FF2B5EF4-FFF2-40B4-BE49-F238E27FC236}">
                <a16:creationId xmlns:a16="http://schemas.microsoft.com/office/drawing/2014/main" id="{A61C177B-0908-3243-86BD-569B13A99F1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30</a:t>
            </a:fld>
            <a:endParaRPr spc="-25" dirty="0"/>
          </a:p>
        </p:txBody>
      </p:sp>
      <p:pic>
        <p:nvPicPr>
          <p:cNvPr id="5" name="Picture 4">
            <a:extLst>
              <a:ext uri="{FF2B5EF4-FFF2-40B4-BE49-F238E27FC236}">
                <a16:creationId xmlns:a16="http://schemas.microsoft.com/office/drawing/2014/main" id="{9E48D704-E145-0589-D934-8F954027120E}"/>
              </a:ext>
            </a:extLst>
          </p:cNvPr>
          <p:cNvPicPr>
            <a:picLocks noChangeAspect="1"/>
          </p:cNvPicPr>
          <p:nvPr/>
        </p:nvPicPr>
        <p:blipFill>
          <a:blip r:embed="rId2"/>
          <a:stretch>
            <a:fillRect/>
          </a:stretch>
        </p:blipFill>
        <p:spPr>
          <a:xfrm>
            <a:off x="118424" y="1932028"/>
            <a:ext cx="8898914" cy="2210824"/>
          </a:xfrm>
          <a:prstGeom prst="rect">
            <a:avLst/>
          </a:prstGeom>
        </p:spPr>
      </p:pic>
      <p:sp>
        <p:nvSpPr>
          <p:cNvPr id="7" name="object 4">
            <a:extLst>
              <a:ext uri="{FF2B5EF4-FFF2-40B4-BE49-F238E27FC236}">
                <a16:creationId xmlns:a16="http://schemas.microsoft.com/office/drawing/2014/main" id="{61D26E91-796B-2452-7785-8C031CC560A2}"/>
              </a:ext>
            </a:extLst>
          </p:cNvPr>
          <p:cNvSpPr txBox="1"/>
          <p:nvPr/>
        </p:nvSpPr>
        <p:spPr>
          <a:xfrm>
            <a:off x="8238" y="976029"/>
            <a:ext cx="9119286" cy="843180"/>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2400" dirty="0">
                <a:latin typeface="Times New Roman"/>
                <a:cs typeface="Times New Roman"/>
              </a:rPr>
              <a:t>Đây là một mô hình Ensemble hoạt động bằng cách xây dựng nhiều Cây Quyết Định </a:t>
            </a:r>
            <a:endParaRPr lang="en-US" sz="2400" dirty="0">
              <a:latin typeface="Times New Roman"/>
              <a:cs typeface="Times New Roman"/>
            </a:endParaRPr>
          </a:p>
        </p:txBody>
      </p:sp>
      <p:sp>
        <p:nvSpPr>
          <p:cNvPr id="8" name="object 4">
            <a:extLst>
              <a:ext uri="{FF2B5EF4-FFF2-40B4-BE49-F238E27FC236}">
                <a16:creationId xmlns:a16="http://schemas.microsoft.com/office/drawing/2014/main" id="{E3AA883B-81F5-ACA1-9A9B-2F0902AD307C}"/>
              </a:ext>
            </a:extLst>
          </p:cNvPr>
          <p:cNvSpPr txBox="1"/>
          <p:nvPr/>
        </p:nvSpPr>
        <p:spPr>
          <a:xfrm>
            <a:off x="41190" y="4225809"/>
            <a:ext cx="9119286" cy="1212511"/>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2400" dirty="0">
                <a:latin typeface="Times New Roman"/>
                <a:cs typeface="Times New Roman"/>
              </a:rPr>
              <a:t>Đây là một đặc tính của kỹ thuật Bagging, cho phép đánh giá hiệu suất của mô hình tổng thể trên các mẫu dữ liệu chưa từng được nhìn thấy, cung cấp một ước tính lỗi nội tại và không thiên vị</a:t>
            </a:r>
            <a:endParaRPr lang="en-US" sz="2400" dirty="0">
              <a:latin typeface="Times New Roman"/>
              <a:cs typeface="Times New Roman"/>
            </a:endParaRPr>
          </a:p>
        </p:txBody>
      </p:sp>
    </p:spTree>
    <p:extLst>
      <p:ext uri="{BB962C8B-B14F-4D97-AF65-F5344CB8AC3E}">
        <p14:creationId xmlns:p14="http://schemas.microsoft.com/office/powerpoint/2010/main" val="8881034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6D6AA-66BE-C62F-B9C1-2E5326339CD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6123256-B636-CB2E-0902-87887BFB29F7}"/>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805D7015-F962-60F9-DFCD-9E513D1D7C9D}"/>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2.4.3	</a:t>
            </a:r>
            <a:r>
              <a:rPr lang="en-US" sz="3600" dirty="0" err="1"/>
              <a:t>Đánh</a:t>
            </a:r>
            <a:r>
              <a:rPr lang="en-US" sz="3600" dirty="0"/>
              <a:t> </a:t>
            </a:r>
            <a:r>
              <a:rPr lang="en-US" sz="3600" dirty="0" err="1"/>
              <a:t>giá</a:t>
            </a:r>
            <a:r>
              <a:rPr lang="en-US" sz="3600" dirty="0"/>
              <a:t> </a:t>
            </a:r>
            <a:r>
              <a:rPr lang="en-US" sz="3600" dirty="0" err="1"/>
              <a:t>hiệu</a:t>
            </a:r>
            <a:r>
              <a:rPr lang="en-US" sz="3600" dirty="0"/>
              <a:t> </a:t>
            </a:r>
            <a:r>
              <a:rPr lang="en-US" sz="3600" dirty="0" err="1"/>
              <a:t>suất</a:t>
            </a:r>
            <a:r>
              <a:rPr lang="en-US" sz="3600" dirty="0"/>
              <a:t>	</a:t>
            </a:r>
            <a:endParaRPr sz="3600" spc="-10" dirty="0"/>
          </a:p>
        </p:txBody>
      </p:sp>
      <p:sp>
        <p:nvSpPr>
          <p:cNvPr id="10" name="object 10">
            <a:extLst>
              <a:ext uri="{FF2B5EF4-FFF2-40B4-BE49-F238E27FC236}">
                <a16:creationId xmlns:a16="http://schemas.microsoft.com/office/drawing/2014/main" id="{A25767E9-C454-BBBC-E7C8-F6DE5424F5E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31</a:t>
            </a:fld>
            <a:endParaRPr spc="-25" dirty="0"/>
          </a:p>
        </p:txBody>
      </p:sp>
      <p:pic>
        <p:nvPicPr>
          <p:cNvPr id="5" name="Picture 4">
            <a:extLst>
              <a:ext uri="{FF2B5EF4-FFF2-40B4-BE49-F238E27FC236}">
                <a16:creationId xmlns:a16="http://schemas.microsoft.com/office/drawing/2014/main" id="{F5ACAA17-382F-CD49-FF21-E9708F9E6C08}"/>
              </a:ext>
            </a:extLst>
          </p:cNvPr>
          <p:cNvPicPr>
            <a:picLocks noChangeAspect="1"/>
          </p:cNvPicPr>
          <p:nvPr/>
        </p:nvPicPr>
        <p:blipFill>
          <a:blip r:embed="rId2"/>
          <a:stretch>
            <a:fillRect/>
          </a:stretch>
        </p:blipFill>
        <p:spPr>
          <a:xfrm>
            <a:off x="93189" y="2416578"/>
            <a:ext cx="9171285" cy="914399"/>
          </a:xfrm>
          <a:prstGeom prst="rect">
            <a:avLst/>
          </a:prstGeom>
        </p:spPr>
      </p:pic>
      <p:sp>
        <p:nvSpPr>
          <p:cNvPr id="6" name="object 4">
            <a:extLst>
              <a:ext uri="{FF2B5EF4-FFF2-40B4-BE49-F238E27FC236}">
                <a16:creationId xmlns:a16="http://schemas.microsoft.com/office/drawing/2014/main" id="{056CC351-40CB-1D99-3432-099E0800AA2D}"/>
              </a:ext>
            </a:extLst>
          </p:cNvPr>
          <p:cNvSpPr txBox="1"/>
          <p:nvPr/>
        </p:nvSpPr>
        <p:spPr>
          <a:xfrm>
            <a:off x="8238" y="976029"/>
            <a:ext cx="9119286" cy="1212511"/>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2400" dirty="0">
                <a:latin typeface="Times New Roman"/>
                <a:cs typeface="Times New Roman"/>
              </a:rPr>
              <a:t>So sánh OOB Accuracy và Test Accuracy là cách nhanh nhất để kiểm tra mô hình có bị quá khớp (overfitting) hay không</a:t>
            </a:r>
            <a:r>
              <a:rPr lang="en-US" sz="2400" dirty="0">
                <a:latin typeface="Times New Roman"/>
                <a:cs typeface="Times New Roman"/>
              </a:rPr>
              <a:t>. . </a:t>
            </a:r>
            <a:r>
              <a:rPr lang="en-US" sz="2400" dirty="0" err="1">
                <a:latin typeface="Times New Roman"/>
                <a:cs typeface="Times New Roman"/>
              </a:rPr>
              <a:t>Nếu</a:t>
            </a:r>
            <a:r>
              <a:rPr lang="en-US" sz="2400" dirty="0">
                <a:latin typeface="Times New Roman"/>
                <a:cs typeface="Times New Roman"/>
              </a:rPr>
              <a:t> </a:t>
            </a:r>
            <a:r>
              <a:rPr lang="en-US" sz="2400" dirty="0" err="1">
                <a:latin typeface="Times New Roman"/>
                <a:cs typeface="Times New Roman"/>
              </a:rPr>
              <a:t>hai</a:t>
            </a:r>
            <a:r>
              <a:rPr lang="en-US" sz="2400" dirty="0">
                <a:latin typeface="Times New Roman"/>
                <a:cs typeface="Times New Roman"/>
              </a:rPr>
              <a:t> </a:t>
            </a:r>
            <a:r>
              <a:rPr lang="en-US" sz="2400" dirty="0" err="1">
                <a:latin typeface="Times New Roman"/>
                <a:cs typeface="Times New Roman"/>
              </a:rPr>
              <a:t>giá</a:t>
            </a:r>
            <a:r>
              <a:rPr lang="en-US" sz="2400" dirty="0">
                <a:latin typeface="Times New Roman"/>
                <a:cs typeface="Times New Roman"/>
              </a:rPr>
              <a:t> </a:t>
            </a:r>
            <a:r>
              <a:rPr lang="en-US" sz="2400" dirty="0" err="1">
                <a:latin typeface="Times New Roman"/>
                <a:cs typeface="Times New Roman"/>
              </a:rPr>
              <a:t>trị</a:t>
            </a:r>
            <a:r>
              <a:rPr lang="en-US" sz="2400" dirty="0">
                <a:latin typeface="Times New Roman"/>
                <a:cs typeface="Times New Roman"/>
              </a:rPr>
              <a:t> </a:t>
            </a:r>
            <a:r>
              <a:rPr lang="en-US" sz="2400" dirty="0" err="1">
                <a:latin typeface="Times New Roman"/>
                <a:cs typeface="Times New Roman"/>
              </a:rPr>
              <a:t>này</a:t>
            </a:r>
            <a:r>
              <a:rPr lang="en-US" sz="2400" dirty="0">
                <a:latin typeface="Times New Roman"/>
                <a:cs typeface="Times New Roman"/>
              </a:rPr>
              <a:t> </a:t>
            </a:r>
            <a:r>
              <a:rPr lang="en-US" sz="2400" dirty="0" err="1">
                <a:latin typeface="Times New Roman"/>
                <a:cs typeface="Times New Roman"/>
              </a:rPr>
              <a:t>gần</a:t>
            </a:r>
            <a:r>
              <a:rPr lang="en-US" sz="2400" dirty="0">
                <a:latin typeface="Times New Roman"/>
                <a:cs typeface="Times New Roman"/>
              </a:rPr>
              <a:t> </a:t>
            </a:r>
            <a:r>
              <a:rPr lang="en-US" sz="2400" dirty="0" err="1">
                <a:latin typeface="Times New Roman"/>
                <a:cs typeface="Times New Roman"/>
              </a:rPr>
              <a:t>nhau</a:t>
            </a:r>
            <a:r>
              <a:rPr lang="en-US" sz="2400" dirty="0">
                <a:latin typeface="Times New Roman"/>
                <a:cs typeface="Times New Roman"/>
              </a:rPr>
              <a:t>, </a:t>
            </a:r>
            <a:r>
              <a:rPr lang="en-US" sz="2400" dirty="0" err="1">
                <a:latin typeface="Times New Roman"/>
                <a:cs typeface="Times New Roman"/>
              </a:rPr>
              <a:t>mô</a:t>
            </a:r>
            <a:r>
              <a:rPr lang="en-US" sz="2400" dirty="0">
                <a:latin typeface="Times New Roman"/>
                <a:cs typeface="Times New Roman"/>
              </a:rPr>
              <a:t> </a:t>
            </a:r>
            <a:r>
              <a:rPr lang="en-US" sz="2400" dirty="0" err="1">
                <a:latin typeface="Times New Roman"/>
                <a:cs typeface="Times New Roman"/>
              </a:rPr>
              <a:t>hình</a:t>
            </a:r>
            <a:r>
              <a:rPr lang="en-US" sz="2400" dirty="0">
                <a:latin typeface="Times New Roman"/>
                <a:cs typeface="Times New Roman"/>
              </a:rPr>
              <a:t> </a:t>
            </a:r>
            <a:r>
              <a:rPr lang="en-US" sz="2400" dirty="0" err="1">
                <a:latin typeface="Times New Roman"/>
                <a:cs typeface="Times New Roman"/>
              </a:rPr>
              <a:t>hoạt</a:t>
            </a:r>
            <a:r>
              <a:rPr lang="en-US" sz="2400" dirty="0">
                <a:latin typeface="Times New Roman"/>
                <a:cs typeface="Times New Roman"/>
              </a:rPr>
              <a:t> </a:t>
            </a:r>
            <a:r>
              <a:rPr lang="en-US" sz="2400" dirty="0" err="1">
                <a:latin typeface="Times New Roman"/>
                <a:cs typeface="Times New Roman"/>
              </a:rPr>
              <a:t>động</a:t>
            </a:r>
            <a:r>
              <a:rPr lang="en-US" sz="2400" dirty="0">
                <a:latin typeface="Times New Roman"/>
                <a:cs typeface="Times New Roman"/>
              </a:rPr>
              <a:t> </a:t>
            </a:r>
            <a:r>
              <a:rPr lang="en-US" sz="2400" dirty="0" err="1">
                <a:latin typeface="Times New Roman"/>
                <a:cs typeface="Times New Roman"/>
              </a:rPr>
              <a:t>ổn</a:t>
            </a:r>
            <a:r>
              <a:rPr lang="en-US" sz="2400" dirty="0">
                <a:latin typeface="Times New Roman"/>
                <a:cs typeface="Times New Roman"/>
              </a:rPr>
              <a:t> </a:t>
            </a:r>
            <a:r>
              <a:rPr lang="en-US" sz="2400" dirty="0" err="1">
                <a:latin typeface="Times New Roman"/>
                <a:cs typeface="Times New Roman"/>
              </a:rPr>
              <a:t>định</a:t>
            </a:r>
            <a:r>
              <a:rPr lang="en-US" sz="2400" dirty="0">
                <a:latin typeface="Times New Roman"/>
                <a:cs typeface="Times New Roman"/>
              </a:rPr>
              <a:t>.</a:t>
            </a:r>
          </a:p>
        </p:txBody>
      </p:sp>
      <p:sp>
        <p:nvSpPr>
          <p:cNvPr id="7" name="object 4">
            <a:extLst>
              <a:ext uri="{FF2B5EF4-FFF2-40B4-BE49-F238E27FC236}">
                <a16:creationId xmlns:a16="http://schemas.microsoft.com/office/drawing/2014/main" id="{DBDE895C-A5EA-4562-3896-838EFBA86298}"/>
              </a:ext>
            </a:extLst>
          </p:cNvPr>
          <p:cNvSpPr txBox="1"/>
          <p:nvPr/>
        </p:nvSpPr>
        <p:spPr>
          <a:xfrm>
            <a:off x="101427" y="3429498"/>
            <a:ext cx="9119286" cy="1212511"/>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2400" dirty="0">
                <a:latin typeface="Times New Roman"/>
                <a:cs typeface="Times New Roman"/>
              </a:rPr>
              <a:t>Hàm Classification Report cung cấp các chỉ số chi tiết như Precision, Recall, và F1-Score cho từng lớp, giúp đánh giá hiệu suất dự đoán của mô hình đối với các lớp thiểu số</a:t>
            </a:r>
            <a:endParaRPr lang="en-US" sz="2400" dirty="0">
              <a:latin typeface="Times New Roman"/>
              <a:cs typeface="Times New Roman"/>
            </a:endParaRPr>
          </a:p>
        </p:txBody>
      </p:sp>
    </p:spTree>
    <p:extLst>
      <p:ext uri="{BB962C8B-B14F-4D97-AF65-F5344CB8AC3E}">
        <p14:creationId xmlns:p14="http://schemas.microsoft.com/office/powerpoint/2010/main" val="985739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7D24A-5A82-68BB-712B-9B610943777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5D4DC13-9905-589A-A943-54924773A114}"/>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0AB37E35-155C-51AE-E713-27B2CFA1F1EE}"/>
              </a:ext>
            </a:extLst>
          </p:cNvPr>
          <p:cNvSpPr txBox="1">
            <a:spLocks noGrp="1"/>
          </p:cNvSpPr>
          <p:nvPr>
            <p:ph type="title"/>
          </p:nvPr>
        </p:nvSpPr>
        <p:spPr>
          <a:xfrm>
            <a:off x="196896" y="295478"/>
            <a:ext cx="9251904" cy="566822"/>
          </a:xfrm>
          <a:prstGeom prst="rect">
            <a:avLst/>
          </a:prstGeom>
        </p:spPr>
        <p:txBody>
          <a:bodyPr vert="horz" wrap="square" lIns="0" tIns="12700" rIns="0" bIns="0" rtlCol="0">
            <a:spAutoFit/>
          </a:bodyPr>
          <a:lstStyle/>
          <a:p>
            <a:pPr marL="12700">
              <a:lnSpc>
                <a:spcPct val="100000"/>
              </a:lnSpc>
              <a:spcBef>
                <a:spcPts val="100"/>
              </a:spcBef>
            </a:pPr>
            <a:r>
              <a:rPr lang="vi-VN" sz="3600" dirty="0"/>
              <a:t>2.4.4</a:t>
            </a:r>
            <a:r>
              <a:rPr lang="en-US" sz="3600" dirty="0"/>
              <a:t> </a:t>
            </a:r>
            <a:r>
              <a:rPr lang="vi-VN" sz="3600" dirty="0"/>
              <a:t>Phân tích độ quan trọng của đặc trưng</a:t>
            </a:r>
            <a:endParaRPr sz="3600" spc="-10" dirty="0"/>
          </a:p>
        </p:txBody>
      </p:sp>
      <p:sp>
        <p:nvSpPr>
          <p:cNvPr id="10" name="object 10">
            <a:extLst>
              <a:ext uri="{FF2B5EF4-FFF2-40B4-BE49-F238E27FC236}">
                <a16:creationId xmlns:a16="http://schemas.microsoft.com/office/drawing/2014/main" id="{E6EBEDD3-4E2B-1BA4-8ABC-823A08D37AA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32</a:t>
            </a:fld>
            <a:endParaRPr spc="-25" dirty="0"/>
          </a:p>
        </p:txBody>
      </p:sp>
      <p:pic>
        <p:nvPicPr>
          <p:cNvPr id="5" name="Picture 4">
            <a:extLst>
              <a:ext uri="{FF2B5EF4-FFF2-40B4-BE49-F238E27FC236}">
                <a16:creationId xmlns:a16="http://schemas.microsoft.com/office/drawing/2014/main" id="{7317BE6E-BB42-8713-DCD5-191536454014}"/>
              </a:ext>
            </a:extLst>
          </p:cNvPr>
          <p:cNvPicPr>
            <a:picLocks noChangeAspect="1"/>
          </p:cNvPicPr>
          <p:nvPr/>
        </p:nvPicPr>
        <p:blipFill>
          <a:blip r:embed="rId2"/>
          <a:stretch>
            <a:fillRect/>
          </a:stretch>
        </p:blipFill>
        <p:spPr>
          <a:xfrm>
            <a:off x="176301" y="2108303"/>
            <a:ext cx="8774921" cy="449569"/>
          </a:xfrm>
          <a:prstGeom prst="rect">
            <a:avLst/>
          </a:prstGeom>
        </p:spPr>
      </p:pic>
      <p:sp>
        <p:nvSpPr>
          <p:cNvPr id="8" name="object 4">
            <a:extLst>
              <a:ext uri="{FF2B5EF4-FFF2-40B4-BE49-F238E27FC236}">
                <a16:creationId xmlns:a16="http://schemas.microsoft.com/office/drawing/2014/main" id="{2553284F-0DDD-1673-0493-0ABC65E3C648}"/>
              </a:ext>
            </a:extLst>
          </p:cNvPr>
          <p:cNvSpPr txBox="1"/>
          <p:nvPr/>
        </p:nvSpPr>
        <p:spPr>
          <a:xfrm>
            <a:off x="8238" y="976029"/>
            <a:ext cx="9119286" cy="843180"/>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2400" dirty="0">
                <a:latin typeface="Times New Roman"/>
                <a:cs typeface="Times New Roman"/>
              </a:rPr>
              <a:t>Đặc tính củaRandom Forest tự động tính toán độ quan trọng tương đối của mỗi đặc trưng (feature) trong việc đưa ra quyết định phân loại.</a:t>
            </a:r>
            <a:endParaRPr lang="en-US" sz="2400" dirty="0">
              <a:latin typeface="Times New Roman"/>
              <a:cs typeface="Times New Roman"/>
            </a:endParaRPr>
          </a:p>
        </p:txBody>
      </p:sp>
      <p:sp>
        <p:nvSpPr>
          <p:cNvPr id="9" name="object 4">
            <a:extLst>
              <a:ext uri="{FF2B5EF4-FFF2-40B4-BE49-F238E27FC236}">
                <a16:creationId xmlns:a16="http://schemas.microsoft.com/office/drawing/2014/main" id="{15D1EDDB-6801-04E7-3EC8-907650504492}"/>
              </a:ext>
            </a:extLst>
          </p:cNvPr>
          <p:cNvSpPr txBox="1"/>
          <p:nvPr/>
        </p:nvSpPr>
        <p:spPr>
          <a:xfrm>
            <a:off x="24714" y="2557872"/>
            <a:ext cx="9119286" cy="1581843"/>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2400" dirty="0">
                <a:latin typeface="Times New Roman"/>
                <a:cs typeface="Times New Roman"/>
              </a:rPr>
              <a:t>Chỉ số này cho phép chúng ta xác định các yếu tố đầu vào nào có ảnh hưởng lớn nhất đến kết quả dự đoán. </a:t>
            </a:r>
            <a:r>
              <a:rPr lang="en-US" sz="2400" dirty="0">
                <a:latin typeface="Times New Roman"/>
                <a:cs typeface="Times New Roman"/>
              </a:rPr>
              <a:t> </a:t>
            </a:r>
            <a:r>
              <a:rPr lang="vi-VN" sz="2400" dirty="0">
                <a:latin typeface="Times New Roman"/>
                <a:cs typeface="Times New Roman"/>
              </a:rPr>
              <a:t>Trong đồ án, phần này giúp giải thích kết quả và đưa ra kết luận khoa học về mối quan hệ giữa các đặc trưng và biến mục tiêu</a:t>
            </a:r>
            <a:endParaRPr lang="en-US" sz="2400" dirty="0">
              <a:latin typeface="Times New Roman"/>
              <a:cs typeface="Times New Roman"/>
            </a:endParaRPr>
          </a:p>
        </p:txBody>
      </p:sp>
    </p:spTree>
    <p:extLst>
      <p:ext uri="{BB962C8B-B14F-4D97-AF65-F5344CB8AC3E}">
        <p14:creationId xmlns:p14="http://schemas.microsoft.com/office/powerpoint/2010/main" val="1618941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C6402-1EA5-2EDB-3EB0-D3B2E51D86B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914CD32-3140-FFF1-57BC-F4E21C349FA3}"/>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10" name="object 10">
            <a:extLst>
              <a:ext uri="{FF2B5EF4-FFF2-40B4-BE49-F238E27FC236}">
                <a16:creationId xmlns:a16="http://schemas.microsoft.com/office/drawing/2014/main" id="{AF9D60C9-F813-0821-1011-AAA2DCFD6BDD}"/>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33</a:t>
            </a:fld>
            <a:endParaRPr spc="-25" dirty="0"/>
          </a:p>
        </p:txBody>
      </p:sp>
      <p:sp>
        <p:nvSpPr>
          <p:cNvPr id="7" name="object 4">
            <a:extLst>
              <a:ext uri="{FF2B5EF4-FFF2-40B4-BE49-F238E27FC236}">
                <a16:creationId xmlns:a16="http://schemas.microsoft.com/office/drawing/2014/main" id="{34468A9F-5BB7-BDF6-D6B5-D27ECE4BE56C}"/>
              </a:ext>
            </a:extLst>
          </p:cNvPr>
          <p:cNvSpPr txBox="1"/>
          <p:nvPr/>
        </p:nvSpPr>
        <p:spPr>
          <a:xfrm>
            <a:off x="45309" y="419100"/>
            <a:ext cx="9119286" cy="473848"/>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2400" b="1" dirty="0">
                <a:latin typeface="Times New Roman"/>
                <a:cs typeface="Times New Roman"/>
              </a:rPr>
              <a:t>Ứng dụng giải thuật Random Forest vào chương trình</a:t>
            </a:r>
            <a:endParaRPr lang="en-US" sz="2400" b="1" dirty="0">
              <a:latin typeface="Times New Roman"/>
              <a:cs typeface="Times New Roman"/>
            </a:endParaRPr>
          </a:p>
        </p:txBody>
      </p:sp>
      <p:pic>
        <p:nvPicPr>
          <p:cNvPr id="9" name="Picture 8">
            <a:extLst>
              <a:ext uri="{FF2B5EF4-FFF2-40B4-BE49-F238E27FC236}">
                <a16:creationId xmlns:a16="http://schemas.microsoft.com/office/drawing/2014/main" id="{57285E03-914A-E892-95BC-284E531C53CF}"/>
              </a:ext>
            </a:extLst>
          </p:cNvPr>
          <p:cNvPicPr>
            <a:picLocks noChangeAspect="1"/>
          </p:cNvPicPr>
          <p:nvPr/>
        </p:nvPicPr>
        <p:blipFill>
          <a:blip r:embed="rId2"/>
          <a:stretch>
            <a:fillRect/>
          </a:stretch>
        </p:blipFill>
        <p:spPr>
          <a:xfrm>
            <a:off x="292444" y="892948"/>
            <a:ext cx="8625015" cy="4798357"/>
          </a:xfrm>
          <a:prstGeom prst="rect">
            <a:avLst/>
          </a:prstGeom>
        </p:spPr>
      </p:pic>
    </p:spTree>
    <p:extLst>
      <p:ext uri="{BB962C8B-B14F-4D97-AF65-F5344CB8AC3E}">
        <p14:creationId xmlns:p14="http://schemas.microsoft.com/office/powerpoint/2010/main" val="7356762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25053-3D49-7FE9-15DB-40A1F605F34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8374AE4-6EE1-F33F-1207-95AE2022425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10" name="object 10">
            <a:extLst>
              <a:ext uri="{FF2B5EF4-FFF2-40B4-BE49-F238E27FC236}">
                <a16:creationId xmlns:a16="http://schemas.microsoft.com/office/drawing/2014/main" id="{B324A65F-B1CD-D100-7C69-F5AB1A5C92E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34</a:t>
            </a:fld>
            <a:endParaRPr spc="-25" dirty="0"/>
          </a:p>
        </p:txBody>
      </p:sp>
      <p:sp>
        <p:nvSpPr>
          <p:cNvPr id="7" name="object 4">
            <a:extLst>
              <a:ext uri="{FF2B5EF4-FFF2-40B4-BE49-F238E27FC236}">
                <a16:creationId xmlns:a16="http://schemas.microsoft.com/office/drawing/2014/main" id="{25A4CE42-C520-9D4C-B085-AEF574D2A2B1}"/>
              </a:ext>
            </a:extLst>
          </p:cNvPr>
          <p:cNvSpPr txBox="1"/>
          <p:nvPr/>
        </p:nvSpPr>
        <p:spPr>
          <a:xfrm>
            <a:off x="24714" y="203223"/>
            <a:ext cx="9119286" cy="473848"/>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2400" b="1" dirty="0">
                <a:latin typeface="Times New Roman"/>
                <a:cs typeface="Times New Roman"/>
              </a:rPr>
              <a:t>Ứng dụng Random Forest vào huấn luyện mô hình</a:t>
            </a:r>
            <a:endParaRPr lang="en-US" sz="2400" b="1" dirty="0">
              <a:latin typeface="Times New Roman"/>
              <a:cs typeface="Times New Roman"/>
            </a:endParaRPr>
          </a:p>
        </p:txBody>
      </p:sp>
      <p:pic>
        <p:nvPicPr>
          <p:cNvPr id="3" name="Picture 2">
            <a:extLst>
              <a:ext uri="{FF2B5EF4-FFF2-40B4-BE49-F238E27FC236}">
                <a16:creationId xmlns:a16="http://schemas.microsoft.com/office/drawing/2014/main" id="{C5D3DCF5-E9C9-837F-80F0-A2743B466244}"/>
              </a:ext>
            </a:extLst>
          </p:cNvPr>
          <p:cNvPicPr>
            <a:picLocks noChangeAspect="1"/>
          </p:cNvPicPr>
          <p:nvPr/>
        </p:nvPicPr>
        <p:blipFill>
          <a:blip r:embed="rId2"/>
          <a:stretch>
            <a:fillRect/>
          </a:stretch>
        </p:blipFill>
        <p:spPr>
          <a:xfrm>
            <a:off x="342900" y="677071"/>
            <a:ext cx="8458200" cy="4917104"/>
          </a:xfrm>
          <a:prstGeom prst="rect">
            <a:avLst/>
          </a:prstGeom>
        </p:spPr>
      </p:pic>
    </p:spTree>
    <p:extLst>
      <p:ext uri="{BB962C8B-B14F-4D97-AF65-F5344CB8AC3E}">
        <p14:creationId xmlns:p14="http://schemas.microsoft.com/office/powerpoint/2010/main" val="2859350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1B3F7-7521-DB62-655C-BAAB46124B7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886D857-3BD0-003E-DDAC-E1750C395EB8}"/>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10" name="object 10">
            <a:extLst>
              <a:ext uri="{FF2B5EF4-FFF2-40B4-BE49-F238E27FC236}">
                <a16:creationId xmlns:a16="http://schemas.microsoft.com/office/drawing/2014/main" id="{B090DD32-2748-277F-7423-F296739CF9F0}"/>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35</a:t>
            </a:fld>
            <a:endParaRPr spc="-25" dirty="0"/>
          </a:p>
        </p:txBody>
      </p:sp>
      <p:sp>
        <p:nvSpPr>
          <p:cNvPr id="7" name="object 4">
            <a:extLst>
              <a:ext uri="{FF2B5EF4-FFF2-40B4-BE49-F238E27FC236}">
                <a16:creationId xmlns:a16="http://schemas.microsoft.com/office/drawing/2014/main" id="{1C24F370-E994-F3AD-BFD1-47FC60935292}"/>
              </a:ext>
            </a:extLst>
          </p:cNvPr>
          <p:cNvSpPr txBox="1"/>
          <p:nvPr/>
        </p:nvSpPr>
        <p:spPr>
          <a:xfrm>
            <a:off x="24714" y="203223"/>
            <a:ext cx="9119286" cy="843180"/>
          </a:xfrm>
          <a:prstGeom prst="rect">
            <a:avLst/>
          </a:prstGeom>
        </p:spPr>
        <p:txBody>
          <a:bodyPr vert="horz" wrap="square" lIns="0" tIns="103505" rIns="0" bIns="0" rtlCol="0">
            <a:spAutoFit/>
          </a:bodyPr>
          <a:lstStyle/>
          <a:p>
            <a:pPr marL="354965" indent="-342265" algn="l">
              <a:lnSpc>
                <a:spcPct val="100000"/>
              </a:lnSpc>
              <a:spcBef>
                <a:spcPts val="815"/>
              </a:spcBef>
              <a:buClr>
                <a:srgbClr val="CC9900"/>
              </a:buClr>
              <a:buSzPct val="65000"/>
              <a:buFont typeface="Wingdings"/>
              <a:buChar char=""/>
              <a:tabLst>
                <a:tab pos="354965" algn="l"/>
              </a:tabLst>
            </a:pPr>
            <a:r>
              <a:rPr lang="vi-VN" sz="2400" b="1" dirty="0">
                <a:latin typeface="Times New Roman"/>
                <a:cs typeface="Times New Roman"/>
              </a:rPr>
              <a:t>Ứng dụng phân tích độ quan trọng của đặc trưng trong giải thuật Random Forest</a:t>
            </a:r>
            <a:endParaRPr lang="en-US" sz="2400" b="1" dirty="0">
              <a:latin typeface="Times New Roman"/>
              <a:cs typeface="Times New Roman"/>
            </a:endParaRPr>
          </a:p>
        </p:txBody>
      </p:sp>
      <p:pic>
        <p:nvPicPr>
          <p:cNvPr id="4" name="Picture 3">
            <a:extLst>
              <a:ext uri="{FF2B5EF4-FFF2-40B4-BE49-F238E27FC236}">
                <a16:creationId xmlns:a16="http://schemas.microsoft.com/office/drawing/2014/main" id="{F806E22C-DAA2-2A0E-008F-A52748DDCE6F}"/>
              </a:ext>
            </a:extLst>
          </p:cNvPr>
          <p:cNvPicPr>
            <a:picLocks noChangeAspect="1"/>
          </p:cNvPicPr>
          <p:nvPr/>
        </p:nvPicPr>
        <p:blipFill>
          <a:blip r:embed="rId2"/>
          <a:stretch>
            <a:fillRect/>
          </a:stretch>
        </p:blipFill>
        <p:spPr>
          <a:xfrm>
            <a:off x="1507250" y="1046403"/>
            <a:ext cx="6129500" cy="4674117"/>
          </a:xfrm>
          <a:prstGeom prst="rect">
            <a:avLst/>
          </a:prstGeom>
        </p:spPr>
      </p:pic>
    </p:spTree>
    <p:extLst>
      <p:ext uri="{BB962C8B-B14F-4D97-AF65-F5344CB8AC3E}">
        <p14:creationId xmlns:p14="http://schemas.microsoft.com/office/powerpoint/2010/main" val="41434918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450D9-900E-6492-6407-2E95D3F1ABB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EF11019-C85C-9988-FE3A-1C1ED4EA153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670FD073-4CEE-FFB0-4658-496EF9FC4B79}"/>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2.5. </a:t>
            </a:r>
            <a:r>
              <a:rPr lang="en-US" sz="3600" dirty="0" err="1"/>
              <a:t>Sử</a:t>
            </a:r>
            <a:r>
              <a:rPr lang="en-US" sz="3600" dirty="0"/>
              <a:t> </a:t>
            </a:r>
            <a:r>
              <a:rPr lang="en-US" sz="3600" dirty="0" err="1"/>
              <a:t>dụng</a:t>
            </a:r>
            <a:r>
              <a:rPr lang="en-US" sz="3600" dirty="0"/>
              <a:t> </a:t>
            </a:r>
            <a:r>
              <a:rPr lang="en-US" sz="3600" dirty="0" err="1"/>
              <a:t>giải</a:t>
            </a:r>
            <a:r>
              <a:rPr lang="en-US" sz="3600" dirty="0"/>
              <a:t> </a:t>
            </a:r>
            <a:r>
              <a:rPr lang="en-US" sz="3600" dirty="0" err="1"/>
              <a:t>thuật</a:t>
            </a:r>
            <a:r>
              <a:rPr lang="en-US" sz="3600" dirty="0"/>
              <a:t> </a:t>
            </a:r>
            <a:r>
              <a:rPr lang="en-US" sz="3600" dirty="0" err="1"/>
              <a:t>randomforest</a:t>
            </a:r>
            <a:endParaRPr sz="3600" spc="-10" dirty="0"/>
          </a:p>
        </p:txBody>
      </p:sp>
      <p:sp>
        <p:nvSpPr>
          <p:cNvPr id="10" name="object 10">
            <a:extLst>
              <a:ext uri="{FF2B5EF4-FFF2-40B4-BE49-F238E27FC236}">
                <a16:creationId xmlns:a16="http://schemas.microsoft.com/office/drawing/2014/main" id="{F6874E2F-C8D3-E5A2-43A0-69A9FE508AE0}"/>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36</a:t>
            </a:fld>
            <a:endParaRPr spc="-25"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F9D1708-6D80-CB5D-5402-B610E8B61D75}"/>
                  </a:ext>
                </a:extLst>
              </p:cNvPr>
              <p:cNvGraphicFramePr>
                <a:graphicFrameLocks noGrp="1"/>
              </p:cNvGraphicFramePr>
              <p:nvPr>
                <p:extLst>
                  <p:ext uri="{D42A27DB-BD31-4B8C-83A1-F6EECF244321}">
                    <p14:modId xmlns:p14="http://schemas.microsoft.com/office/powerpoint/2010/main" val="425515062"/>
                  </p:ext>
                </p:extLst>
              </p:nvPr>
            </p:nvGraphicFramePr>
            <p:xfrm>
              <a:off x="457200" y="825500"/>
              <a:ext cx="8382000" cy="411988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2857258801"/>
                        </a:ext>
                      </a:extLst>
                    </a:gridCol>
                    <a:gridCol w="2794000">
                      <a:extLst>
                        <a:ext uri="{9D8B030D-6E8A-4147-A177-3AD203B41FA5}">
                          <a16:colId xmlns:a16="http://schemas.microsoft.com/office/drawing/2014/main" val="4221533702"/>
                        </a:ext>
                      </a:extLst>
                    </a:gridCol>
                    <a:gridCol w="2794000">
                      <a:extLst>
                        <a:ext uri="{9D8B030D-6E8A-4147-A177-3AD203B41FA5}">
                          <a16:colId xmlns:a16="http://schemas.microsoft.com/office/drawing/2014/main" val="838380295"/>
                        </a:ext>
                      </a:extLst>
                    </a:gridCol>
                  </a:tblGrid>
                  <a:tr h="370840">
                    <a:tc>
                      <a:txBody>
                        <a:bodyPr/>
                        <a:lstStyle/>
                        <a:p>
                          <a:pPr algn="ctr"/>
                          <a:r>
                            <a:rPr lang="en-US" dirty="0" err="1">
                              <a:latin typeface="Arial" panose="020B0604020202020204" pitchFamily="34" charset="0"/>
                              <a:cs typeface="Arial" panose="020B0604020202020204" pitchFamily="34" charset="0"/>
                            </a:rPr>
                            <a:t>Siêu</a:t>
                          </a:r>
                          <a:r>
                            <a:rPr lang="en-US" dirty="0">
                              <a:latin typeface="Arial" panose="020B0604020202020204" pitchFamily="34" charset="0"/>
                              <a:cs typeface="Arial" panose="020B0604020202020204" pitchFamily="34" charset="0"/>
                            </a:rPr>
                            <a:t> Tham </a:t>
                          </a:r>
                          <a:r>
                            <a:rPr lang="en-US" dirty="0" err="1">
                              <a:latin typeface="Arial" panose="020B0604020202020204" pitchFamily="34" charset="0"/>
                              <a:cs typeface="Arial" panose="020B0604020202020204" pitchFamily="34" charset="0"/>
                            </a:rPr>
                            <a:t>Số</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Ý Nghĩa</a:t>
                          </a:r>
                        </a:p>
                      </a:txBody>
                      <a:tcPr/>
                    </a:tc>
                    <a:tc>
                      <a:txBody>
                        <a:bodyPr/>
                        <a:lstStyle/>
                        <a:p>
                          <a:pPr algn="ctr"/>
                          <a:r>
                            <a:rPr lang="vi-VN" dirty="0">
                              <a:latin typeface="Arial" panose="020B0604020202020204" pitchFamily="34" charset="0"/>
                              <a:cs typeface="Arial" panose="020B0604020202020204" pitchFamily="34" charset="0"/>
                            </a:rPr>
                            <a:t>Giá Trị Thường Dùng</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12334681"/>
                      </a:ext>
                    </a:extLst>
                  </a:tr>
                  <a:tr h="370840">
                    <a:tc>
                      <a:txBody>
                        <a:bodyPr/>
                        <a:lstStyle/>
                        <a:p>
                          <a:r>
                            <a:rPr lang="en-US" dirty="0" err="1">
                              <a:latin typeface="Arial" panose="020B0604020202020204" pitchFamily="34" charset="0"/>
                              <a:cs typeface="Arial" panose="020B0604020202020204" pitchFamily="34" charset="0"/>
                            </a:rPr>
                            <a:t>n_estimators</a:t>
                          </a:r>
                          <a:endParaRPr lang="en-US" dirty="0">
                            <a:latin typeface="Arial" panose="020B0604020202020204" pitchFamily="34" charset="0"/>
                            <a:cs typeface="Arial" panose="020B0604020202020204" pitchFamily="34" charset="0"/>
                          </a:endParaRPr>
                        </a:p>
                      </a:txBody>
                      <a:tcPr/>
                    </a:tc>
                    <a:tc>
                      <a:txBody>
                        <a:bodyPr/>
                        <a:lstStyle/>
                        <a:p>
                          <a:r>
                            <a:rPr lang="vi-VN" b="1" dirty="0">
                              <a:latin typeface="Arial" panose="020B0604020202020204" pitchFamily="34" charset="0"/>
                              <a:cs typeface="Arial" panose="020B0604020202020204" pitchFamily="34" charset="0"/>
                            </a:rPr>
                            <a:t>Số lượng Cây Quyết định</a:t>
                          </a:r>
                          <a:r>
                            <a:rPr lang="vi-VN" dirty="0">
                              <a:latin typeface="Arial" panose="020B0604020202020204" pitchFamily="34" charset="0"/>
                              <a:cs typeface="Arial" panose="020B0604020202020204" pitchFamily="34" charset="0"/>
                            </a:rPr>
                            <a:t> trong mô hình.</a:t>
                          </a:r>
                          <a:endParaRPr lang="en-US" dirty="0">
                            <a:latin typeface="Arial" panose="020B0604020202020204" pitchFamily="34" charset="0"/>
                            <a:cs typeface="Arial" panose="020B0604020202020204" pitchFamily="34" charset="0"/>
                          </a:endParaRPr>
                        </a:p>
                      </a:txBody>
                      <a:tcPr/>
                    </a:tc>
                    <a:tc>
                      <a:txBody>
                        <a:bodyPr/>
                        <a:lstStyle/>
                        <a:p>
                          <a:r>
                            <a:rPr lang="en-US" dirty="0">
                              <a:solidFill>
                                <a:schemeClr val="dk1"/>
                              </a:solidFill>
                              <a:effectLst/>
                              <a:latin typeface="Arial" panose="020B0604020202020204" pitchFamily="34" charset="0"/>
                              <a:ea typeface="+mn-ea"/>
                              <a:cs typeface="Arial" panose="020B0604020202020204" pitchFamily="34" charset="0"/>
                            </a:rPr>
                            <a:t>100 </a:t>
                          </a:r>
                          <a:r>
                            <a:rPr lang="en-US" dirty="0">
                              <a:solidFill>
                                <a:schemeClr val="dk1"/>
                              </a:solidFill>
                              <a:effectLst/>
                              <a:latin typeface="Arial" panose="020B0604020202020204" pitchFamily="34" charset="0"/>
                              <a:ea typeface="+mn-ea"/>
                              <a:cs typeface="Arial" panose="020B0604020202020204" pitchFamily="34" charset="0"/>
                              <a:sym typeface="Wingdings" panose="05000000000000000000" pitchFamily="2" charset="2"/>
                            </a:rPr>
                            <a:t></a:t>
                          </a:r>
                          <a:r>
                            <a:rPr lang="en-US" dirty="0">
                              <a:solidFill>
                                <a:schemeClr val="dk1"/>
                              </a:solidFill>
                              <a:effectLst/>
                              <a:latin typeface="Arial" panose="020B0604020202020204" pitchFamily="34" charset="0"/>
                              <a:ea typeface="+mn-ea"/>
                              <a:cs typeface="Arial" panose="020B0604020202020204" pitchFamily="34" charset="0"/>
                            </a:rPr>
                            <a:t>1000</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100)</a:t>
                          </a:r>
                        </a:p>
                      </a:txBody>
                      <a:tcPr/>
                    </a:tc>
                    <a:extLst>
                      <a:ext uri="{0D108BD9-81ED-4DB2-BD59-A6C34878D82A}">
                        <a16:rowId xmlns:a16="http://schemas.microsoft.com/office/drawing/2014/main" val="3863721584"/>
                      </a:ext>
                    </a:extLst>
                  </a:tr>
                  <a:tr h="370840">
                    <a:tc>
                      <a:txBody>
                        <a:bodyPr/>
                        <a:lstStyle/>
                        <a:p>
                          <a:r>
                            <a:rPr lang="en-US" dirty="0">
                              <a:latin typeface="Arial" panose="020B0604020202020204" pitchFamily="34" charset="0"/>
                              <a:cs typeface="Arial" panose="020B0604020202020204" pitchFamily="34" charset="0"/>
                            </a:rPr>
                            <a:t>bootstrap</a:t>
                          </a:r>
                        </a:p>
                      </a:txBody>
                      <a:tcPr/>
                    </a:tc>
                    <a:tc>
                      <a:txBody>
                        <a:bodyPr/>
                        <a:lstStyle/>
                        <a:p>
                          <a:r>
                            <a:rPr lang="en-US" dirty="0">
                              <a:latin typeface="Arial" panose="020B0604020202020204" pitchFamily="34" charset="0"/>
                              <a:cs typeface="Arial" panose="020B0604020202020204" pitchFamily="34" charset="0"/>
                            </a:rPr>
                            <a:t>K</a:t>
                          </a:r>
                          <a:r>
                            <a:rPr lang="vi-VN" dirty="0">
                              <a:latin typeface="Arial" panose="020B0604020202020204" pitchFamily="34" charset="0"/>
                              <a:cs typeface="Arial" panose="020B0604020202020204" pitchFamily="34" charset="0"/>
                            </a:rPr>
                            <a:t>ích hoạt cơ chế </a:t>
                          </a:r>
                          <a:r>
                            <a:rPr lang="vi-VN" b="1" dirty="0">
                              <a:latin typeface="Arial" panose="020B0604020202020204" pitchFamily="34" charset="0"/>
                              <a:cs typeface="Arial" panose="020B0604020202020204" pitchFamily="34" charset="0"/>
                            </a:rPr>
                            <a:t>Bagging</a:t>
                          </a:r>
                          <a:r>
                            <a:rPr lang="vi-VN" dirty="0">
                              <a:latin typeface="Arial" panose="020B0604020202020204" pitchFamily="34" charset="0"/>
                              <a:cs typeface="Arial" panose="020B0604020202020204" pitchFamily="34" charset="0"/>
                            </a:rPr>
                            <a:t> (Lấy mẫu có hoàn lại).</a:t>
                          </a:r>
                          <a:endParaRPr lang="en-US" dirty="0">
                            <a:latin typeface="Arial" panose="020B0604020202020204" pitchFamily="34" charset="0"/>
                            <a:cs typeface="Arial" panose="020B0604020202020204" pitchFamily="34" charset="0"/>
                          </a:endParaRPr>
                        </a:p>
                      </a:txBody>
                      <a:tcPr/>
                    </a:tc>
                    <a:tc>
                      <a:txBody>
                        <a:bodyPr/>
                        <a:lstStyle/>
                        <a:p>
                          <a:r>
                            <a:rPr lang="en-US" dirty="0">
                              <a:solidFill>
                                <a:schemeClr val="dk1"/>
                              </a:solidFill>
                              <a:latin typeface="Arial" panose="020B0604020202020204" pitchFamily="34" charset="0"/>
                              <a:ea typeface="+mn-ea"/>
                              <a:cs typeface="Arial" panose="020B0604020202020204" pitchFamily="34" charset="0"/>
                            </a:rPr>
                            <a:t>True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 </a:t>
                          </a:r>
                          <a:r>
                            <a:rPr lang="en-US" dirty="0">
                              <a:solidFill>
                                <a:schemeClr val="dk1"/>
                              </a:solidFill>
                              <a:latin typeface="Arial" panose="020B0604020202020204" pitchFamily="34" charset="0"/>
                              <a:ea typeface="+mn-ea"/>
                              <a:cs typeface="Arial" panose="020B0604020202020204" pitchFamily="34" charset="0"/>
                            </a:rPr>
                            <a:t>False</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584757215"/>
                      </a:ext>
                    </a:extLst>
                  </a:tr>
                  <a:tr h="370840">
                    <a:tc>
                      <a:txBody>
                        <a:bodyPr/>
                        <a:lstStyle/>
                        <a:p>
                          <a:r>
                            <a:rPr lang="en-US" dirty="0" err="1">
                              <a:latin typeface="Arial" panose="020B0604020202020204" pitchFamily="34" charset="0"/>
                              <a:cs typeface="Arial" panose="020B0604020202020204" pitchFamily="34" charset="0"/>
                            </a:rPr>
                            <a:t>max_features</a:t>
                          </a:r>
                          <a:endParaRPr lang="en-US" dirty="0">
                            <a:latin typeface="Arial" panose="020B0604020202020204" pitchFamily="34" charset="0"/>
                            <a:cs typeface="Arial" panose="020B0604020202020204" pitchFamily="34" charset="0"/>
                          </a:endParaRPr>
                        </a:p>
                      </a:txBody>
                      <a:tcPr/>
                    </a:tc>
                    <a:tc>
                      <a:txBody>
                        <a:bodyPr/>
                        <a:lstStyle/>
                        <a:p>
                          <a:r>
                            <a:rPr lang="vi-VN" dirty="0">
                              <a:latin typeface="Arial" panose="020B0604020202020204" pitchFamily="34" charset="0"/>
                              <a:cs typeface="Arial" panose="020B0604020202020204" pitchFamily="34" charset="0"/>
                            </a:rPr>
                            <a:t>Số lượng </a:t>
                          </a:r>
                          <a:r>
                            <a:rPr lang="vi-VN" b="1" dirty="0">
                              <a:latin typeface="Arial" panose="020B0604020202020204" pitchFamily="34" charset="0"/>
                              <a:cs typeface="Arial" panose="020B0604020202020204" pitchFamily="34" charset="0"/>
                            </a:rPr>
                            <a:t>Đặc trưng</a:t>
                          </a:r>
                          <a:r>
                            <a:rPr lang="vi-VN" dirty="0">
                              <a:latin typeface="Arial" panose="020B0604020202020204" pitchFamily="34" charset="0"/>
                              <a:cs typeface="Arial" panose="020B0604020202020204" pitchFamily="34" charset="0"/>
                            </a:rPr>
                            <a:t> được xét ngẫu nhiên tại mỗi nút tách.</a:t>
                          </a:r>
                          <a:endParaRPr lang="en-US" dirty="0">
                            <a:latin typeface="Arial" panose="020B0604020202020204" pitchFamily="34" charset="0"/>
                            <a:cs typeface="Arial" panose="020B0604020202020204" pitchFamily="34" charset="0"/>
                          </a:endParaRPr>
                        </a:p>
                      </a:txBody>
                      <a:tcPr/>
                    </a:tc>
                    <a:tc>
                      <a:txBody>
                        <a:bodyPr/>
                        <a:lstStyle/>
                        <a:p>
                          <a14:m>
                            <m:oMath xmlns:m="http://schemas.openxmlformats.org/officeDocument/2006/math">
                              <m:rad>
                                <m:radPr>
                                  <m:degHide m:val="on"/>
                                  <m:ctrlPr>
                                    <a:rPr lang="en-US" i="1" smtClean="0">
                                      <a:solidFill>
                                        <a:schemeClr val="dk1"/>
                                      </a:solidFill>
                                      <a:effectLst/>
                                      <a:latin typeface="Cambria Math" panose="02040503050406030204" pitchFamily="18" charset="0"/>
                                      <a:ea typeface="+mn-ea"/>
                                      <a:cs typeface="+mn-cs"/>
                                      <a:sym typeface="Symbol" panose="05050102010706020507" pitchFamily="18" charset="2"/>
                                    </a:rPr>
                                  </m:ctrlPr>
                                </m:radPr>
                                <m:deg/>
                                <m:e>
                                  <m:r>
                                    <a:rPr lang="en-US" b="0" i="1" smtClean="0">
                                      <a:solidFill>
                                        <a:schemeClr val="dk1"/>
                                      </a:solidFill>
                                      <a:effectLst/>
                                      <a:latin typeface="Cambria Math" panose="02040503050406030204" pitchFamily="18" charset="0"/>
                                      <a:ea typeface="+mn-ea"/>
                                      <a:cs typeface="+mn-cs"/>
                                      <a:sym typeface="Symbol" panose="05050102010706020507" pitchFamily="18" charset="2"/>
                                    </a:rPr>
                                    <m:t>𝑁</m:t>
                                  </m:r>
                                </m:e>
                              </m:rad>
                            </m:oMath>
                          </a14:m>
                          <a:r>
                            <a:rPr lang="en-US" dirty="0">
                              <a:latin typeface="Arial" panose="020B0604020202020204" pitchFamily="34" charset="0"/>
                              <a:cs typeface="Arial" panose="020B0604020202020204" pitchFamily="34" charset="0"/>
                            </a:rPr>
                            <a:t> (Mặc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hoặc</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𝑙𝑜𝑔</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b="0" i="1" dirty="0" smtClean="0">
                                  <a:latin typeface="Cambria Math" panose="02040503050406030204" pitchFamily="18" charset="0"/>
                                </a:rPr>
                                <m:t>)</m:t>
                              </m:r>
                            </m:oMath>
                          </a14:m>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21202868"/>
                      </a:ext>
                    </a:extLst>
                  </a:tr>
                  <a:tr h="370840">
                    <a:tc>
                      <a:txBody>
                        <a:bodyPr/>
                        <a:lstStyle/>
                        <a:p>
                          <a:r>
                            <a:rPr lang="en-US" dirty="0" err="1">
                              <a:latin typeface="Arial" panose="020B0604020202020204" pitchFamily="34" charset="0"/>
                              <a:cs typeface="Arial" panose="020B0604020202020204" pitchFamily="34" charset="0"/>
                            </a:rPr>
                            <a:t>oob_score</a:t>
                          </a:r>
                          <a:endParaRPr lang="en-US" dirty="0">
                            <a:latin typeface="Arial" panose="020B0604020202020204" pitchFamily="34" charset="0"/>
                            <a:cs typeface="Arial" panose="020B0604020202020204" pitchFamily="34" charset="0"/>
                          </a:endParaRPr>
                        </a:p>
                      </a:txBody>
                      <a:tcPr/>
                    </a:tc>
                    <a:tc>
                      <a:txBody>
                        <a:bodyPr/>
                        <a:lstStyle/>
                        <a:p>
                          <a:r>
                            <a:rPr lang="en-US" dirty="0" err="1">
                              <a:latin typeface="Arial" panose="020B0604020202020204" pitchFamily="34" charset="0"/>
                              <a:cs typeface="Arial" panose="020B0604020202020204" pitchFamily="34" charset="0"/>
                            </a:rPr>
                            <a:t>Kích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toán</a:t>
                          </a:r>
                          <a:r>
                            <a:rPr lang="en-US"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Điểm</a:t>
                          </a:r>
                          <a:r>
                            <a:rPr lang="en-US" b="1" dirty="0">
                              <a:latin typeface="Arial" panose="020B0604020202020204" pitchFamily="34" charset="0"/>
                              <a:cs typeface="Arial" panose="020B0604020202020204" pitchFamily="34" charset="0"/>
                            </a:rPr>
                            <a:t> OOB</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nội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bộ</a:t>
                          </a:r>
                          <a:r>
                            <a:rPr lang="en-US" dirty="0">
                              <a:latin typeface="Arial" panose="020B0604020202020204" pitchFamily="34" charset="0"/>
                              <a:cs typeface="Arial" panose="020B0604020202020204" pitchFamily="34" charset="0"/>
                            </a:rPr>
                            <a:t>).</a:t>
                          </a:r>
                        </a:p>
                      </a:txBody>
                      <a:tcPr/>
                    </a:tc>
                    <a:tc>
                      <a:txBody>
                        <a:bodyPr/>
                        <a:lstStyle/>
                        <a:p>
                          <a:r>
                            <a:rPr lang="en-US" dirty="0">
                              <a:solidFill>
                                <a:schemeClr val="dk1"/>
                              </a:solidFill>
                              <a:latin typeface="Arial" panose="020B0604020202020204" pitchFamily="34" charset="0"/>
                              <a:ea typeface="+mn-ea"/>
                              <a:cs typeface="Arial" panose="020B0604020202020204" pitchFamily="34" charset="0"/>
                            </a:rPr>
                            <a:t>True</a:t>
                          </a:r>
                          <a:r>
                            <a:rPr lang="en-US" dirty="0">
                              <a:latin typeface="Arial" panose="020B0604020202020204" pitchFamily="34" charset="0"/>
                              <a:cs typeface="Arial" panose="020B0604020202020204" pitchFamily="34" charset="0"/>
                            </a:rPr>
                            <a:t> / </a:t>
                          </a:r>
                          <a:r>
                            <a:rPr lang="en-US" dirty="0">
                              <a:solidFill>
                                <a:schemeClr val="dk1"/>
                              </a:solidFill>
                              <a:latin typeface="Arial" panose="020B0604020202020204" pitchFamily="34" charset="0"/>
                              <a:ea typeface="+mn-ea"/>
                              <a:cs typeface="Arial" panose="020B0604020202020204" pitchFamily="34" charset="0"/>
                            </a:rPr>
                            <a:t>False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537734607"/>
                      </a:ext>
                    </a:extLst>
                  </a:tr>
                  <a:tr h="370840">
                    <a:tc>
                      <a:txBody>
                        <a:bodyPr/>
                        <a:lstStyle/>
                        <a:p>
                          <a:r>
                            <a:rPr lang="en-US" dirty="0" err="1">
                              <a:latin typeface="Arial" panose="020B0604020202020204" pitchFamily="34" charset="0"/>
                              <a:cs typeface="Arial" panose="020B0604020202020204" pitchFamily="34" charset="0"/>
                            </a:rPr>
                            <a:t>random_state</a:t>
                          </a:r>
                          <a:endParaRPr lang="en-US" dirty="0">
                            <a:latin typeface="Arial" panose="020B0604020202020204" pitchFamily="34" charset="0"/>
                            <a:cs typeface="Arial" panose="020B0604020202020204" pitchFamily="34" charset="0"/>
                          </a:endParaRPr>
                        </a:p>
                      </a:txBody>
                      <a:tcPr/>
                    </a:tc>
                    <a:tc>
                      <a:txBody>
                        <a:bodyPr/>
                        <a:lstStyle/>
                        <a:p>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lập</a:t>
                          </a:r>
                          <a:r>
                            <a:rPr lang="en-US"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Hạt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giống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ngẫu</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a:t>
                          </a:r>
                        </a:p>
                      </a:txBody>
                      <a:tcPr/>
                    </a:tc>
                    <a:tc>
                      <a:txBody>
                        <a:bodyPr/>
                        <a:lstStyle/>
                        <a:p>
                          <a:r>
                            <a:rPr lang="en-US" dirty="0" err="1">
                              <a:latin typeface="Arial" panose="020B0604020202020204" pitchFamily="34" charset="0"/>
                              <a:cs typeface="Arial" panose="020B0604020202020204" pitchFamily="34" charset="0"/>
                            </a:rPr>
                            <a:t>Bất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nguyên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nào</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77781721"/>
                      </a:ext>
                    </a:extLst>
                  </a:tr>
                </a:tbl>
              </a:graphicData>
            </a:graphic>
          </p:graphicFrame>
        </mc:Choice>
        <mc:Fallback xmlns="">
          <p:graphicFrame>
            <p:nvGraphicFramePr>
              <p:cNvPr id="4" name="Table 3">
                <a:extLst>
                  <a:ext uri="{FF2B5EF4-FFF2-40B4-BE49-F238E27FC236}">
                    <a16:creationId xmlns:a16="http://schemas.microsoft.com/office/drawing/2014/main" id="{6F9D1708-6D80-CB5D-5402-B610E8B61D75}"/>
                  </a:ext>
                </a:extLst>
              </p:cNvPr>
              <p:cNvGraphicFramePr>
                <a:graphicFrameLocks noGrp="1"/>
              </p:cNvGraphicFramePr>
              <p:nvPr>
                <p:extLst>
                  <p:ext uri="{D42A27DB-BD31-4B8C-83A1-F6EECF244321}">
                    <p14:modId xmlns:p14="http://schemas.microsoft.com/office/powerpoint/2010/main" val="425515062"/>
                  </p:ext>
                </p:extLst>
              </p:nvPr>
            </p:nvGraphicFramePr>
            <p:xfrm>
              <a:off x="457200" y="825500"/>
              <a:ext cx="8382000" cy="411988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2857258801"/>
                        </a:ext>
                      </a:extLst>
                    </a:gridCol>
                    <a:gridCol w="2794000">
                      <a:extLst>
                        <a:ext uri="{9D8B030D-6E8A-4147-A177-3AD203B41FA5}">
                          <a16:colId xmlns:a16="http://schemas.microsoft.com/office/drawing/2014/main" val="4221533702"/>
                        </a:ext>
                      </a:extLst>
                    </a:gridCol>
                    <a:gridCol w="2794000">
                      <a:extLst>
                        <a:ext uri="{9D8B030D-6E8A-4147-A177-3AD203B41FA5}">
                          <a16:colId xmlns:a16="http://schemas.microsoft.com/office/drawing/2014/main" val="838380295"/>
                        </a:ext>
                      </a:extLst>
                    </a:gridCol>
                  </a:tblGrid>
                  <a:tr h="370840">
                    <a:tc>
                      <a:txBody>
                        <a:bodyPr/>
                        <a:lstStyle/>
                        <a:p>
                          <a:pPr algn="ctr"/>
                          <a:r>
                            <a:rPr lang="en-US" dirty="0" err="1">
                              <a:latin typeface="Arial" panose="020B0604020202020204" pitchFamily="34" charset="0"/>
                              <a:cs typeface="Arial" panose="020B0604020202020204" pitchFamily="34" charset="0"/>
                            </a:rPr>
                            <a:t>Siêu</a:t>
                          </a:r>
                          <a:r>
                            <a:rPr lang="en-US" dirty="0">
                              <a:latin typeface="Arial" panose="020B0604020202020204" pitchFamily="34" charset="0"/>
                              <a:cs typeface="Arial" panose="020B0604020202020204" pitchFamily="34" charset="0"/>
                            </a:rPr>
                            <a:t> Tham </a:t>
                          </a:r>
                          <a:r>
                            <a:rPr lang="en-US" dirty="0" err="1">
                              <a:latin typeface="Arial" panose="020B0604020202020204" pitchFamily="34" charset="0"/>
                              <a:cs typeface="Arial" panose="020B0604020202020204" pitchFamily="34" charset="0"/>
                            </a:rPr>
                            <a:t>Số</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Ý Nghĩa</a:t>
                          </a:r>
                        </a:p>
                      </a:txBody>
                      <a:tcPr/>
                    </a:tc>
                    <a:tc>
                      <a:txBody>
                        <a:bodyPr/>
                        <a:lstStyle/>
                        <a:p>
                          <a:pPr algn="ctr"/>
                          <a:r>
                            <a:rPr lang="vi-VN" dirty="0">
                              <a:latin typeface="Arial" panose="020B0604020202020204" pitchFamily="34" charset="0"/>
                              <a:cs typeface="Arial" panose="020B0604020202020204" pitchFamily="34" charset="0"/>
                            </a:rPr>
                            <a:t>Giá Trị Thường Dùng</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12334681"/>
                      </a:ext>
                    </a:extLst>
                  </a:tr>
                  <a:tr h="640080">
                    <a:tc>
                      <a:txBody>
                        <a:bodyPr/>
                        <a:lstStyle/>
                        <a:p>
                          <a:r>
                            <a:rPr lang="en-US" dirty="0" err="1">
                              <a:latin typeface="Arial" panose="020B0604020202020204" pitchFamily="34" charset="0"/>
                              <a:cs typeface="Arial" panose="020B0604020202020204" pitchFamily="34" charset="0"/>
                            </a:rPr>
                            <a:t>n_estimators</a:t>
                          </a:r>
                          <a:endParaRPr lang="en-US" dirty="0">
                            <a:latin typeface="Arial" panose="020B0604020202020204" pitchFamily="34" charset="0"/>
                            <a:cs typeface="Arial" panose="020B0604020202020204" pitchFamily="34" charset="0"/>
                          </a:endParaRPr>
                        </a:p>
                      </a:txBody>
                      <a:tcPr/>
                    </a:tc>
                    <a:tc>
                      <a:txBody>
                        <a:bodyPr/>
                        <a:lstStyle/>
                        <a:p>
                          <a:r>
                            <a:rPr lang="vi-VN" b="1" dirty="0">
                              <a:latin typeface="Arial" panose="020B0604020202020204" pitchFamily="34" charset="0"/>
                              <a:cs typeface="Arial" panose="020B0604020202020204" pitchFamily="34" charset="0"/>
                            </a:rPr>
                            <a:t>Số lượng Cây Quyết định</a:t>
                          </a:r>
                          <a:r>
                            <a:rPr lang="vi-VN" dirty="0">
                              <a:latin typeface="Arial" panose="020B0604020202020204" pitchFamily="34" charset="0"/>
                              <a:cs typeface="Arial" panose="020B0604020202020204" pitchFamily="34" charset="0"/>
                            </a:rPr>
                            <a:t> trong mô hình.</a:t>
                          </a:r>
                          <a:endParaRPr lang="en-US" dirty="0">
                            <a:latin typeface="Arial" panose="020B0604020202020204" pitchFamily="34" charset="0"/>
                            <a:cs typeface="Arial" panose="020B0604020202020204" pitchFamily="34" charset="0"/>
                          </a:endParaRPr>
                        </a:p>
                      </a:txBody>
                      <a:tcPr/>
                    </a:tc>
                    <a:tc>
                      <a:txBody>
                        <a:bodyPr/>
                        <a:lstStyle/>
                        <a:p>
                          <a:r>
                            <a:rPr lang="en-US" dirty="0">
                              <a:solidFill>
                                <a:schemeClr val="dk1"/>
                              </a:solidFill>
                              <a:effectLst/>
                              <a:latin typeface="Arial" panose="020B0604020202020204" pitchFamily="34" charset="0"/>
                              <a:ea typeface="+mn-ea"/>
                              <a:cs typeface="Arial" panose="020B0604020202020204" pitchFamily="34" charset="0"/>
                            </a:rPr>
                            <a:t>100 </a:t>
                          </a:r>
                          <a:r>
                            <a:rPr lang="en-US" dirty="0">
                              <a:solidFill>
                                <a:schemeClr val="dk1"/>
                              </a:solidFill>
                              <a:effectLst/>
                              <a:latin typeface="Arial" panose="020B0604020202020204" pitchFamily="34" charset="0"/>
                              <a:ea typeface="+mn-ea"/>
                              <a:cs typeface="Arial" panose="020B0604020202020204" pitchFamily="34" charset="0"/>
                              <a:sym typeface="Wingdings" panose="05000000000000000000" pitchFamily="2" charset="2"/>
                            </a:rPr>
                            <a:t></a:t>
                          </a:r>
                          <a:r>
                            <a:rPr lang="en-US" dirty="0">
                              <a:solidFill>
                                <a:schemeClr val="dk1"/>
                              </a:solidFill>
                              <a:effectLst/>
                              <a:latin typeface="Arial" panose="020B0604020202020204" pitchFamily="34" charset="0"/>
                              <a:ea typeface="+mn-ea"/>
                              <a:cs typeface="Arial" panose="020B0604020202020204" pitchFamily="34" charset="0"/>
                            </a:rPr>
                            <a:t>1000</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100)</a:t>
                          </a:r>
                        </a:p>
                      </a:txBody>
                      <a:tcPr/>
                    </a:tc>
                    <a:extLst>
                      <a:ext uri="{0D108BD9-81ED-4DB2-BD59-A6C34878D82A}">
                        <a16:rowId xmlns:a16="http://schemas.microsoft.com/office/drawing/2014/main" val="3863721584"/>
                      </a:ext>
                    </a:extLst>
                  </a:tr>
                  <a:tr h="914400">
                    <a:tc>
                      <a:txBody>
                        <a:bodyPr/>
                        <a:lstStyle/>
                        <a:p>
                          <a:r>
                            <a:rPr lang="en-US" dirty="0">
                              <a:latin typeface="Arial" panose="020B0604020202020204" pitchFamily="34" charset="0"/>
                              <a:cs typeface="Arial" panose="020B0604020202020204" pitchFamily="34" charset="0"/>
                            </a:rPr>
                            <a:t>bootstrap</a:t>
                          </a:r>
                        </a:p>
                      </a:txBody>
                      <a:tcPr/>
                    </a:tc>
                    <a:tc>
                      <a:txBody>
                        <a:bodyPr/>
                        <a:lstStyle/>
                        <a:p>
                          <a:r>
                            <a:rPr lang="en-US" dirty="0">
                              <a:latin typeface="Arial" panose="020B0604020202020204" pitchFamily="34" charset="0"/>
                              <a:cs typeface="Arial" panose="020B0604020202020204" pitchFamily="34" charset="0"/>
                            </a:rPr>
                            <a:t>K</a:t>
                          </a:r>
                          <a:r>
                            <a:rPr lang="vi-VN" dirty="0">
                              <a:latin typeface="Arial" panose="020B0604020202020204" pitchFamily="34" charset="0"/>
                              <a:cs typeface="Arial" panose="020B0604020202020204" pitchFamily="34" charset="0"/>
                            </a:rPr>
                            <a:t>ích hoạt cơ chế </a:t>
                          </a:r>
                          <a:r>
                            <a:rPr lang="vi-VN" b="1" dirty="0">
                              <a:latin typeface="Arial" panose="020B0604020202020204" pitchFamily="34" charset="0"/>
                              <a:cs typeface="Arial" panose="020B0604020202020204" pitchFamily="34" charset="0"/>
                            </a:rPr>
                            <a:t>Bagging</a:t>
                          </a:r>
                          <a:r>
                            <a:rPr lang="vi-VN" dirty="0">
                              <a:latin typeface="Arial" panose="020B0604020202020204" pitchFamily="34" charset="0"/>
                              <a:cs typeface="Arial" panose="020B0604020202020204" pitchFamily="34" charset="0"/>
                            </a:rPr>
                            <a:t> (Lấy mẫu có hoàn lại).</a:t>
                          </a:r>
                          <a:endParaRPr lang="en-US" dirty="0">
                            <a:latin typeface="Arial" panose="020B0604020202020204" pitchFamily="34" charset="0"/>
                            <a:cs typeface="Arial" panose="020B0604020202020204" pitchFamily="34" charset="0"/>
                          </a:endParaRPr>
                        </a:p>
                      </a:txBody>
                      <a:tcPr/>
                    </a:tc>
                    <a:tc>
                      <a:txBody>
                        <a:bodyPr/>
                        <a:lstStyle/>
                        <a:p>
                          <a:r>
                            <a:rPr lang="en-US" dirty="0">
                              <a:solidFill>
                                <a:schemeClr val="dk1"/>
                              </a:solidFill>
                              <a:latin typeface="Arial" panose="020B0604020202020204" pitchFamily="34" charset="0"/>
                              <a:ea typeface="+mn-ea"/>
                              <a:cs typeface="Arial" panose="020B0604020202020204" pitchFamily="34" charset="0"/>
                            </a:rPr>
                            <a:t>True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 </a:t>
                          </a:r>
                          <a:r>
                            <a:rPr lang="en-US" dirty="0">
                              <a:solidFill>
                                <a:schemeClr val="dk1"/>
                              </a:solidFill>
                              <a:latin typeface="Arial" panose="020B0604020202020204" pitchFamily="34" charset="0"/>
                              <a:ea typeface="+mn-ea"/>
                              <a:cs typeface="Arial" panose="020B0604020202020204" pitchFamily="34" charset="0"/>
                            </a:rPr>
                            <a:t>False</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584757215"/>
                      </a:ext>
                    </a:extLst>
                  </a:tr>
                  <a:tr h="914400">
                    <a:tc>
                      <a:txBody>
                        <a:bodyPr/>
                        <a:lstStyle/>
                        <a:p>
                          <a:r>
                            <a:rPr lang="en-US" dirty="0" err="1">
                              <a:latin typeface="Arial" panose="020B0604020202020204" pitchFamily="34" charset="0"/>
                              <a:cs typeface="Arial" panose="020B0604020202020204" pitchFamily="34" charset="0"/>
                            </a:rPr>
                            <a:t>max_features</a:t>
                          </a:r>
                          <a:endParaRPr lang="en-US" dirty="0">
                            <a:latin typeface="Arial" panose="020B0604020202020204" pitchFamily="34" charset="0"/>
                            <a:cs typeface="Arial" panose="020B0604020202020204" pitchFamily="34" charset="0"/>
                          </a:endParaRPr>
                        </a:p>
                      </a:txBody>
                      <a:tcPr/>
                    </a:tc>
                    <a:tc>
                      <a:txBody>
                        <a:bodyPr/>
                        <a:lstStyle/>
                        <a:p>
                          <a:r>
                            <a:rPr lang="vi-VN" dirty="0">
                              <a:latin typeface="Arial" panose="020B0604020202020204" pitchFamily="34" charset="0"/>
                              <a:cs typeface="Arial" panose="020B0604020202020204" pitchFamily="34" charset="0"/>
                            </a:rPr>
                            <a:t>Số lượng </a:t>
                          </a:r>
                          <a:r>
                            <a:rPr lang="vi-VN" b="1" dirty="0">
                              <a:latin typeface="Arial" panose="020B0604020202020204" pitchFamily="34" charset="0"/>
                              <a:cs typeface="Arial" panose="020B0604020202020204" pitchFamily="34" charset="0"/>
                            </a:rPr>
                            <a:t>Đặc trưng</a:t>
                          </a:r>
                          <a:r>
                            <a:rPr lang="vi-VN" dirty="0">
                              <a:latin typeface="Arial" panose="020B0604020202020204" pitchFamily="34" charset="0"/>
                              <a:cs typeface="Arial" panose="020B0604020202020204" pitchFamily="34" charset="0"/>
                            </a:rPr>
                            <a:t> được xét ngẫu nhiên tại mỗi nút tách.</a:t>
                          </a:r>
                          <a:endParaRPr lang="en-US" dirty="0">
                            <a:latin typeface="Arial" panose="020B0604020202020204" pitchFamily="34" charset="0"/>
                            <a:cs typeface="Arial" panose="020B0604020202020204" pitchFamily="34" charset="0"/>
                          </a:endParaRPr>
                        </a:p>
                      </a:txBody>
                      <a:tcPr/>
                    </a:tc>
                    <a:tc>
                      <a:txBody>
                        <a:bodyPr/>
                        <a:lstStyle/>
                        <a:p>
                          <a:endParaRPr lang="en-US"/>
                        </a:p>
                      </a:txBody>
                      <a:tcPr>
                        <a:blipFill>
                          <a:blip r:embed="rId2"/>
                          <a:stretch>
                            <a:fillRect l="-200655" t="-212583" r="-1092" b="-149007"/>
                          </a:stretch>
                        </a:blipFill>
                      </a:tcPr>
                    </a:tc>
                    <a:extLst>
                      <a:ext uri="{0D108BD9-81ED-4DB2-BD59-A6C34878D82A}">
                        <a16:rowId xmlns:a16="http://schemas.microsoft.com/office/drawing/2014/main" val="1721202868"/>
                      </a:ext>
                    </a:extLst>
                  </a:tr>
                  <a:tr h="640080">
                    <a:tc>
                      <a:txBody>
                        <a:bodyPr/>
                        <a:lstStyle/>
                        <a:p>
                          <a:r>
                            <a:rPr lang="en-US" dirty="0" err="1">
                              <a:latin typeface="Arial" panose="020B0604020202020204" pitchFamily="34" charset="0"/>
                              <a:cs typeface="Arial" panose="020B0604020202020204" pitchFamily="34" charset="0"/>
                            </a:rPr>
                            <a:t>oob_score</a:t>
                          </a:r>
                          <a:endParaRPr lang="en-US" dirty="0">
                            <a:latin typeface="Arial" panose="020B0604020202020204" pitchFamily="34" charset="0"/>
                            <a:cs typeface="Arial" panose="020B0604020202020204" pitchFamily="34" charset="0"/>
                          </a:endParaRPr>
                        </a:p>
                      </a:txBody>
                      <a:tcPr/>
                    </a:tc>
                    <a:tc>
                      <a:txBody>
                        <a:bodyPr/>
                        <a:lstStyle/>
                        <a:p>
                          <a:r>
                            <a:rPr lang="en-US" dirty="0" err="1">
                              <a:latin typeface="Arial" panose="020B0604020202020204" pitchFamily="34" charset="0"/>
                              <a:cs typeface="Arial" panose="020B0604020202020204" pitchFamily="34" charset="0"/>
                            </a:rPr>
                            <a:t>Kích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hoạt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toán</a:t>
                          </a:r>
                          <a:r>
                            <a:rPr lang="en-US"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Điểm</a:t>
                          </a:r>
                          <a:r>
                            <a:rPr lang="en-US" b="1" dirty="0">
                              <a:latin typeface="Arial" panose="020B0604020202020204" pitchFamily="34" charset="0"/>
                              <a:cs typeface="Arial" panose="020B0604020202020204" pitchFamily="34" charset="0"/>
                            </a:rPr>
                            <a:t> OOB</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Đánh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nội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bộ</a:t>
                          </a:r>
                          <a:r>
                            <a:rPr lang="en-US" dirty="0">
                              <a:latin typeface="Arial" panose="020B0604020202020204" pitchFamily="34" charset="0"/>
                              <a:cs typeface="Arial" panose="020B0604020202020204" pitchFamily="34" charset="0"/>
                            </a:rPr>
                            <a:t>).</a:t>
                          </a:r>
                        </a:p>
                      </a:txBody>
                      <a:tcPr/>
                    </a:tc>
                    <a:tc>
                      <a:txBody>
                        <a:bodyPr/>
                        <a:lstStyle/>
                        <a:p>
                          <a:r>
                            <a:rPr lang="en-US" dirty="0">
                              <a:solidFill>
                                <a:schemeClr val="dk1"/>
                              </a:solidFill>
                              <a:latin typeface="Arial" panose="020B0604020202020204" pitchFamily="34" charset="0"/>
                              <a:ea typeface="+mn-ea"/>
                              <a:cs typeface="Arial" panose="020B0604020202020204" pitchFamily="34" charset="0"/>
                            </a:rPr>
                            <a:t>True</a:t>
                          </a:r>
                          <a:r>
                            <a:rPr lang="en-US" dirty="0">
                              <a:latin typeface="Arial" panose="020B0604020202020204" pitchFamily="34" charset="0"/>
                              <a:cs typeface="Arial" panose="020B0604020202020204" pitchFamily="34" charset="0"/>
                            </a:rPr>
                            <a:t> / </a:t>
                          </a:r>
                          <a:r>
                            <a:rPr lang="en-US" dirty="0">
                              <a:solidFill>
                                <a:schemeClr val="dk1"/>
                              </a:solidFill>
                              <a:latin typeface="Arial" panose="020B0604020202020204" pitchFamily="34" charset="0"/>
                              <a:ea typeface="+mn-ea"/>
                              <a:cs typeface="Arial" panose="020B0604020202020204" pitchFamily="34" charset="0"/>
                            </a:rPr>
                            <a:t>False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537734607"/>
                      </a:ext>
                    </a:extLst>
                  </a:tr>
                  <a:tr h="640080">
                    <a:tc>
                      <a:txBody>
                        <a:bodyPr/>
                        <a:lstStyle/>
                        <a:p>
                          <a:r>
                            <a:rPr lang="en-US" dirty="0" err="1">
                              <a:latin typeface="Arial" panose="020B0604020202020204" pitchFamily="34" charset="0"/>
                              <a:cs typeface="Arial" panose="020B0604020202020204" pitchFamily="34" charset="0"/>
                            </a:rPr>
                            <a:t>random_state</a:t>
                          </a:r>
                          <a:endParaRPr lang="en-US" dirty="0">
                            <a:latin typeface="Arial" panose="020B0604020202020204" pitchFamily="34" charset="0"/>
                            <a:cs typeface="Arial" panose="020B0604020202020204" pitchFamily="34" charset="0"/>
                          </a:endParaRPr>
                        </a:p>
                      </a:txBody>
                      <a:tcPr/>
                    </a:tc>
                    <a:tc>
                      <a:txBody>
                        <a:bodyPr/>
                        <a:lstStyle/>
                        <a:p>
                          <a:r>
                            <a:rPr lang="en-US" dirty="0" err="1">
                              <a:latin typeface="Arial" panose="020B0604020202020204" pitchFamily="34" charset="0"/>
                              <a:cs typeface="Arial" panose="020B0604020202020204" pitchFamily="34" charset="0"/>
                            </a:rPr>
                            <a:t>Thiết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lập</a:t>
                          </a:r>
                          <a:r>
                            <a:rPr lang="en-US"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Hạt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giống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ngẫu</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nhiên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a:t>
                          </a:r>
                          <a:r>
                            <a:rPr lang="en-US" dirty="0">
                              <a:latin typeface="Arial" panose="020B0604020202020204" pitchFamily="34" charset="0"/>
                              <a:cs typeface="Arial" panose="020B0604020202020204" pitchFamily="34" charset="0"/>
                            </a:rPr>
                            <a:t>.</a:t>
                          </a:r>
                        </a:p>
                      </a:txBody>
                      <a:tcPr/>
                    </a:tc>
                    <a:tc>
                      <a:txBody>
                        <a:bodyPr/>
                        <a:lstStyle/>
                        <a:p>
                          <a:r>
                            <a:rPr lang="en-US" dirty="0" err="1">
                              <a:latin typeface="Arial" panose="020B0604020202020204" pitchFamily="34" charset="0"/>
                              <a:cs typeface="Arial" panose="020B0604020202020204" pitchFamily="34" charset="0"/>
                            </a:rPr>
                            <a:t>Bất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nguyên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nào</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77781721"/>
                      </a:ext>
                    </a:extLst>
                  </a:tr>
                </a:tbl>
              </a:graphicData>
            </a:graphic>
          </p:graphicFrame>
        </mc:Fallback>
      </mc:AlternateContent>
    </p:spTree>
    <p:extLst>
      <p:ext uri="{BB962C8B-B14F-4D97-AF65-F5344CB8AC3E}">
        <p14:creationId xmlns:p14="http://schemas.microsoft.com/office/powerpoint/2010/main" val="9567451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45DCB-0733-7078-B83C-54281C19EC0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5E3F6E4-F54D-B2BC-3B95-D1D125809DD3}"/>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8F19E53F-5924-BC82-FE7B-1304C833E233}"/>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2.5. </a:t>
            </a:r>
            <a:r>
              <a:rPr lang="en-US" sz="3600" dirty="0" err="1"/>
              <a:t>Sử</a:t>
            </a:r>
            <a:r>
              <a:rPr lang="en-US" sz="3600" dirty="0"/>
              <a:t> </a:t>
            </a:r>
            <a:r>
              <a:rPr lang="en-US" sz="3600" dirty="0" err="1"/>
              <a:t>dụng</a:t>
            </a:r>
            <a:r>
              <a:rPr lang="en-US" sz="3600" dirty="0"/>
              <a:t> </a:t>
            </a:r>
            <a:r>
              <a:rPr lang="en-US" sz="3600" dirty="0" err="1"/>
              <a:t>giải</a:t>
            </a:r>
            <a:r>
              <a:rPr lang="en-US" sz="3600" dirty="0"/>
              <a:t> </a:t>
            </a:r>
            <a:r>
              <a:rPr lang="en-US" sz="3600" dirty="0" err="1"/>
              <a:t>thuật</a:t>
            </a:r>
            <a:r>
              <a:rPr lang="en-US" sz="3600" dirty="0"/>
              <a:t> </a:t>
            </a:r>
            <a:r>
              <a:rPr lang="en-US" sz="3600" dirty="0" err="1"/>
              <a:t>randomforest</a:t>
            </a:r>
            <a:endParaRPr sz="3600" spc="-10" dirty="0"/>
          </a:p>
        </p:txBody>
      </p:sp>
      <p:sp>
        <p:nvSpPr>
          <p:cNvPr id="10" name="object 10">
            <a:extLst>
              <a:ext uri="{FF2B5EF4-FFF2-40B4-BE49-F238E27FC236}">
                <a16:creationId xmlns:a16="http://schemas.microsoft.com/office/drawing/2014/main" id="{207458FB-A301-206A-C645-D4FFFA7ABCF9}"/>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37</a:t>
            </a:fld>
            <a:endParaRPr spc="-25" dirty="0"/>
          </a:p>
        </p:txBody>
      </p:sp>
      <p:graphicFrame>
        <p:nvGraphicFramePr>
          <p:cNvPr id="4" name="Table 3">
            <a:extLst>
              <a:ext uri="{FF2B5EF4-FFF2-40B4-BE49-F238E27FC236}">
                <a16:creationId xmlns:a16="http://schemas.microsoft.com/office/drawing/2014/main" id="{7DF9F96C-DE29-620C-6F4D-0B5F00A31720}"/>
              </a:ext>
            </a:extLst>
          </p:cNvPr>
          <p:cNvGraphicFramePr>
            <a:graphicFrameLocks noGrp="1"/>
          </p:cNvGraphicFramePr>
          <p:nvPr>
            <p:extLst>
              <p:ext uri="{D42A27DB-BD31-4B8C-83A1-F6EECF244321}">
                <p14:modId xmlns:p14="http://schemas.microsoft.com/office/powerpoint/2010/main" val="174182275"/>
              </p:ext>
            </p:extLst>
          </p:nvPr>
        </p:nvGraphicFramePr>
        <p:xfrm>
          <a:off x="457200" y="825498"/>
          <a:ext cx="8382000" cy="4108476"/>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2857258801"/>
                    </a:ext>
                  </a:extLst>
                </a:gridCol>
                <a:gridCol w="2794000">
                  <a:extLst>
                    <a:ext uri="{9D8B030D-6E8A-4147-A177-3AD203B41FA5}">
                      <a16:colId xmlns:a16="http://schemas.microsoft.com/office/drawing/2014/main" val="4221533702"/>
                    </a:ext>
                  </a:extLst>
                </a:gridCol>
                <a:gridCol w="2794000">
                  <a:extLst>
                    <a:ext uri="{9D8B030D-6E8A-4147-A177-3AD203B41FA5}">
                      <a16:colId xmlns:a16="http://schemas.microsoft.com/office/drawing/2014/main" val="838380295"/>
                    </a:ext>
                  </a:extLst>
                </a:gridCol>
              </a:tblGrid>
              <a:tr h="593899">
                <a:tc>
                  <a:txBody>
                    <a:bodyPr/>
                    <a:lstStyle/>
                    <a:p>
                      <a:pPr algn="ctr"/>
                      <a:r>
                        <a:rPr lang="en-US" dirty="0" err="1">
                          <a:latin typeface="Arial" panose="020B0604020202020204" pitchFamily="34" charset="0"/>
                          <a:cs typeface="Arial" panose="020B0604020202020204" pitchFamily="34" charset="0"/>
                        </a:rPr>
                        <a:t>Siêu</a:t>
                      </a:r>
                      <a:r>
                        <a:rPr lang="en-US" dirty="0">
                          <a:latin typeface="Arial" panose="020B0604020202020204" pitchFamily="34" charset="0"/>
                          <a:cs typeface="Arial" panose="020B0604020202020204" pitchFamily="34" charset="0"/>
                        </a:rPr>
                        <a:t> Tham </a:t>
                      </a:r>
                      <a:r>
                        <a:rPr lang="en-US" dirty="0" err="1">
                          <a:latin typeface="Arial" panose="020B0604020202020204" pitchFamily="34" charset="0"/>
                          <a:cs typeface="Arial" panose="020B0604020202020204" pitchFamily="34" charset="0"/>
                        </a:rPr>
                        <a:t>Số</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Ý Nghĩa</a:t>
                      </a:r>
                    </a:p>
                  </a:txBody>
                  <a:tcPr/>
                </a:tc>
                <a:tc>
                  <a:txBody>
                    <a:bodyPr/>
                    <a:lstStyle/>
                    <a:p>
                      <a:pPr algn="ctr"/>
                      <a:r>
                        <a:rPr lang="en-US">
                          <a:latin typeface="Arial" panose="020B0604020202020204" pitchFamily="34" charset="0"/>
                          <a:cs typeface="Arial" panose="020B0604020202020204" pitchFamily="34" charset="0"/>
                        </a:rPr>
                        <a:t>Tác Động</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12334681"/>
                  </a:ext>
                </a:extLst>
              </a:tr>
              <a:tr h="1025085">
                <a:tc>
                  <a:txBody>
                    <a:bodyPr/>
                    <a:lstStyle/>
                    <a:p>
                      <a:r>
                        <a:rPr lang="en-US" dirty="0" err="1">
                          <a:latin typeface="Arial" panose="020B0604020202020204" pitchFamily="34" charset="0"/>
                          <a:cs typeface="Arial" panose="020B0604020202020204" pitchFamily="34" charset="0"/>
                        </a:rPr>
                        <a:t>max_depth</a:t>
                      </a:r>
                      <a:endParaRPr lang="en-US" dirty="0">
                        <a:latin typeface="Arial" panose="020B0604020202020204" pitchFamily="34" charset="0"/>
                        <a:cs typeface="Arial" panose="020B0604020202020204" pitchFamily="34" charset="0"/>
                      </a:endParaRPr>
                    </a:p>
                  </a:txBody>
                  <a:tcPr/>
                </a:tc>
                <a:tc>
                  <a:txBody>
                    <a:bodyPr/>
                    <a:lstStyle/>
                    <a:p>
                      <a:r>
                        <a:rPr lang="en-US" b="1" dirty="0" err="1">
                          <a:latin typeface="Arial" panose="020B0604020202020204" pitchFamily="34" charset="0"/>
                          <a:cs typeface="Arial" panose="020B0604020202020204" pitchFamily="34" charset="0"/>
                        </a:rPr>
                        <a:t>Độ</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sâu</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tối</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mỗi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cây</a:t>
                      </a:r>
                      <a:endParaRPr lang="en-US" dirty="0">
                        <a:latin typeface="Arial" panose="020B0604020202020204" pitchFamily="34" charset="0"/>
                        <a:cs typeface="Arial" panose="020B0604020202020204" pitchFamily="34" charset="0"/>
                      </a:endParaRPr>
                    </a:p>
                  </a:txBody>
                  <a:tcPr/>
                </a:tc>
                <a:tc>
                  <a:txBody>
                    <a:bodyPr/>
                    <a:lstStyle/>
                    <a:p>
                      <a:r>
                        <a:rPr lang="en-US" dirty="0">
                          <a:solidFill>
                            <a:schemeClr val="dk1"/>
                          </a:solidFill>
                          <a:effectLst/>
                          <a:latin typeface="Arial" panose="020B0604020202020204" pitchFamily="34" charset="0"/>
                          <a:ea typeface="+mn-ea"/>
                          <a:cs typeface="Arial" panose="020B0604020202020204" pitchFamily="34" charset="0"/>
                        </a:rPr>
                        <a:t>100 </a:t>
                      </a:r>
                      <a:r>
                        <a:rPr lang="en-US" dirty="0">
                          <a:solidFill>
                            <a:schemeClr val="dk1"/>
                          </a:solidFill>
                          <a:effectLst/>
                          <a:latin typeface="Arial" panose="020B0604020202020204" pitchFamily="34" charset="0"/>
                          <a:ea typeface="+mn-ea"/>
                          <a:cs typeface="Arial" panose="020B0604020202020204" pitchFamily="34" charset="0"/>
                          <a:sym typeface="Wingdings" panose="05000000000000000000" pitchFamily="2" charset="2"/>
                        </a:rPr>
                        <a:t></a:t>
                      </a:r>
                      <a:r>
                        <a:rPr lang="en-US" dirty="0">
                          <a:solidFill>
                            <a:schemeClr val="dk1"/>
                          </a:solidFill>
                          <a:effectLst/>
                          <a:latin typeface="Arial" panose="020B0604020202020204" pitchFamily="34" charset="0"/>
                          <a:ea typeface="+mn-ea"/>
                          <a:cs typeface="Arial" panose="020B0604020202020204" pitchFamily="34" charset="0"/>
                        </a:rPr>
                        <a:t>1000</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100)</a:t>
                      </a:r>
                    </a:p>
                  </a:txBody>
                  <a:tcPr/>
                </a:tc>
                <a:extLst>
                  <a:ext uri="{0D108BD9-81ED-4DB2-BD59-A6C34878D82A}">
                    <a16:rowId xmlns:a16="http://schemas.microsoft.com/office/drawing/2014/main" val="3863721584"/>
                  </a:ext>
                </a:extLst>
              </a:tr>
              <a:tr h="1025085">
                <a:tc>
                  <a:txBody>
                    <a:bodyPr/>
                    <a:lstStyle/>
                    <a:p>
                      <a:r>
                        <a:rPr lang="en-US" dirty="0" err="1">
                          <a:latin typeface="Arial" panose="020B0604020202020204" pitchFamily="34" charset="0"/>
                          <a:cs typeface="Arial" panose="020B0604020202020204" pitchFamily="34" charset="0"/>
                        </a:rPr>
                        <a:t>min_samples_split</a:t>
                      </a:r>
                      <a:endParaRPr lang="en-US" dirty="0">
                        <a:latin typeface="Arial" panose="020B0604020202020204" pitchFamily="34" charset="0"/>
                        <a:cs typeface="Arial" panose="020B0604020202020204" pitchFamily="34" charset="0"/>
                      </a:endParaRPr>
                    </a:p>
                  </a:txBody>
                  <a:tcPr/>
                </a:tc>
                <a:tc>
                  <a:txBody>
                    <a:bodyPr/>
                    <a:lstStyle/>
                    <a:p>
                      <a:r>
                        <a:rPr lang="vi-VN" b="1" dirty="0">
                          <a:latin typeface="Arial" panose="020B0604020202020204" pitchFamily="34" charset="0"/>
                          <a:cs typeface="Arial" panose="020B0604020202020204" pitchFamily="34" charset="0"/>
                        </a:rPr>
                        <a:t>Số mẫu tối thiểu</a:t>
                      </a:r>
                      <a:r>
                        <a:rPr lang="vi-VN" dirty="0">
                          <a:latin typeface="Arial" panose="020B0604020202020204" pitchFamily="34" charset="0"/>
                          <a:cs typeface="Arial" panose="020B0604020202020204" pitchFamily="34" charset="0"/>
                        </a:rPr>
                        <a:t> để nút đó được </a:t>
                      </a:r>
                      <a:r>
                        <a:rPr lang="vi-VN" b="1" dirty="0">
                          <a:latin typeface="Arial" panose="020B0604020202020204" pitchFamily="34" charset="0"/>
                          <a:cs typeface="Arial" panose="020B0604020202020204" pitchFamily="34" charset="0"/>
                        </a:rPr>
                        <a:t>phân tách</a:t>
                      </a:r>
                      <a:r>
                        <a:rPr lang="vi-VN"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txBody>
                  <a:tcPr/>
                </a:tc>
                <a:tc>
                  <a:txBody>
                    <a:bodyPr/>
                    <a:lstStyle/>
                    <a:p>
                      <a:r>
                        <a:rPr lang="en-US" dirty="0" err="1">
                          <a:latin typeface="Arial" panose="020B0604020202020204" pitchFamily="34" charset="0"/>
                          <a:cs typeface="Arial" panose="020B0604020202020204" pitchFamily="34" charset="0"/>
                        </a:rPr>
                        <a:t>Kiểm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soát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cây</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584757215"/>
                  </a:ext>
                </a:extLst>
              </a:tr>
              <a:tr h="1464407">
                <a:tc>
                  <a:txBody>
                    <a:bodyPr/>
                    <a:lstStyle/>
                    <a:p>
                      <a:r>
                        <a:rPr lang="en-US" dirty="0" err="1">
                          <a:latin typeface="Arial" panose="020B0604020202020204" pitchFamily="34" charset="0"/>
                          <a:cs typeface="Arial" panose="020B0604020202020204" pitchFamily="34" charset="0"/>
                        </a:rPr>
                        <a:t>min_samples_leaf</a:t>
                      </a:r>
                      <a:endParaRPr lang="en-US" dirty="0">
                        <a:latin typeface="Arial" panose="020B0604020202020204" pitchFamily="34" charset="0"/>
                        <a:cs typeface="Arial" panose="020B0604020202020204" pitchFamily="34" charset="0"/>
                      </a:endParaRPr>
                    </a:p>
                  </a:txBody>
                  <a:tcPr/>
                </a:tc>
                <a:tc>
                  <a:txBody>
                    <a:bodyPr/>
                    <a:lstStyle/>
                    <a:p>
                      <a:r>
                        <a:rPr lang="en-US" b="1" dirty="0" err="1">
                          <a:latin typeface="Arial" panose="020B0604020202020204" pitchFamily="34" charset="0"/>
                          <a:cs typeface="Arial" panose="020B0604020202020204" pitchFamily="34" charset="0"/>
                        </a:rPr>
                        <a:t>Số</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mẫu</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tối</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thiểu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phải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một</a:t>
                      </a:r>
                      <a:r>
                        <a:rPr lang="en-US"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Nút</a:t>
                      </a:r>
                      <a:r>
                        <a:rPr lang="en-US" b="1" dirty="0">
                          <a:latin typeface="Arial" panose="020B0604020202020204" pitchFamily="34" charset="0"/>
                          <a:cs typeface="Arial" panose="020B0604020202020204" pitchFamily="34" charset="0"/>
                        </a:rPr>
                        <a:t> Lá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cuối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cùng</a:t>
                      </a:r>
                      <a:r>
                        <a:rPr lang="en-US" dirty="0">
                          <a:latin typeface="Arial" panose="020B0604020202020204" pitchFamily="34" charset="0"/>
                          <a:cs typeface="Arial" panose="020B0604020202020204" pitchFamily="34" charset="0"/>
                        </a:rPr>
                        <a:t>).</a:t>
                      </a:r>
                    </a:p>
                  </a:txBody>
                  <a:tcPr/>
                </a:tc>
                <a:tc>
                  <a:txBody>
                    <a:bodyPr/>
                    <a:lstStyle/>
                    <a:p>
                      <a:r>
                        <a:rPr lang="en-US" dirty="0" err="1">
                          <a:latin typeface="Arial" panose="020B0604020202020204" pitchFamily="34" charset="0"/>
                          <a:cs typeface="Arial" panose="020B0604020202020204" pitchFamily="34" charset="0"/>
                        </a:rPr>
                        <a:t>Đảm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bảo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vững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chắc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21202868"/>
                  </a:ext>
                </a:extLst>
              </a:tr>
            </a:tbl>
          </a:graphicData>
        </a:graphic>
      </p:graphicFrame>
    </p:spTree>
    <p:extLst>
      <p:ext uri="{BB962C8B-B14F-4D97-AF65-F5344CB8AC3E}">
        <p14:creationId xmlns:p14="http://schemas.microsoft.com/office/powerpoint/2010/main" val="32504315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0DC10-6BE1-281A-94F2-54541F8C385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AD0DB1A-B13A-8526-447A-E2A7F8BF2AC7}"/>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1C6F0EA6-498B-EDF8-7658-7412F120641C}"/>
              </a:ext>
            </a:extLst>
          </p:cNvPr>
          <p:cNvSpPr txBox="1">
            <a:spLocks noGrp="1"/>
          </p:cNvSpPr>
          <p:nvPr>
            <p:ph type="title"/>
          </p:nvPr>
        </p:nvSpPr>
        <p:spPr>
          <a:xfrm>
            <a:off x="535940" y="295478"/>
            <a:ext cx="8608060" cy="566822"/>
          </a:xfrm>
          <a:prstGeom prst="rect">
            <a:avLst/>
          </a:prstGeom>
        </p:spPr>
        <p:txBody>
          <a:bodyPr vert="horz" wrap="square" lIns="0" tIns="12700" rIns="0" bIns="0" rtlCol="0">
            <a:spAutoFit/>
          </a:bodyPr>
          <a:lstStyle/>
          <a:p>
            <a:pPr marL="12700">
              <a:lnSpc>
                <a:spcPct val="100000"/>
              </a:lnSpc>
              <a:spcBef>
                <a:spcPts val="100"/>
              </a:spcBef>
            </a:pPr>
            <a:r>
              <a:rPr lang="en-US" sz="3600" dirty="0"/>
              <a:t>2.6. </a:t>
            </a:r>
            <a:r>
              <a:rPr lang="en-US" sz="3600" dirty="0" err="1"/>
              <a:t>Ưu</a:t>
            </a:r>
            <a:r>
              <a:rPr lang="en-US" sz="3600" dirty="0"/>
              <a:t>, </a:t>
            </a:r>
            <a:r>
              <a:rPr lang="en-US" sz="3600" dirty="0" err="1"/>
              <a:t>nhược</a:t>
            </a:r>
            <a:r>
              <a:rPr lang="en-US" sz="3600" dirty="0"/>
              <a:t> </a:t>
            </a:r>
            <a:r>
              <a:rPr lang="en-US" sz="3600" dirty="0" err="1"/>
              <a:t>điểm</a:t>
            </a:r>
            <a:r>
              <a:rPr lang="en-US" sz="3600" dirty="0"/>
              <a:t>:</a:t>
            </a:r>
            <a:endParaRPr sz="3600" spc="-10" dirty="0"/>
          </a:p>
        </p:txBody>
      </p:sp>
      <p:sp>
        <p:nvSpPr>
          <p:cNvPr id="10" name="object 10">
            <a:extLst>
              <a:ext uri="{FF2B5EF4-FFF2-40B4-BE49-F238E27FC236}">
                <a16:creationId xmlns:a16="http://schemas.microsoft.com/office/drawing/2014/main" id="{27C59FD9-FDAD-99A5-2ECF-F89F1FA3661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38</a:t>
            </a:fld>
            <a:endParaRPr spc="-25" dirty="0"/>
          </a:p>
        </p:txBody>
      </p:sp>
      <p:graphicFrame>
        <p:nvGraphicFramePr>
          <p:cNvPr id="4" name="Table 3">
            <a:extLst>
              <a:ext uri="{FF2B5EF4-FFF2-40B4-BE49-F238E27FC236}">
                <a16:creationId xmlns:a16="http://schemas.microsoft.com/office/drawing/2014/main" id="{A5B071BF-A037-035F-BD72-688E0826483A}"/>
              </a:ext>
            </a:extLst>
          </p:cNvPr>
          <p:cNvGraphicFramePr>
            <a:graphicFrameLocks noGrp="1"/>
          </p:cNvGraphicFramePr>
          <p:nvPr>
            <p:extLst>
              <p:ext uri="{D42A27DB-BD31-4B8C-83A1-F6EECF244321}">
                <p14:modId xmlns:p14="http://schemas.microsoft.com/office/powerpoint/2010/main" val="598450353"/>
              </p:ext>
            </p:extLst>
          </p:nvPr>
        </p:nvGraphicFramePr>
        <p:xfrm>
          <a:off x="0" y="825498"/>
          <a:ext cx="9065260" cy="3375916"/>
        </p:xfrm>
        <a:graphic>
          <a:graphicData uri="http://schemas.openxmlformats.org/drawingml/2006/table">
            <a:tbl>
              <a:tblPr firstRow="1" bandRow="1">
                <a:tableStyleId>{5C22544A-7EE6-4342-B048-85BDC9FD1C3A}</a:tableStyleId>
              </a:tblPr>
              <a:tblGrid>
                <a:gridCol w="4532630">
                  <a:extLst>
                    <a:ext uri="{9D8B030D-6E8A-4147-A177-3AD203B41FA5}">
                      <a16:colId xmlns:a16="http://schemas.microsoft.com/office/drawing/2014/main" val="2857258801"/>
                    </a:ext>
                  </a:extLst>
                </a:gridCol>
                <a:gridCol w="4532630">
                  <a:extLst>
                    <a:ext uri="{9D8B030D-6E8A-4147-A177-3AD203B41FA5}">
                      <a16:colId xmlns:a16="http://schemas.microsoft.com/office/drawing/2014/main" val="4221533702"/>
                    </a:ext>
                  </a:extLst>
                </a:gridCol>
              </a:tblGrid>
              <a:tr h="127002">
                <a:tc>
                  <a:txBody>
                    <a:bodyPr/>
                    <a:lstStyle/>
                    <a:p>
                      <a:pPr algn="ctr"/>
                      <a:r>
                        <a:rPr lang="en-US" dirty="0">
                          <a:latin typeface="Arial" panose="020B0604020202020204" pitchFamily="34" charset="0"/>
                          <a:cs typeface="Arial" panose="020B0604020202020204" pitchFamily="34" charset="0"/>
                        </a:rPr>
                        <a:t>ƯU ĐIỂM</a:t>
                      </a:r>
                    </a:p>
                  </a:txBody>
                  <a:tcPr/>
                </a:tc>
                <a:tc>
                  <a:txBody>
                    <a:bodyPr/>
                    <a:lstStyle/>
                    <a:p>
                      <a:pPr algn="ctr"/>
                      <a:r>
                        <a:rPr lang="en-US" dirty="0">
                          <a:latin typeface="Arial" panose="020B0604020202020204" pitchFamily="34" charset="0"/>
                          <a:cs typeface="Arial" panose="020B0604020202020204" pitchFamily="34" charset="0"/>
                        </a:rPr>
                        <a:t>NHƯỢC ĐIỂM</a:t>
                      </a:r>
                    </a:p>
                  </a:txBody>
                  <a:tcPr/>
                </a:tc>
                <a:extLst>
                  <a:ext uri="{0D108BD9-81ED-4DB2-BD59-A6C34878D82A}">
                    <a16:rowId xmlns:a16="http://schemas.microsoft.com/office/drawing/2014/main" val="1712334681"/>
                  </a:ext>
                </a:extLst>
              </a:tr>
              <a:tr h="3010156">
                <a:tc>
                  <a:txBody>
                    <a:bodyPr/>
                    <a:lstStyle/>
                    <a:p>
                      <a:r>
                        <a:rPr lang="vi-VN" dirty="0">
                          <a:latin typeface="+mn-lt"/>
                          <a:cs typeface="Arial" panose="020B0604020202020204" pitchFamily="34" charset="0"/>
                        </a:rPr>
                        <a:t>+ Độ chính xác trong phép dự đoán cao hơn</a:t>
                      </a:r>
                    </a:p>
                    <a:p>
                      <a:r>
                        <a:rPr lang="vi-VN" dirty="0">
                          <a:latin typeface="+mn-lt"/>
                          <a:cs typeface="Arial" panose="020B0604020202020204" pitchFamily="34" charset="0"/>
                        </a:rPr>
                        <a:t>+ Giảm sai số phương sai cũng như overfitting</a:t>
                      </a:r>
                      <a:endParaRPr lang="en-US" dirty="0">
                        <a:latin typeface="+mn-lt"/>
                        <a:cs typeface="Arial" panose="020B0604020202020204" pitchFamily="34" charset="0"/>
                      </a:endParaRPr>
                    </a:p>
                    <a:p>
                      <a:r>
                        <a:rPr lang="vi-VN" dirty="0">
                          <a:latin typeface="+mn-lt"/>
                          <a:cs typeface="Arial" panose="020B0604020202020204" pitchFamily="34" charset="0"/>
                        </a:rPr>
                        <a:t>+ Lấy được các đặc trưng quan trọng của input so với output dùng trong được phân loại lẫn hồi quy</a:t>
                      </a:r>
                    </a:p>
                    <a:p>
                      <a:r>
                        <a:rPr lang="vi-VN" dirty="0">
                          <a:latin typeface="+mn-lt"/>
                          <a:cs typeface="Arial" panose="020B0604020202020204" pitchFamily="34" charset="0"/>
                        </a:rPr>
                        <a:t>+ Thừa hưởng các ưu điểm của giải thuật bagging</a:t>
                      </a:r>
                      <a:endParaRPr lang="en-US" dirty="0">
                        <a:latin typeface="Arial" panose="020B0604020202020204" pitchFamily="34" charset="0"/>
                        <a:cs typeface="Arial" panose="020B0604020202020204" pitchFamily="34" charset="0"/>
                      </a:endParaRPr>
                    </a:p>
                  </a:txBody>
                  <a:tcPr/>
                </a:tc>
                <a:tc>
                  <a:txBody>
                    <a:bodyPr/>
                    <a:lstStyle/>
                    <a:p>
                      <a:r>
                        <a:rPr lang="vi-VN" b="0" dirty="0">
                          <a:latin typeface="+mn-lt"/>
                          <a:cs typeface="Arial" panose="020B0604020202020204" pitchFamily="34" charset="0"/>
                        </a:rPr>
                        <a:t>+ Tốn nhiều thời gian và tài nguyên phục vụ cho quá trình dự đoán do có nhiều cây quyết định </a:t>
                      </a:r>
                    </a:p>
                    <a:p>
                      <a:r>
                        <a:rPr lang="vi-VN" b="0" dirty="0">
                          <a:latin typeface="+mn-lt"/>
                          <a:cs typeface="Arial" panose="020B0604020202020204" pitchFamily="34" charset="0"/>
                        </a:rPr>
                        <a:t>+ Dễ thiên vị 1 loại dữ liệu mà bị chiếm ưu thế trong data</a:t>
                      </a:r>
                      <a:endParaRPr lang="en-US" b="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63721584"/>
                  </a:ext>
                </a:extLst>
              </a:tr>
            </a:tbl>
          </a:graphicData>
        </a:graphic>
      </p:graphicFrame>
    </p:spTree>
    <p:extLst>
      <p:ext uri="{BB962C8B-B14F-4D97-AF65-F5344CB8AC3E}">
        <p14:creationId xmlns:p14="http://schemas.microsoft.com/office/powerpoint/2010/main" val="8584549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1E71F-74A4-F6CA-D5FC-93CCEA22E9C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248A6CB-9A1B-F315-369A-9C9A05FCC82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AD15488B-004E-DBA6-482A-897F691AC8C5}"/>
              </a:ext>
            </a:extLst>
          </p:cNvPr>
          <p:cNvSpPr txBox="1">
            <a:spLocks noGrp="1"/>
          </p:cNvSpPr>
          <p:nvPr>
            <p:ph type="title"/>
          </p:nvPr>
        </p:nvSpPr>
        <p:spPr>
          <a:xfrm>
            <a:off x="535940" y="295478"/>
            <a:ext cx="8608060" cy="2782813"/>
          </a:xfrm>
          <a:prstGeom prst="rect">
            <a:avLst/>
          </a:prstGeom>
        </p:spPr>
        <p:txBody>
          <a:bodyPr vert="horz" wrap="square" lIns="0" tIns="12700" rIns="0" bIns="0" rtlCol="0">
            <a:spAutoFit/>
          </a:bodyPr>
          <a:lstStyle/>
          <a:p>
            <a:pPr marL="12700">
              <a:lnSpc>
                <a:spcPct val="100000"/>
              </a:lnSpc>
              <a:spcBef>
                <a:spcPts val="100"/>
              </a:spcBef>
            </a:pPr>
            <a:r>
              <a:rPr lang="en-US" sz="3600"/>
              <a:t>3.DEMO:</a:t>
            </a:r>
            <a:br>
              <a:rPr lang="en-US" sz="3600"/>
            </a:br>
            <a:r>
              <a:rPr lang="en-US" sz="3600"/>
              <a:t>3.1. Report_Bagging</a:t>
            </a:r>
            <a:br>
              <a:rPr lang="en-US" sz="3600"/>
            </a:br>
            <a:r>
              <a:rPr lang="en-US" sz="3600"/>
              <a:t>3.2. Report_RandomForest</a:t>
            </a:r>
            <a:br>
              <a:rPr lang="en-US" sz="3600"/>
            </a:br>
            <a:r>
              <a:rPr lang="en-US" sz="3600"/>
              <a:t>3.3. Report_Analysis</a:t>
            </a:r>
            <a:br>
              <a:rPr lang="en-US" sz="3600"/>
            </a:br>
            <a:endParaRPr sz="3600" spc="-10" dirty="0"/>
          </a:p>
        </p:txBody>
      </p:sp>
      <p:sp>
        <p:nvSpPr>
          <p:cNvPr id="10" name="object 10">
            <a:extLst>
              <a:ext uri="{FF2B5EF4-FFF2-40B4-BE49-F238E27FC236}">
                <a16:creationId xmlns:a16="http://schemas.microsoft.com/office/drawing/2014/main" id="{7D757B99-F68B-5611-3AFF-751258A7C76E}"/>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39</a:t>
            </a:fld>
            <a:endParaRPr spc="-25" dirty="0"/>
          </a:p>
        </p:txBody>
      </p:sp>
    </p:spTree>
    <p:extLst>
      <p:ext uri="{BB962C8B-B14F-4D97-AF65-F5344CB8AC3E}">
        <p14:creationId xmlns:p14="http://schemas.microsoft.com/office/powerpoint/2010/main" val="28500054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C7A8E-5B90-61A5-2790-3D087D2F932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781BC86-0430-E152-B5B3-16D06E9244AC}"/>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C1F68128-898D-E0B9-0852-DB4C04963CF8}"/>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3.1.1. Report_Bagging (Wine Quality Red)</a:t>
            </a:r>
            <a:br>
              <a:rPr lang="en-US" sz="3600" spc="-10"/>
            </a:br>
            <a:endParaRPr sz="3600" spc="-10" dirty="0"/>
          </a:p>
        </p:txBody>
      </p:sp>
      <p:sp>
        <p:nvSpPr>
          <p:cNvPr id="10" name="object 10">
            <a:extLst>
              <a:ext uri="{FF2B5EF4-FFF2-40B4-BE49-F238E27FC236}">
                <a16:creationId xmlns:a16="http://schemas.microsoft.com/office/drawing/2014/main" id="{470824C1-0F8A-AE17-7A3D-52FCD234FA77}"/>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40</a:t>
            </a:fld>
            <a:endParaRPr spc="-25" dirty="0"/>
          </a:p>
        </p:txBody>
      </p:sp>
      <p:sp>
        <p:nvSpPr>
          <p:cNvPr id="6" name="object 3">
            <a:extLst>
              <a:ext uri="{FF2B5EF4-FFF2-40B4-BE49-F238E27FC236}">
                <a16:creationId xmlns:a16="http://schemas.microsoft.com/office/drawing/2014/main" id="{94205D21-80AC-AF75-B2DA-6EC6564F4F84}"/>
              </a:ext>
            </a:extLst>
          </p:cNvPr>
          <p:cNvSpPr txBox="1">
            <a:spLocks/>
          </p:cNvSpPr>
          <p:nvPr/>
        </p:nvSpPr>
        <p:spPr>
          <a:xfrm>
            <a:off x="38099" y="1048413"/>
            <a:ext cx="8608060" cy="93615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dirty="0" err="1">
                <a:solidFill>
                  <a:schemeClr val="tx1"/>
                </a:solidFill>
                <a:latin typeface="Times New Roman" panose="02020603050405020304" pitchFamily="18" charset="0"/>
                <a:cs typeface="Times New Roman" panose="02020603050405020304" pitchFamily="18" charset="0"/>
              </a:rPr>
              <a:t>Tệp</a:t>
            </a:r>
            <a:r>
              <a:rPr lang="en-US" sz="2400" b="1" spc="-10" dirty="0">
                <a:solidFill>
                  <a:schemeClr val="tx1"/>
                </a:solidFill>
                <a:latin typeface="Times New Roman" panose="02020603050405020304" pitchFamily="18" charset="0"/>
                <a:cs typeface="Times New Roman" panose="02020603050405020304" pitchFamily="18" charset="0"/>
              </a:rPr>
              <a:t> </a:t>
            </a:r>
            <a:r>
              <a:rPr lang="en-US" sz="2400" b="1" spc="-10" dirty="0" err="1">
                <a:solidFill>
                  <a:schemeClr val="tx1"/>
                </a:solidFill>
                <a:latin typeface="Times New Roman" panose="02020603050405020304" pitchFamily="18" charset="0"/>
                <a:cs typeface="Times New Roman" panose="02020603050405020304" pitchFamily="18" charset="0"/>
              </a:rPr>
              <a:t>dữ</a:t>
            </a:r>
            <a:r>
              <a:rPr lang="en-US" sz="2400" b="1" spc="-10" dirty="0">
                <a:solidFill>
                  <a:schemeClr val="tx1"/>
                </a:solidFill>
                <a:latin typeface="Times New Roman" panose="02020603050405020304" pitchFamily="18" charset="0"/>
                <a:cs typeface="Times New Roman" panose="02020603050405020304" pitchFamily="18" charset="0"/>
              </a:rPr>
              <a:t> </a:t>
            </a:r>
            <a:r>
              <a:rPr lang="en-US" sz="2400" b="1" spc="-10" dirty="0" err="1">
                <a:solidFill>
                  <a:schemeClr val="tx1"/>
                </a:solidFill>
                <a:latin typeface="Times New Roman" panose="02020603050405020304" pitchFamily="18" charset="0"/>
                <a:cs typeface="Times New Roman" panose="02020603050405020304" pitchFamily="18" charset="0"/>
              </a:rPr>
              <a:t>liệu</a:t>
            </a:r>
            <a:r>
              <a:rPr lang="en-US" sz="2400" b="1" spc="-10" dirty="0">
                <a:solidFill>
                  <a:schemeClr val="tx1"/>
                </a:solidFill>
                <a:latin typeface="Times New Roman" panose="02020603050405020304" pitchFamily="18" charset="0"/>
                <a:cs typeface="Times New Roman" panose="02020603050405020304" pitchFamily="18" charset="0"/>
              </a:rPr>
              <a:t> Wine Quality Red</a:t>
            </a:r>
            <a:br>
              <a:rPr lang="en-US" sz="3600" spc="-10" dirty="0">
                <a:latin typeface="Times New Roman" panose="02020603050405020304" pitchFamily="18" charset="0"/>
                <a:cs typeface="Times New Roman" panose="02020603050405020304" pitchFamily="18" charset="0"/>
              </a:rPr>
            </a:br>
            <a:endParaRPr lang="en-US" sz="3600" spc="-10" dirty="0">
              <a:latin typeface="Times New Roman" panose="02020603050405020304" pitchFamily="18" charset="0"/>
              <a:cs typeface="Times New Roman" panose="02020603050405020304" pitchFamily="18" charset="0"/>
            </a:endParaRPr>
          </a:p>
        </p:txBody>
      </p:sp>
      <p:pic>
        <p:nvPicPr>
          <p:cNvPr id="4" name="Picture 3" descr="A screenshot of a computer&#10;&#10;AI-generated content may be incorrect.">
            <a:extLst>
              <a:ext uri="{FF2B5EF4-FFF2-40B4-BE49-F238E27FC236}">
                <a16:creationId xmlns:a16="http://schemas.microsoft.com/office/drawing/2014/main" id="{03818A4A-C26E-B5B2-2646-43254809FA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542397"/>
            <a:ext cx="7543800" cy="3601101"/>
          </a:xfrm>
          <a:prstGeom prst="rect">
            <a:avLst/>
          </a:prstGeom>
        </p:spPr>
      </p:pic>
    </p:spTree>
    <p:extLst>
      <p:ext uri="{BB962C8B-B14F-4D97-AF65-F5344CB8AC3E}">
        <p14:creationId xmlns:p14="http://schemas.microsoft.com/office/powerpoint/2010/main" val="2801471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72F42-4183-FDB1-208D-4BF7162CD2B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0D47553-9E6F-1EC4-2330-1D20548E6F6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F139C882-1EA6-5E20-F45F-D6772BAE537C}"/>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3.1.1. Report_Bagging (Wine Quality Red)</a:t>
            </a:r>
            <a:br>
              <a:rPr lang="en-US" sz="3600" spc="-10"/>
            </a:br>
            <a:endParaRPr sz="3600" spc="-10" dirty="0"/>
          </a:p>
        </p:txBody>
      </p:sp>
      <p:sp>
        <p:nvSpPr>
          <p:cNvPr id="10" name="object 10">
            <a:extLst>
              <a:ext uri="{FF2B5EF4-FFF2-40B4-BE49-F238E27FC236}">
                <a16:creationId xmlns:a16="http://schemas.microsoft.com/office/drawing/2014/main" id="{B8591510-D08B-DC30-E02C-C1A28BE5510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41</a:t>
            </a:fld>
            <a:endParaRPr spc="-25" dirty="0"/>
          </a:p>
        </p:txBody>
      </p:sp>
      <p:sp>
        <p:nvSpPr>
          <p:cNvPr id="6" name="object 3">
            <a:extLst>
              <a:ext uri="{FF2B5EF4-FFF2-40B4-BE49-F238E27FC236}">
                <a16:creationId xmlns:a16="http://schemas.microsoft.com/office/drawing/2014/main" id="{7A86E08F-DE29-F8A2-1EC6-61688AE8103E}"/>
              </a:ext>
            </a:extLst>
          </p:cNvPr>
          <p:cNvSpPr txBox="1">
            <a:spLocks/>
          </p:cNvSpPr>
          <p:nvPr/>
        </p:nvSpPr>
        <p:spPr>
          <a:xfrm>
            <a:off x="38099" y="1048413"/>
            <a:ext cx="8608060" cy="93615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tổng thể</a:t>
            </a:r>
            <a:br>
              <a:rPr lang="en-US" sz="3600" spc="-10">
                <a:latin typeface="Times New Roman" panose="02020603050405020304" pitchFamily="18" charset="0"/>
                <a:cs typeface="Times New Roman" panose="02020603050405020304" pitchFamily="18" charset="0"/>
              </a:rPr>
            </a:br>
            <a:endParaRPr lang="en-US" sz="3600" spc="-1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DB3E6434-A042-682F-8BD6-E5C5126EDE8F}"/>
              </a:ext>
            </a:extLst>
          </p:cNvPr>
          <p:cNvGraphicFramePr>
            <a:graphicFrameLocks noGrp="1"/>
          </p:cNvGraphicFramePr>
          <p:nvPr>
            <p:extLst>
              <p:ext uri="{D42A27DB-BD31-4B8C-83A1-F6EECF244321}">
                <p14:modId xmlns:p14="http://schemas.microsoft.com/office/powerpoint/2010/main" val="2524906275"/>
              </p:ext>
            </p:extLst>
          </p:nvPr>
        </p:nvGraphicFramePr>
        <p:xfrm>
          <a:off x="444500" y="1562100"/>
          <a:ext cx="8255001" cy="3013132"/>
        </p:xfrm>
        <a:graphic>
          <a:graphicData uri="http://schemas.openxmlformats.org/drawingml/2006/table">
            <a:tbl>
              <a:tblPr firstRow="1" firstCol="1" bandRow="1">
                <a:tableStyleId>{5C22544A-7EE6-4342-B048-85BDC9FD1C3A}</a:tableStyleId>
              </a:tblPr>
              <a:tblGrid>
                <a:gridCol w="2751667">
                  <a:extLst>
                    <a:ext uri="{9D8B030D-6E8A-4147-A177-3AD203B41FA5}">
                      <a16:colId xmlns:a16="http://schemas.microsoft.com/office/drawing/2014/main" val="2419802191"/>
                    </a:ext>
                  </a:extLst>
                </a:gridCol>
                <a:gridCol w="2751667">
                  <a:extLst>
                    <a:ext uri="{9D8B030D-6E8A-4147-A177-3AD203B41FA5}">
                      <a16:colId xmlns:a16="http://schemas.microsoft.com/office/drawing/2014/main" val="1432851674"/>
                    </a:ext>
                  </a:extLst>
                </a:gridCol>
                <a:gridCol w="2751667">
                  <a:extLst>
                    <a:ext uri="{9D8B030D-6E8A-4147-A177-3AD203B41FA5}">
                      <a16:colId xmlns:a16="http://schemas.microsoft.com/office/drawing/2014/main" val="2295132724"/>
                    </a:ext>
                  </a:extLst>
                </a:gridCol>
              </a:tblGrid>
              <a:tr h="437740">
                <a:tc>
                  <a:txBody>
                    <a:bodyPr/>
                    <a:lstStyle/>
                    <a:p>
                      <a:pPr marL="0" marR="0" algn="just">
                        <a:lnSpc>
                          <a:spcPct val="107000"/>
                        </a:lnSpc>
                        <a:spcAft>
                          <a:spcPts val="2400"/>
                        </a:spcAft>
                        <a:buNone/>
                      </a:pPr>
                      <a:r>
                        <a:rPr lang="en-US" sz="1300" kern="100">
                          <a:effectLst/>
                        </a:rPr>
                        <a:t>Chỉ số</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300" kern="100">
                          <a:effectLst/>
                        </a:rPr>
                        <a:t>Giá trị</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300" kern="100">
                          <a:effectLst/>
                        </a:rPr>
                        <a:t>Nhận định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87625696"/>
                  </a:ext>
                </a:extLst>
              </a:tr>
              <a:tr h="858464">
                <a:tc>
                  <a:txBody>
                    <a:bodyPr/>
                    <a:lstStyle/>
                    <a:p>
                      <a:pPr marL="0" marR="0" algn="just">
                        <a:lnSpc>
                          <a:spcPct val="107000"/>
                        </a:lnSpc>
                        <a:spcAft>
                          <a:spcPts val="2400"/>
                        </a:spcAft>
                        <a:buNone/>
                      </a:pPr>
                      <a:r>
                        <a:rPr lang="en-US" sz="1300" kern="100">
                          <a:effectLst/>
                        </a:rPr>
                        <a:t>Test Accuracy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300" kern="100">
                          <a:effectLst/>
                        </a:rPr>
                        <a:t> 0.6719  (67.19%)</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300" kern="100">
                          <a:effectLst/>
                        </a:rPr>
                        <a:t>Mô hình dự đoán đúng khoảng hai phần ba (2/3) mẫu kiểm tra.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82378304"/>
                  </a:ext>
                </a:extLst>
              </a:tr>
              <a:tr h="858464">
                <a:tc>
                  <a:txBody>
                    <a:bodyPr/>
                    <a:lstStyle/>
                    <a:p>
                      <a:pPr marL="0" marR="0" algn="just">
                        <a:lnSpc>
                          <a:spcPct val="107000"/>
                        </a:lnSpc>
                        <a:spcAft>
                          <a:spcPts val="2400"/>
                        </a:spcAft>
                        <a:buNone/>
                      </a:pPr>
                      <a:r>
                        <a:rPr lang="en-US" sz="1300" kern="100">
                          <a:effectLst/>
                        </a:rPr>
                        <a:t>OOB 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300" kern="100">
                          <a:effectLst/>
                        </a:rPr>
                        <a:t> 0.6919  (69.19%)</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300" kern="100">
                          <a:effectLst/>
                        </a:rPr>
                        <a:t>Độ chính xác ước tính nội tại, cao hơn một chút so với Test Accuracy.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29826384"/>
                  </a:ext>
                </a:extLst>
              </a:tr>
              <a:tr h="858464">
                <a:tc>
                  <a:txBody>
                    <a:bodyPr/>
                    <a:lstStyle/>
                    <a:p>
                      <a:pPr marL="0" marR="0" algn="just">
                        <a:lnSpc>
                          <a:spcPct val="107000"/>
                        </a:lnSpc>
                        <a:spcAft>
                          <a:spcPts val="2400"/>
                        </a:spcAft>
                        <a:buNone/>
                      </a:pPr>
                      <a:r>
                        <a:rPr lang="en-US" sz="1300" kern="100">
                          <a:effectLst/>
                        </a:rPr>
                        <a:t>Số mẫu kiểm tra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300" kern="100">
                          <a:effectLst/>
                        </a:rPr>
                        <a:t>320</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300" kern="100">
                          <a:effectLst/>
                        </a:rPr>
                        <a:t>Kích thước mẫu đủ lớn để đánh giá mô hình.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89078507"/>
                  </a:ext>
                </a:extLst>
              </a:tr>
            </a:tbl>
          </a:graphicData>
        </a:graphic>
      </p:graphicFrame>
    </p:spTree>
    <p:extLst>
      <p:ext uri="{BB962C8B-B14F-4D97-AF65-F5344CB8AC3E}">
        <p14:creationId xmlns:p14="http://schemas.microsoft.com/office/powerpoint/2010/main" val="30522184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3171E-48E0-B2EF-84DC-1C98429D8AF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C7ECEA8-F503-C699-BB90-6447A1D79574}"/>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A22DE644-544F-FC74-D8CF-80034DBC9D4C}"/>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3.1. Report_Bagging (Wine Quality Red)</a:t>
            </a:r>
            <a:br>
              <a:rPr lang="en-US" sz="3600" spc="-10"/>
            </a:br>
            <a:endParaRPr sz="3600" spc="-10" dirty="0"/>
          </a:p>
        </p:txBody>
      </p:sp>
      <p:sp>
        <p:nvSpPr>
          <p:cNvPr id="10" name="object 10">
            <a:extLst>
              <a:ext uri="{FF2B5EF4-FFF2-40B4-BE49-F238E27FC236}">
                <a16:creationId xmlns:a16="http://schemas.microsoft.com/office/drawing/2014/main" id="{23132467-CA4E-C60E-581E-9377F820A16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42</a:t>
            </a:fld>
            <a:endParaRPr spc="-25" dirty="0"/>
          </a:p>
        </p:txBody>
      </p:sp>
      <p:sp>
        <p:nvSpPr>
          <p:cNvPr id="6" name="object 3">
            <a:extLst>
              <a:ext uri="{FF2B5EF4-FFF2-40B4-BE49-F238E27FC236}">
                <a16:creationId xmlns:a16="http://schemas.microsoft.com/office/drawing/2014/main" id="{523016E5-9C1E-773C-00EA-F58A5921F857}"/>
              </a:ext>
            </a:extLst>
          </p:cNvPr>
          <p:cNvSpPr txBox="1">
            <a:spLocks/>
          </p:cNvSpPr>
          <p:nvPr/>
        </p:nvSpPr>
        <p:spPr>
          <a:xfrm>
            <a:off x="38099" y="1048413"/>
            <a:ext cx="8608060" cy="93615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tổng thể</a:t>
            </a:r>
            <a:br>
              <a:rPr lang="en-US" sz="3600" spc="-10">
                <a:latin typeface="Times New Roman" panose="02020603050405020304" pitchFamily="18" charset="0"/>
                <a:cs typeface="Times New Roman" panose="02020603050405020304" pitchFamily="18" charset="0"/>
              </a:rPr>
            </a:br>
            <a:endParaRPr lang="en-US" sz="3600" spc="-1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4BD99AC-C35D-297E-6144-1A8135BF4A79}"/>
              </a:ext>
            </a:extLst>
          </p:cNvPr>
          <p:cNvPicPr>
            <a:picLocks noChangeAspect="1"/>
          </p:cNvPicPr>
          <p:nvPr/>
        </p:nvPicPr>
        <p:blipFill>
          <a:blip r:embed="rId2"/>
          <a:stretch>
            <a:fillRect/>
          </a:stretch>
        </p:blipFill>
        <p:spPr>
          <a:xfrm>
            <a:off x="497841" y="1416299"/>
            <a:ext cx="7579359" cy="3650999"/>
          </a:xfrm>
          <a:prstGeom prst="rect">
            <a:avLst/>
          </a:prstGeom>
        </p:spPr>
      </p:pic>
    </p:spTree>
    <p:extLst>
      <p:ext uri="{BB962C8B-B14F-4D97-AF65-F5344CB8AC3E}">
        <p14:creationId xmlns:p14="http://schemas.microsoft.com/office/powerpoint/2010/main" val="26745048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984B6-9FC0-2995-9D03-2C1E773FD39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72D02DB-5122-7E21-530F-ADAB915A9BB2}"/>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ADCBA289-106E-76AF-A699-DEB7BD4CB1E3}"/>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3.1. Report_Bagging (Wine Quality Red)</a:t>
            </a:r>
            <a:br>
              <a:rPr lang="en-US" sz="3600" spc="-10"/>
            </a:br>
            <a:endParaRPr sz="3600" spc="-10" dirty="0"/>
          </a:p>
        </p:txBody>
      </p:sp>
      <p:sp>
        <p:nvSpPr>
          <p:cNvPr id="10" name="object 10">
            <a:extLst>
              <a:ext uri="{FF2B5EF4-FFF2-40B4-BE49-F238E27FC236}">
                <a16:creationId xmlns:a16="http://schemas.microsoft.com/office/drawing/2014/main" id="{4A290F3F-9077-978C-465D-B614D049F59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43</a:t>
            </a:fld>
            <a:endParaRPr spc="-25" dirty="0"/>
          </a:p>
        </p:txBody>
      </p:sp>
      <p:sp>
        <p:nvSpPr>
          <p:cNvPr id="6" name="object 3">
            <a:extLst>
              <a:ext uri="{FF2B5EF4-FFF2-40B4-BE49-F238E27FC236}">
                <a16:creationId xmlns:a16="http://schemas.microsoft.com/office/drawing/2014/main" id="{D47497B9-3026-22FE-44CD-974C3D6D244B}"/>
              </a:ext>
            </a:extLst>
          </p:cNvPr>
          <p:cNvSpPr txBox="1">
            <a:spLocks/>
          </p:cNvSpPr>
          <p:nvPr/>
        </p:nvSpPr>
        <p:spPr>
          <a:xfrm>
            <a:off x="38099" y="1048413"/>
            <a:ext cx="8608060" cy="93615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tổng thể</a:t>
            </a:r>
            <a:br>
              <a:rPr lang="en-US" sz="3600" spc="-10">
                <a:latin typeface="Times New Roman" panose="02020603050405020304" pitchFamily="18" charset="0"/>
                <a:cs typeface="Times New Roman" panose="02020603050405020304" pitchFamily="18" charset="0"/>
              </a:rPr>
            </a:br>
            <a:endParaRPr lang="en-US" sz="3600" spc="-1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AD0BBD1-0BAE-F49A-9227-1CAE95730D3E}"/>
              </a:ext>
            </a:extLst>
          </p:cNvPr>
          <p:cNvPicPr>
            <a:picLocks noChangeAspect="1"/>
          </p:cNvPicPr>
          <p:nvPr/>
        </p:nvPicPr>
        <p:blipFill>
          <a:blip r:embed="rId2"/>
          <a:stretch>
            <a:fillRect/>
          </a:stretch>
        </p:blipFill>
        <p:spPr>
          <a:xfrm>
            <a:off x="497842" y="1416299"/>
            <a:ext cx="8036558" cy="3517675"/>
          </a:xfrm>
          <a:prstGeom prst="rect">
            <a:avLst/>
          </a:prstGeom>
        </p:spPr>
      </p:pic>
    </p:spTree>
    <p:extLst>
      <p:ext uri="{BB962C8B-B14F-4D97-AF65-F5344CB8AC3E}">
        <p14:creationId xmlns:p14="http://schemas.microsoft.com/office/powerpoint/2010/main" val="22544063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CFA43-9B69-C011-C5C7-68953A50E62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6EC5A6D-581D-CA42-7C88-CBE7F8D63426}"/>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6A2EDFC4-DA48-CA4A-CDE2-C5B3BFEE2647}"/>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3.1. Report_Bagging (Wine Quality Red)</a:t>
            </a:r>
            <a:br>
              <a:rPr lang="en-US" sz="3600" spc="-10"/>
            </a:br>
            <a:endParaRPr sz="3600" spc="-10" dirty="0"/>
          </a:p>
        </p:txBody>
      </p:sp>
      <p:sp>
        <p:nvSpPr>
          <p:cNvPr id="10" name="object 10">
            <a:extLst>
              <a:ext uri="{FF2B5EF4-FFF2-40B4-BE49-F238E27FC236}">
                <a16:creationId xmlns:a16="http://schemas.microsoft.com/office/drawing/2014/main" id="{EEA6657A-B82F-85FA-819D-5A56C705FEB0}"/>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44</a:t>
            </a:fld>
            <a:endParaRPr spc="-25" dirty="0"/>
          </a:p>
        </p:txBody>
      </p:sp>
      <p:sp>
        <p:nvSpPr>
          <p:cNvPr id="6" name="object 3">
            <a:extLst>
              <a:ext uri="{FF2B5EF4-FFF2-40B4-BE49-F238E27FC236}">
                <a16:creationId xmlns:a16="http://schemas.microsoft.com/office/drawing/2014/main" id="{9D822D77-1398-AE2C-C6EC-EFE773537775}"/>
              </a:ext>
            </a:extLst>
          </p:cNvPr>
          <p:cNvSpPr txBox="1">
            <a:spLocks/>
          </p:cNvSpPr>
          <p:nvPr/>
        </p:nvSpPr>
        <p:spPr>
          <a:xfrm>
            <a:off x="38099" y="1048413"/>
            <a:ext cx="8608060" cy="93615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tổng thể</a:t>
            </a:r>
            <a:br>
              <a:rPr lang="en-US" sz="3600" spc="-10">
                <a:latin typeface="Times New Roman" panose="02020603050405020304" pitchFamily="18" charset="0"/>
                <a:cs typeface="Times New Roman" panose="02020603050405020304" pitchFamily="18" charset="0"/>
              </a:rPr>
            </a:br>
            <a:endParaRPr lang="en-US" sz="3600" spc="-1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BFAB3EB5-F72D-EA35-5FDA-55B0F354E63E}"/>
              </a:ext>
            </a:extLst>
          </p:cNvPr>
          <p:cNvGraphicFramePr>
            <a:graphicFrameLocks noGrp="1"/>
          </p:cNvGraphicFramePr>
          <p:nvPr>
            <p:extLst>
              <p:ext uri="{D42A27DB-BD31-4B8C-83A1-F6EECF244321}">
                <p14:modId xmlns:p14="http://schemas.microsoft.com/office/powerpoint/2010/main" val="808069497"/>
              </p:ext>
            </p:extLst>
          </p:nvPr>
        </p:nvGraphicFramePr>
        <p:xfrm>
          <a:off x="457199" y="1416299"/>
          <a:ext cx="8188962" cy="3517674"/>
        </p:xfrm>
        <a:graphic>
          <a:graphicData uri="http://schemas.openxmlformats.org/drawingml/2006/table">
            <a:tbl>
              <a:tblPr firstRow="1" firstCol="1" bandRow="1">
                <a:tableStyleId>{5C22544A-7EE6-4342-B048-85BDC9FD1C3A}</a:tableStyleId>
              </a:tblPr>
              <a:tblGrid>
                <a:gridCol w="1364827">
                  <a:extLst>
                    <a:ext uri="{9D8B030D-6E8A-4147-A177-3AD203B41FA5}">
                      <a16:colId xmlns:a16="http://schemas.microsoft.com/office/drawing/2014/main" val="551892359"/>
                    </a:ext>
                  </a:extLst>
                </a:gridCol>
                <a:gridCol w="692574">
                  <a:extLst>
                    <a:ext uri="{9D8B030D-6E8A-4147-A177-3AD203B41FA5}">
                      <a16:colId xmlns:a16="http://schemas.microsoft.com/office/drawing/2014/main" val="3127063758"/>
                    </a:ext>
                  </a:extLst>
                </a:gridCol>
                <a:gridCol w="1219200">
                  <a:extLst>
                    <a:ext uri="{9D8B030D-6E8A-4147-A177-3AD203B41FA5}">
                      <a16:colId xmlns:a16="http://schemas.microsoft.com/office/drawing/2014/main" val="842064540"/>
                    </a:ext>
                  </a:extLst>
                </a:gridCol>
                <a:gridCol w="990600">
                  <a:extLst>
                    <a:ext uri="{9D8B030D-6E8A-4147-A177-3AD203B41FA5}">
                      <a16:colId xmlns:a16="http://schemas.microsoft.com/office/drawing/2014/main" val="11682684"/>
                    </a:ext>
                  </a:extLst>
                </a:gridCol>
                <a:gridCol w="838200">
                  <a:extLst>
                    <a:ext uri="{9D8B030D-6E8A-4147-A177-3AD203B41FA5}">
                      <a16:colId xmlns:a16="http://schemas.microsoft.com/office/drawing/2014/main" val="2596233232"/>
                    </a:ext>
                  </a:extLst>
                </a:gridCol>
                <a:gridCol w="3083561">
                  <a:extLst>
                    <a:ext uri="{9D8B030D-6E8A-4147-A177-3AD203B41FA5}">
                      <a16:colId xmlns:a16="http://schemas.microsoft.com/office/drawing/2014/main" val="675846399"/>
                    </a:ext>
                  </a:extLst>
                </a:gridCol>
              </a:tblGrid>
              <a:tr h="367237">
                <a:tc>
                  <a:txBody>
                    <a:bodyPr/>
                    <a:lstStyle/>
                    <a:p>
                      <a:pPr marL="0" marR="0" algn="just">
                        <a:lnSpc>
                          <a:spcPct val="107000"/>
                        </a:lnSpc>
                        <a:spcAft>
                          <a:spcPts val="2400"/>
                        </a:spcAft>
                        <a:buNone/>
                      </a:pPr>
                      <a:r>
                        <a:rPr lang="en-US" sz="1050" kern="100">
                          <a:effectLst/>
                        </a:rPr>
                        <a:t>Lớp (Quality)</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Support (Số mẫu)</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Precision</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Recall</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F1-Score</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Phân tích</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extLst>
                  <a:ext uri="{0D108BD9-81ED-4DB2-BD59-A6C34878D82A}">
                    <a16:rowId xmlns:a16="http://schemas.microsoft.com/office/drawing/2014/main" val="3663443460"/>
                  </a:ext>
                </a:extLst>
              </a:tr>
              <a:tr h="540483">
                <a:tc>
                  <a:txBody>
                    <a:bodyPr/>
                    <a:lstStyle/>
                    <a:p>
                      <a:pPr marL="0" marR="0" algn="just">
                        <a:lnSpc>
                          <a:spcPct val="107000"/>
                        </a:lnSpc>
                        <a:spcAft>
                          <a:spcPts val="2400"/>
                        </a:spcAft>
                        <a:buNone/>
                      </a:pPr>
                      <a:r>
                        <a:rPr lang="en-US" sz="1050" kern="100">
                          <a:effectLst/>
                        </a:rPr>
                        <a:t>3</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2</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0.00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0.00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0.00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Thất bại hoàn toàn. Không có mẫu nào được dự đoán đúng là Chất lượng 3.</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extLst>
                  <a:ext uri="{0D108BD9-81ED-4DB2-BD59-A6C34878D82A}">
                    <a16:rowId xmlns:a16="http://schemas.microsoft.com/office/drawing/2014/main" val="8587164"/>
                  </a:ext>
                </a:extLst>
              </a:tr>
              <a:tr h="432870">
                <a:tc>
                  <a:txBody>
                    <a:bodyPr/>
                    <a:lstStyle/>
                    <a:p>
                      <a:pPr marL="0" marR="0" algn="just">
                        <a:lnSpc>
                          <a:spcPct val="107000"/>
                        </a:lnSpc>
                        <a:spcAft>
                          <a:spcPts val="2400"/>
                        </a:spcAft>
                        <a:buNone/>
                      </a:pPr>
                      <a:r>
                        <a:rPr lang="en-US" sz="1050" kern="100">
                          <a:effectLst/>
                        </a:rPr>
                        <a:t>4</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11</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0.00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0.00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0.00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Thất bại hoàn toàn. Mô hình không nhận ra được rượu Chất lượng 4.</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extLst>
                  <a:ext uri="{0D108BD9-81ED-4DB2-BD59-A6C34878D82A}">
                    <a16:rowId xmlns:a16="http://schemas.microsoft.com/office/drawing/2014/main" val="4025610146"/>
                  </a:ext>
                </a:extLst>
              </a:tr>
              <a:tr h="432870">
                <a:tc>
                  <a:txBody>
                    <a:bodyPr/>
                    <a:lstStyle/>
                    <a:p>
                      <a:pPr marL="0" marR="0" algn="just">
                        <a:lnSpc>
                          <a:spcPct val="107000"/>
                        </a:lnSpc>
                        <a:spcAft>
                          <a:spcPts val="2400"/>
                        </a:spcAft>
                        <a:buNone/>
                      </a:pPr>
                      <a:r>
                        <a:rPr lang="en-US" sz="1050" kern="100">
                          <a:effectLst/>
                        </a:rPr>
                        <a:t>5</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136</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0.70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0.75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0.73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Hiệu suất tốt. Lớp lớn nhất được dự đoán với Recall cao ( 75\%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extLst>
                  <a:ext uri="{0D108BD9-81ED-4DB2-BD59-A6C34878D82A}">
                    <a16:rowId xmlns:a16="http://schemas.microsoft.com/office/drawing/2014/main" val="3356429108"/>
                  </a:ext>
                </a:extLst>
              </a:tr>
              <a:tr h="432870">
                <a:tc>
                  <a:txBody>
                    <a:bodyPr/>
                    <a:lstStyle/>
                    <a:p>
                      <a:pPr marL="0" marR="0" algn="just">
                        <a:lnSpc>
                          <a:spcPct val="107000"/>
                        </a:lnSpc>
                        <a:spcAft>
                          <a:spcPts val="2400"/>
                        </a:spcAft>
                        <a:buNone/>
                      </a:pPr>
                      <a:r>
                        <a:rPr lang="en-US" sz="1050" kern="100">
                          <a:effectLst/>
                        </a:rPr>
                        <a:t>6</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128</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0.63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0.70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0.67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Hiệu suất tốt. Lớp lớn thứ hai, dự đoán được  70\%  số mẫu.</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extLst>
                  <a:ext uri="{0D108BD9-81ED-4DB2-BD59-A6C34878D82A}">
                    <a16:rowId xmlns:a16="http://schemas.microsoft.com/office/drawing/2014/main" val="574581686"/>
                  </a:ext>
                </a:extLst>
              </a:tr>
              <a:tr h="970935">
                <a:tc>
                  <a:txBody>
                    <a:bodyPr/>
                    <a:lstStyle/>
                    <a:p>
                      <a:pPr marL="0" marR="0" algn="just">
                        <a:lnSpc>
                          <a:spcPct val="107000"/>
                        </a:lnSpc>
                        <a:spcAft>
                          <a:spcPts val="2400"/>
                        </a:spcAft>
                        <a:buNone/>
                      </a:pPr>
                      <a:r>
                        <a:rPr lang="en-US" sz="1050" kern="100">
                          <a:effectLst/>
                        </a:rPr>
                        <a:t>7</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40</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0.76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0.55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0.64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Precision cao nhất. Khi mô hình dự đoán là  7 , nó đúng  76\%  số lần. Tuy nhiên, Recall  0.55  cho thấy nó bỏ sót gần một nửa số rượu Chất lượng 7.</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extLst>
                  <a:ext uri="{0D108BD9-81ED-4DB2-BD59-A6C34878D82A}">
                    <a16:rowId xmlns:a16="http://schemas.microsoft.com/office/drawing/2014/main" val="1461087680"/>
                  </a:ext>
                </a:extLst>
              </a:tr>
              <a:tr h="340409">
                <a:tc>
                  <a:txBody>
                    <a:bodyPr/>
                    <a:lstStyle/>
                    <a:p>
                      <a:pPr marL="0" marR="0" algn="just">
                        <a:lnSpc>
                          <a:spcPct val="107000"/>
                        </a:lnSpc>
                        <a:spcAft>
                          <a:spcPts val="2400"/>
                        </a:spcAft>
                        <a:buNone/>
                      </a:pPr>
                      <a:r>
                        <a:rPr lang="en-US" sz="1050" kern="100">
                          <a:effectLst/>
                        </a:rPr>
                        <a:t>8</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3</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0.33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0.33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 0.33 </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tc>
                  <a:txBody>
                    <a:bodyPr/>
                    <a:lstStyle/>
                    <a:p>
                      <a:pPr marL="0" marR="0" algn="just">
                        <a:lnSpc>
                          <a:spcPct val="107000"/>
                        </a:lnSpc>
                        <a:spcAft>
                          <a:spcPts val="2400"/>
                        </a:spcAft>
                        <a:buNone/>
                      </a:pPr>
                      <a:r>
                        <a:rPr lang="en-US" sz="1050" kern="100">
                          <a:effectLst/>
                        </a:rPr>
                        <a:t>Kết quả rất yếu do số lượng mẫu quá ít (chỉ 3 mẫu).</a:t>
                      </a:r>
                      <a:endParaRPr lang="en-US" sz="105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926" marR="5926" marT="5926" marB="5926" anchor="ctr"/>
                </a:tc>
                <a:extLst>
                  <a:ext uri="{0D108BD9-81ED-4DB2-BD59-A6C34878D82A}">
                    <a16:rowId xmlns:a16="http://schemas.microsoft.com/office/drawing/2014/main" val="64643705"/>
                  </a:ext>
                </a:extLst>
              </a:tr>
            </a:tbl>
          </a:graphicData>
        </a:graphic>
      </p:graphicFrame>
    </p:spTree>
    <p:extLst>
      <p:ext uri="{BB962C8B-B14F-4D97-AF65-F5344CB8AC3E}">
        <p14:creationId xmlns:p14="http://schemas.microsoft.com/office/powerpoint/2010/main" val="11654147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3713D-0D28-95D6-77DB-E19B4A87FF1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18F4BB-7A41-26E6-0370-E807924A736A}"/>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C96C6291-BB19-98A5-5C53-2A64538E678A}"/>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3.1. Report_Bagging (Wine Quality Red)</a:t>
            </a:r>
            <a:br>
              <a:rPr lang="en-US" sz="3600" spc="-10"/>
            </a:br>
            <a:endParaRPr sz="3600" spc="-10" dirty="0"/>
          </a:p>
        </p:txBody>
      </p:sp>
      <p:sp>
        <p:nvSpPr>
          <p:cNvPr id="10" name="object 10">
            <a:extLst>
              <a:ext uri="{FF2B5EF4-FFF2-40B4-BE49-F238E27FC236}">
                <a16:creationId xmlns:a16="http://schemas.microsoft.com/office/drawing/2014/main" id="{E5230D0D-1E10-B95E-C9DD-FB34E0ED48A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45</a:t>
            </a:fld>
            <a:endParaRPr spc="-25" dirty="0"/>
          </a:p>
        </p:txBody>
      </p:sp>
      <p:sp>
        <p:nvSpPr>
          <p:cNvPr id="6" name="object 3">
            <a:extLst>
              <a:ext uri="{FF2B5EF4-FFF2-40B4-BE49-F238E27FC236}">
                <a16:creationId xmlns:a16="http://schemas.microsoft.com/office/drawing/2014/main" id="{7D799CD9-4FA6-FA26-131F-B3873B9860D5}"/>
              </a:ext>
            </a:extLst>
          </p:cNvPr>
          <p:cNvSpPr txBox="1">
            <a:spLocks/>
          </p:cNvSpPr>
          <p:nvPr/>
        </p:nvSpPr>
        <p:spPr>
          <a:xfrm>
            <a:off x="572516" y="1083937"/>
            <a:ext cx="8342884" cy="354712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tổng thể</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342900" lvl="0" indent="-342900">
              <a:buFont typeface="Wingdings" panose="05000000000000000000" pitchFamily="2" charset="2"/>
              <a:buChar char="§"/>
            </a:pPr>
            <a:r>
              <a:rPr lang="en-US" sz="2000" b="1">
                <a:solidFill>
                  <a:schemeClr val="tx1"/>
                </a:solidFill>
                <a:latin typeface="Times New Roman" panose="02020603050405020304" pitchFamily="18" charset="0"/>
                <a:cs typeface="Times New Roman" panose="02020603050405020304" pitchFamily="18" charset="0"/>
              </a:rPr>
              <a:t>Thiên vị Lớp Trung bình:</a:t>
            </a:r>
            <a:r>
              <a:rPr lang="en-US" sz="2000">
                <a:solidFill>
                  <a:schemeClr val="tx1"/>
                </a:solidFill>
                <a:latin typeface="Times New Roman" panose="02020603050405020304" pitchFamily="18" charset="0"/>
                <a:cs typeface="Times New Roman" panose="02020603050405020304" pitchFamily="18" charset="0"/>
              </a:rPr>
              <a:t> Mô hình hoạt động tốt nhất ở các lớp trung bình </a:t>
            </a:r>
            <a:r>
              <a:rPr lang="en-US" sz="2000" b="1">
                <a:solidFill>
                  <a:schemeClr val="tx1"/>
                </a:solidFill>
                <a:latin typeface="Times New Roman" panose="02020603050405020304" pitchFamily="18" charset="0"/>
                <a:cs typeface="Times New Roman" panose="02020603050405020304" pitchFamily="18" charset="0"/>
              </a:rPr>
              <a:t>5</a:t>
            </a:r>
            <a:r>
              <a:rPr lang="en-US" sz="2000">
                <a:solidFill>
                  <a:schemeClr val="tx1"/>
                </a:solidFill>
                <a:latin typeface="Times New Roman" panose="02020603050405020304" pitchFamily="18" charset="0"/>
                <a:cs typeface="Times New Roman" panose="02020603050405020304" pitchFamily="18" charset="0"/>
              </a:rPr>
              <a:t> và </a:t>
            </a:r>
            <a:r>
              <a:rPr lang="en-US" sz="2000" b="1">
                <a:solidFill>
                  <a:schemeClr val="tx1"/>
                </a:solidFill>
                <a:latin typeface="Times New Roman" panose="02020603050405020304" pitchFamily="18" charset="0"/>
                <a:cs typeface="Times New Roman" panose="02020603050405020304" pitchFamily="18" charset="0"/>
              </a:rPr>
              <a:t>6</a:t>
            </a:r>
            <a:r>
              <a:rPr lang="en-US" sz="2000">
                <a:solidFill>
                  <a:schemeClr val="tx1"/>
                </a:solidFill>
                <a:latin typeface="Times New Roman" panose="02020603050405020304" pitchFamily="18" charset="0"/>
                <a:cs typeface="Times New Roman" panose="02020603050405020304" pitchFamily="18" charset="0"/>
              </a:rPr>
              <a:t> (tổng cộng  264/320  mẫu). Độ chính xác tập trung vào hai lớp này.</a:t>
            </a:r>
          </a:p>
          <a:p>
            <a:pPr lvl="0"/>
            <a:endParaRPr lang="en-US" sz="2000">
              <a:solidFill>
                <a:schemeClr val="tx1"/>
              </a:solidFill>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
            </a:pPr>
            <a:r>
              <a:rPr lang="en-US" sz="2000" b="1">
                <a:solidFill>
                  <a:schemeClr val="tx1"/>
                </a:solidFill>
                <a:latin typeface="Times New Roman" panose="02020603050405020304" pitchFamily="18" charset="0"/>
                <a:cs typeface="Times New Roman" panose="02020603050405020304" pitchFamily="18" charset="0"/>
              </a:rPr>
              <a:t>Khó khăn với Lớp Biên:</a:t>
            </a:r>
            <a:r>
              <a:rPr lang="en-US" sz="2000">
                <a:solidFill>
                  <a:schemeClr val="tx1"/>
                </a:solidFill>
                <a:latin typeface="Times New Roman" panose="02020603050405020304" pitchFamily="18" charset="0"/>
                <a:cs typeface="Times New Roman" panose="02020603050405020304" pitchFamily="18" charset="0"/>
              </a:rPr>
              <a:t> Mô hình hoàn toàn thất bại ( F1=0.00 ) với các lớp chất lượng rất thấp (</a:t>
            </a:r>
            <a:r>
              <a:rPr lang="en-US" sz="2000" b="1">
                <a:solidFill>
                  <a:schemeClr val="tx1"/>
                </a:solidFill>
                <a:latin typeface="Times New Roman" panose="02020603050405020304" pitchFamily="18" charset="0"/>
                <a:cs typeface="Times New Roman" panose="02020603050405020304" pitchFamily="18" charset="0"/>
              </a:rPr>
              <a:t>3, 4</a:t>
            </a:r>
            <a:r>
              <a:rPr lang="en-US" sz="2000">
                <a:solidFill>
                  <a:schemeClr val="tx1"/>
                </a:solidFill>
                <a:latin typeface="Times New Roman" panose="02020603050405020304" pitchFamily="18" charset="0"/>
                <a:cs typeface="Times New Roman" panose="02020603050405020304" pitchFamily="18" charset="0"/>
              </a:rPr>
              <a:t>) do số lượng mẫu quá nhỏ (mất cân bằng lớp nghiêm trọng). Ngay cả lớp chất lượng cao nhất (</a:t>
            </a:r>
            <a:r>
              <a:rPr lang="en-US" sz="2000" b="1">
                <a:solidFill>
                  <a:schemeClr val="tx1"/>
                </a:solidFill>
                <a:latin typeface="Times New Roman" panose="02020603050405020304" pitchFamily="18" charset="0"/>
                <a:cs typeface="Times New Roman" panose="02020603050405020304" pitchFamily="18" charset="0"/>
              </a:rPr>
              <a:t>8</a:t>
            </a:r>
            <a:r>
              <a:rPr lang="en-US" sz="2000">
                <a:solidFill>
                  <a:schemeClr val="tx1"/>
                </a:solidFill>
                <a:latin typeface="Times New Roman" panose="02020603050405020304" pitchFamily="18" charset="0"/>
                <a:cs typeface="Times New Roman" panose="02020603050405020304" pitchFamily="18" charset="0"/>
              </a:rPr>
              <a:t>) cũng bị dự đoán rất kém ( F1=0.33 ).</a:t>
            </a:r>
          </a:p>
          <a:p>
            <a:pPr marL="12700">
              <a:spcBef>
                <a:spcPts val="100"/>
              </a:spcBef>
            </a:pPr>
            <a:br>
              <a:rPr lang="en-US" sz="2000" spc="-10">
                <a:solidFill>
                  <a:schemeClr val="tx1"/>
                </a:solidFill>
                <a:latin typeface="Times New Roman" panose="02020603050405020304" pitchFamily="18" charset="0"/>
                <a:cs typeface="Times New Roman" panose="02020603050405020304" pitchFamily="18" charset="0"/>
              </a:rPr>
            </a:br>
            <a:endParaRPr lang="en-US" sz="2000" spc="-1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03275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33C11-7CD4-C46F-EE9E-43793570613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5E95FCE-DD93-F2BF-77BD-847E0C449684}"/>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A3E37E25-6C10-C688-591D-ABA67AF7DDB0}"/>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3.1. Report_Bagging (Wine Quality Red)</a:t>
            </a:r>
            <a:br>
              <a:rPr lang="en-US" sz="3600" spc="-10"/>
            </a:br>
            <a:endParaRPr sz="3600" spc="-10" dirty="0"/>
          </a:p>
        </p:txBody>
      </p:sp>
      <p:sp>
        <p:nvSpPr>
          <p:cNvPr id="10" name="object 10">
            <a:extLst>
              <a:ext uri="{FF2B5EF4-FFF2-40B4-BE49-F238E27FC236}">
                <a16:creationId xmlns:a16="http://schemas.microsoft.com/office/drawing/2014/main" id="{721A4161-67A0-6BB9-55FD-883715DDA2A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46</a:t>
            </a:fld>
            <a:endParaRPr spc="-25" dirty="0"/>
          </a:p>
        </p:txBody>
      </p:sp>
      <p:sp>
        <p:nvSpPr>
          <p:cNvPr id="6" name="object 3">
            <a:extLst>
              <a:ext uri="{FF2B5EF4-FFF2-40B4-BE49-F238E27FC236}">
                <a16:creationId xmlns:a16="http://schemas.microsoft.com/office/drawing/2014/main" id="{7EFB9FE9-71F1-77BE-9DBE-EEC9AAA1F0B1}"/>
              </a:ext>
            </a:extLst>
          </p:cNvPr>
          <p:cNvSpPr txBox="1">
            <a:spLocks/>
          </p:cNvSpPr>
          <p:nvPr/>
        </p:nvSpPr>
        <p:spPr>
          <a:xfrm>
            <a:off x="490728" y="1052244"/>
            <a:ext cx="8229600" cy="4196020"/>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Vai trò của Giải thuật Bagging</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Độ tin cậy của mô hình chính (RF): </a:t>
            </a:r>
            <a:r>
              <a:rPr lang="en-US" sz="2400" spc="-10">
                <a:solidFill>
                  <a:schemeClr val="tx1"/>
                </a:solidFill>
                <a:latin typeface="Times New Roman" panose="02020603050405020304" pitchFamily="18" charset="0"/>
                <a:cs typeface="Times New Roman" panose="02020603050405020304" pitchFamily="18" charset="0"/>
              </a:rPr>
              <a:t>thành công trong việc tạo ra một mô hình ổn định so với Decision Tree đơn lẻ.</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Hạn chế của Dữ liệu:</a:t>
            </a:r>
            <a:r>
              <a:rPr lang="en-US" sz="2400" spc="-10">
                <a:solidFill>
                  <a:schemeClr val="tx1"/>
                </a:solidFill>
                <a:latin typeface="Times New Roman" panose="02020603050405020304" pitchFamily="18" charset="0"/>
                <a:cs typeface="Times New Roman" panose="02020603050405020304" pitchFamily="18" charset="0"/>
              </a:rPr>
              <a:t> Bagging không khắc phục được vấn đề </a:t>
            </a:r>
            <a:r>
              <a:rPr lang="en-US" sz="2400" b="1" spc="-10">
                <a:solidFill>
                  <a:schemeClr val="tx1"/>
                </a:solidFill>
                <a:latin typeface="Times New Roman" panose="02020603050405020304" pitchFamily="18" charset="0"/>
                <a:cs typeface="Times New Roman" panose="02020603050405020304" pitchFamily="18" charset="0"/>
              </a:rPr>
              <a:t>thiếu dữ liệu(Bias) </a:t>
            </a:r>
            <a:r>
              <a:rPr lang="en-US" sz="2400" spc="-10">
                <a:solidFill>
                  <a:schemeClr val="tx1"/>
                </a:solidFill>
                <a:latin typeface="Times New Roman" panose="02020603050405020304" pitchFamily="18" charset="0"/>
                <a:cs typeface="Times New Roman" panose="02020603050405020304" pitchFamily="18" charset="0"/>
              </a:rPr>
              <a:t>cho các lớp thiểu số.</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Macro Avg vs. Weighted Avg:</a:t>
            </a:r>
          </a:p>
          <a:p>
            <a:pPr marL="355600" lvl="1" indent="-342900">
              <a:spcBef>
                <a:spcPts val="100"/>
              </a:spcBef>
              <a:buFont typeface="Courier New" panose="02070309020205020404" pitchFamily="49" charset="0"/>
              <a:buChar char="o"/>
            </a:pPr>
            <a:endParaRPr lang="en-US" sz="100"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000" spc="-10">
                <a:solidFill>
                  <a:schemeClr val="tx1"/>
                </a:solidFill>
                <a:latin typeface="Times New Roman" panose="02020603050405020304" pitchFamily="18" charset="0"/>
                <a:cs typeface="Times New Roman" panose="02020603050405020304" pitchFamily="18" charset="0"/>
              </a:rPr>
              <a:t>                    </a:t>
            </a:r>
            <a:r>
              <a:rPr lang="en-US" sz="2000" b="1" spc="-10">
                <a:solidFill>
                  <a:schemeClr val="tx1"/>
                </a:solidFill>
                <a:latin typeface="Times New Roman" panose="02020603050405020304" pitchFamily="18" charset="0"/>
                <a:cs typeface="Times New Roman" panose="02020603050405020304" pitchFamily="18" charset="0"/>
              </a:rPr>
              <a:t>Weighted Avg (0,66): </a:t>
            </a:r>
            <a:r>
              <a:rPr lang="en-US" sz="2000" spc="-10">
                <a:solidFill>
                  <a:schemeClr val="tx1"/>
                </a:solidFill>
                <a:latin typeface="Times New Roman" panose="02020603050405020304" pitchFamily="18" charset="0"/>
                <a:cs typeface="Times New Roman" panose="02020603050405020304" pitchFamily="18" charset="0"/>
              </a:rPr>
              <a:t>Phản ánh tổng hiệu suất, bị kéo lên bởi các lớp lớn (5, 6).</a:t>
            </a:r>
          </a:p>
          <a:p>
            <a:pPr marL="12700">
              <a:spcBef>
                <a:spcPts val="100"/>
              </a:spcBef>
            </a:pPr>
            <a:r>
              <a:rPr lang="en-US" sz="2000" spc="-10">
                <a:solidFill>
                  <a:schemeClr val="tx1"/>
                </a:solidFill>
                <a:latin typeface="Times New Roman" panose="02020603050405020304" pitchFamily="18" charset="0"/>
                <a:cs typeface="Times New Roman" panose="02020603050405020304" pitchFamily="18" charset="0"/>
              </a:rPr>
              <a:t>	      </a:t>
            </a:r>
            <a:r>
              <a:rPr lang="en-US" sz="2000" b="1" spc="-10">
                <a:solidFill>
                  <a:schemeClr val="tx1"/>
                </a:solidFill>
                <a:latin typeface="Times New Roman" panose="02020603050405020304" pitchFamily="18" charset="0"/>
                <a:cs typeface="Times New Roman" panose="02020603050405020304" pitchFamily="18" charset="0"/>
              </a:rPr>
              <a:t>Marco Avg (0,39): </a:t>
            </a:r>
            <a:r>
              <a:rPr lang="en-US" sz="2000" spc="-10">
                <a:solidFill>
                  <a:schemeClr val="tx1"/>
                </a:solidFill>
                <a:latin typeface="Times New Roman" panose="02020603050405020304" pitchFamily="18" charset="0"/>
                <a:cs typeface="Times New Roman" panose="02020603050405020304" pitchFamily="18" charset="0"/>
              </a:rPr>
              <a:t>Phản ánh hiệu suất nếu tất cả các lớp có hiệu suất ngang nhau. Giá trị 0,39 cho thấy sự phân loại các lớp thiểu số là rất tệ, làm hỏng kết quả tổng thể.</a:t>
            </a:r>
            <a:br>
              <a:rPr lang="en-US" sz="2000" spc="-10">
                <a:solidFill>
                  <a:schemeClr val="tx1"/>
                </a:solidFill>
                <a:latin typeface="Times New Roman" panose="02020603050405020304" pitchFamily="18" charset="0"/>
                <a:cs typeface="Times New Roman" panose="02020603050405020304" pitchFamily="18" charset="0"/>
              </a:rPr>
            </a:br>
            <a:endParaRPr lang="en-US" sz="2000" spc="-1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99796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8494E-52D4-021C-5F06-194600AFB6A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C9C8CE9-F1E6-697C-5B5B-CFBF0D58DCCD}"/>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C305C069-A85E-29E5-60D2-CE7C45CF35EC}"/>
              </a:ext>
            </a:extLst>
          </p:cNvPr>
          <p:cNvSpPr txBox="1">
            <a:spLocks noGrp="1"/>
          </p:cNvSpPr>
          <p:nvPr>
            <p:ph type="title"/>
          </p:nvPr>
        </p:nvSpPr>
        <p:spPr>
          <a:xfrm>
            <a:off x="457200" y="295479"/>
            <a:ext cx="8608060" cy="1674817"/>
          </a:xfrm>
          <a:prstGeom prst="rect">
            <a:avLst/>
          </a:prstGeom>
        </p:spPr>
        <p:txBody>
          <a:bodyPr vert="horz" wrap="square" lIns="0" tIns="12700" rIns="0" bIns="0" rtlCol="0">
            <a:spAutoFit/>
          </a:bodyPr>
          <a:lstStyle/>
          <a:p>
            <a:pPr marL="12700">
              <a:lnSpc>
                <a:spcPct val="100000"/>
              </a:lnSpc>
              <a:spcBef>
                <a:spcPts val="100"/>
              </a:spcBef>
            </a:pPr>
            <a:r>
              <a:rPr lang="en-US" sz="3600" spc="-10"/>
              <a:t>3.1.2 Report_Bagging (Wine Quality White)</a:t>
            </a:r>
            <a:br>
              <a:rPr lang="en-US" sz="3600" spc="-10"/>
            </a:br>
            <a:endParaRPr sz="3600" spc="-10" dirty="0"/>
          </a:p>
        </p:txBody>
      </p:sp>
      <p:sp>
        <p:nvSpPr>
          <p:cNvPr id="10" name="object 10">
            <a:extLst>
              <a:ext uri="{FF2B5EF4-FFF2-40B4-BE49-F238E27FC236}">
                <a16:creationId xmlns:a16="http://schemas.microsoft.com/office/drawing/2014/main" id="{6ABD5114-561A-03FC-0000-B5A74B4FC4CE}"/>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47</a:t>
            </a:fld>
            <a:endParaRPr spc="-25" dirty="0"/>
          </a:p>
        </p:txBody>
      </p:sp>
      <p:sp>
        <p:nvSpPr>
          <p:cNvPr id="6" name="object 3">
            <a:extLst>
              <a:ext uri="{FF2B5EF4-FFF2-40B4-BE49-F238E27FC236}">
                <a16:creationId xmlns:a16="http://schemas.microsoft.com/office/drawing/2014/main" id="{F3F48AED-7D11-E29F-8968-700B9D674721}"/>
              </a:ext>
            </a:extLst>
          </p:cNvPr>
          <p:cNvSpPr txBox="1">
            <a:spLocks/>
          </p:cNvSpPr>
          <p:nvPr/>
        </p:nvSpPr>
        <p:spPr>
          <a:xfrm>
            <a:off x="61248" y="133350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Tệp dữ liệu Wine Quality White</a:t>
            </a:r>
          </a:p>
        </p:txBody>
      </p:sp>
      <p:pic>
        <p:nvPicPr>
          <p:cNvPr id="7" name="Picture 6" descr="A screenshot of a computer&#10;&#10;AI-generated content may be incorrect.">
            <a:extLst>
              <a:ext uri="{FF2B5EF4-FFF2-40B4-BE49-F238E27FC236}">
                <a16:creationId xmlns:a16="http://schemas.microsoft.com/office/drawing/2014/main" id="{EF486EEC-9C91-E1CE-B251-64D09292D4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715656"/>
            <a:ext cx="7727950" cy="3218317"/>
          </a:xfrm>
          <a:prstGeom prst="rect">
            <a:avLst/>
          </a:prstGeom>
        </p:spPr>
      </p:pic>
    </p:spTree>
    <p:extLst>
      <p:ext uri="{BB962C8B-B14F-4D97-AF65-F5344CB8AC3E}">
        <p14:creationId xmlns:p14="http://schemas.microsoft.com/office/powerpoint/2010/main" val="5245181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65373-31A8-96A9-2A0D-83966FCF2A4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05868D2-1493-ABF3-70B8-BBA59A5E6E42}"/>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41FFAF5F-637D-C546-413D-AA8767C44B1C}"/>
              </a:ext>
            </a:extLst>
          </p:cNvPr>
          <p:cNvSpPr txBox="1">
            <a:spLocks noGrp="1"/>
          </p:cNvSpPr>
          <p:nvPr>
            <p:ph type="title"/>
          </p:nvPr>
        </p:nvSpPr>
        <p:spPr>
          <a:xfrm>
            <a:off x="457200" y="295479"/>
            <a:ext cx="8608060" cy="1674817"/>
          </a:xfrm>
          <a:prstGeom prst="rect">
            <a:avLst/>
          </a:prstGeom>
        </p:spPr>
        <p:txBody>
          <a:bodyPr vert="horz" wrap="square" lIns="0" tIns="12700" rIns="0" bIns="0" rtlCol="0">
            <a:spAutoFit/>
          </a:bodyPr>
          <a:lstStyle/>
          <a:p>
            <a:pPr marL="12700">
              <a:lnSpc>
                <a:spcPct val="100000"/>
              </a:lnSpc>
              <a:spcBef>
                <a:spcPts val="100"/>
              </a:spcBef>
            </a:pPr>
            <a:r>
              <a:rPr lang="en-US" sz="3600" spc="-10"/>
              <a:t>3.1.2 Report_Bagging (Wine Quality White)</a:t>
            </a:r>
            <a:br>
              <a:rPr lang="en-US" sz="3600" spc="-10"/>
            </a:br>
            <a:endParaRPr sz="3600" spc="-10" dirty="0"/>
          </a:p>
        </p:txBody>
      </p:sp>
      <p:sp>
        <p:nvSpPr>
          <p:cNvPr id="10" name="object 10">
            <a:extLst>
              <a:ext uri="{FF2B5EF4-FFF2-40B4-BE49-F238E27FC236}">
                <a16:creationId xmlns:a16="http://schemas.microsoft.com/office/drawing/2014/main" id="{49638639-6FC3-AD03-B6A1-587486C0993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48</a:t>
            </a:fld>
            <a:endParaRPr spc="-25" dirty="0"/>
          </a:p>
        </p:txBody>
      </p:sp>
      <p:sp>
        <p:nvSpPr>
          <p:cNvPr id="6" name="object 3">
            <a:extLst>
              <a:ext uri="{FF2B5EF4-FFF2-40B4-BE49-F238E27FC236}">
                <a16:creationId xmlns:a16="http://schemas.microsoft.com/office/drawing/2014/main" id="{3B4540A8-7FE2-1CA3-23B5-AD7E44882AAD}"/>
              </a:ext>
            </a:extLst>
          </p:cNvPr>
          <p:cNvSpPr txBox="1">
            <a:spLocks/>
          </p:cNvSpPr>
          <p:nvPr/>
        </p:nvSpPr>
        <p:spPr>
          <a:xfrm>
            <a:off x="61248" y="133350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tổng thể: </a:t>
            </a:r>
          </a:p>
        </p:txBody>
      </p:sp>
      <p:graphicFrame>
        <p:nvGraphicFramePr>
          <p:cNvPr id="4" name="Table 3">
            <a:extLst>
              <a:ext uri="{FF2B5EF4-FFF2-40B4-BE49-F238E27FC236}">
                <a16:creationId xmlns:a16="http://schemas.microsoft.com/office/drawing/2014/main" id="{19111F4E-FAEF-EBC0-3E3C-B99F4F15E0BF}"/>
              </a:ext>
            </a:extLst>
          </p:cNvPr>
          <p:cNvGraphicFramePr>
            <a:graphicFrameLocks noGrp="1"/>
          </p:cNvGraphicFramePr>
          <p:nvPr/>
        </p:nvGraphicFramePr>
        <p:xfrm>
          <a:off x="444500" y="1715656"/>
          <a:ext cx="8255001" cy="2589644"/>
        </p:xfrm>
        <a:graphic>
          <a:graphicData uri="http://schemas.openxmlformats.org/drawingml/2006/table">
            <a:tbl>
              <a:tblPr firstRow="1" firstCol="1" bandRow="1">
                <a:tableStyleId>{5C22544A-7EE6-4342-B048-85BDC9FD1C3A}</a:tableStyleId>
              </a:tblPr>
              <a:tblGrid>
                <a:gridCol w="2751667">
                  <a:extLst>
                    <a:ext uri="{9D8B030D-6E8A-4147-A177-3AD203B41FA5}">
                      <a16:colId xmlns:a16="http://schemas.microsoft.com/office/drawing/2014/main" val="4143536584"/>
                    </a:ext>
                  </a:extLst>
                </a:gridCol>
                <a:gridCol w="2751667">
                  <a:extLst>
                    <a:ext uri="{9D8B030D-6E8A-4147-A177-3AD203B41FA5}">
                      <a16:colId xmlns:a16="http://schemas.microsoft.com/office/drawing/2014/main" val="796932445"/>
                    </a:ext>
                  </a:extLst>
                </a:gridCol>
                <a:gridCol w="2751667">
                  <a:extLst>
                    <a:ext uri="{9D8B030D-6E8A-4147-A177-3AD203B41FA5}">
                      <a16:colId xmlns:a16="http://schemas.microsoft.com/office/drawing/2014/main" val="3192921543"/>
                    </a:ext>
                  </a:extLst>
                </a:gridCol>
              </a:tblGrid>
              <a:tr h="438347">
                <a:tc>
                  <a:txBody>
                    <a:bodyPr/>
                    <a:lstStyle/>
                    <a:p>
                      <a:pPr marL="0" marR="0" algn="just">
                        <a:lnSpc>
                          <a:spcPct val="107000"/>
                        </a:lnSpc>
                        <a:spcAft>
                          <a:spcPts val="2400"/>
                        </a:spcAft>
                        <a:buNone/>
                      </a:pPr>
                      <a:r>
                        <a:rPr lang="en-US" sz="1200" kern="100">
                          <a:effectLst/>
                        </a:rPr>
                        <a:t>Chỉ số</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Giá trị</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Nhận định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53902187"/>
                  </a:ext>
                </a:extLst>
              </a:tr>
              <a:tr h="856475">
                <a:tc>
                  <a:txBody>
                    <a:bodyPr/>
                    <a:lstStyle/>
                    <a:p>
                      <a:pPr marL="0" marR="0" algn="just">
                        <a:lnSpc>
                          <a:spcPct val="107000"/>
                        </a:lnSpc>
                        <a:spcAft>
                          <a:spcPts val="2400"/>
                        </a:spcAft>
                        <a:buNone/>
                      </a:pPr>
                      <a:r>
                        <a:rPr lang="en-US" sz="1200" kern="100">
                          <a:effectLst/>
                        </a:rPr>
                        <a:t>Test Accuracy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0.6490  (64.90%)</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Mô hình dự đoán đúng khoảng  65\%  số mẫu kiểm tra.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68704826"/>
                  </a:ext>
                </a:extLst>
              </a:tr>
              <a:tr h="438347">
                <a:tc>
                  <a:txBody>
                    <a:bodyPr/>
                    <a:lstStyle/>
                    <a:p>
                      <a:pPr marL="0" marR="0" algn="just">
                        <a:lnSpc>
                          <a:spcPct val="107000"/>
                        </a:lnSpc>
                        <a:spcAft>
                          <a:spcPts val="2400"/>
                        </a:spcAft>
                        <a:buNone/>
                      </a:pPr>
                      <a:r>
                        <a:rPr lang="en-US" sz="1200" kern="100">
                          <a:effectLst/>
                        </a:rPr>
                        <a:t>OOB 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0.6810  (68.10%)</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Độ chính xác ước tính nội tại.</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12565997"/>
                  </a:ext>
                </a:extLst>
              </a:tr>
              <a:tr h="856475">
                <a:tc>
                  <a:txBody>
                    <a:bodyPr/>
                    <a:lstStyle/>
                    <a:p>
                      <a:pPr marL="0" marR="0" algn="just">
                        <a:lnSpc>
                          <a:spcPct val="107000"/>
                        </a:lnSpc>
                        <a:spcAft>
                          <a:spcPts val="2400"/>
                        </a:spcAft>
                        <a:buNone/>
                      </a:pPr>
                      <a:r>
                        <a:rPr lang="en-US" sz="1200" kern="100">
                          <a:effectLst/>
                        </a:rPr>
                        <a:t>Số mẫu kiểm tra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980</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Kích thước tập kiểm tra lớn, đảm bảo tính đại diện cho kết quả.</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12335281"/>
                  </a:ext>
                </a:extLst>
              </a:tr>
            </a:tbl>
          </a:graphicData>
        </a:graphic>
      </p:graphicFrame>
      <p:sp>
        <p:nvSpPr>
          <p:cNvPr id="5" name="object 3">
            <a:extLst>
              <a:ext uri="{FF2B5EF4-FFF2-40B4-BE49-F238E27FC236}">
                <a16:creationId xmlns:a16="http://schemas.microsoft.com/office/drawing/2014/main" id="{EBD130F9-FB34-CE55-5D6F-A6F69D5B6575}"/>
              </a:ext>
            </a:extLst>
          </p:cNvPr>
          <p:cNvSpPr txBox="1">
            <a:spLocks/>
          </p:cNvSpPr>
          <p:nvPr/>
        </p:nvSpPr>
        <p:spPr>
          <a:xfrm>
            <a:off x="51602" y="4418635"/>
            <a:ext cx="8608060" cy="1010533"/>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
            </a:pPr>
            <a:r>
              <a:rPr lang="en-US" sz="2000">
                <a:solidFill>
                  <a:schemeClr val="tx1"/>
                </a:solidFill>
                <a:latin typeface="Times New Roman" panose="02020603050405020304" pitchFamily="18" charset="0"/>
                <a:cs typeface="Times New Roman" panose="02020603050405020304" pitchFamily="18" charset="0"/>
              </a:rPr>
              <a:t>Mô hình Bagging Ensemble đạt được độ chính xác trung bình cho bài toán phân loại chất lượng rượu ( 3  đến  9 ):</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8522877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42B3D-3073-353E-7B58-B2A9F520D9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4352230-E824-F751-54BB-1EE0F0A85AC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285DC2E2-63E0-C79C-B95B-3CFFB85E8859}"/>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3.1.2 Report_Bagging(Wine Quality White)</a:t>
            </a:r>
            <a:br>
              <a:rPr lang="en-US" sz="3600" spc="-10"/>
            </a:br>
            <a:endParaRPr sz="3600" spc="-10" dirty="0"/>
          </a:p>
        </p:txBody>
      </p:sp>
      <p:sp>
        <p:nvSpPr>
          <p:cNvPr id="10" name="object 10">
            <a:extLst>
              <a:ext uri="{FF2B5EF4-FFF2-40B4-BE49-F238E27FC236}">
                <a16:creationId xmlns:a16="http://schemas.microsoft.com/office/drawing/2014/main" id="{D36DFA49-5CE2-CEB5-FDDA-DDAE028922B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49</a:t>
            </a:fld>
            <a:endParaRPr spc="-25" dirty="0"/>
          </a:p>
        </p:txBody>
      </p:sp>
      <p:sp>
        <p:nvSpPr>
          <p:cNvPr id="6" name="object 3">
            <a:extLst>
              <a:ext uri="{FF2B5EF4-FFF2-40B4-BE49-F238E27FC236}">
                <a16:creationId xmlns:a16="http://schemas.microsoft.com/office/drawing/2014/main" id="{B6A8D9E7-B597-F574-A16E-F4DC593F8238}"/>
              </a:ext>
            </a:extLst>
          </p:cNvPr>
          <p:cNvSpPr txBox="1">
            <a:spLocks/>
          </p:cNvSpPr>
          <p:nvPr/>
        </p:nvSpPr>
        <p:spPr>
          <a:xfrm>
            <a:off x="-33759" y="839188"/>
            <a:ext cx="8608060" cy="764312"/>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Classification Report</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D89D7AE0-BF5E-FFEB-81C6-C2AFA638CF06}"/>
              </a:ext>
            </a:extLst>
          </p:cNvPr>
          <p:cNvSpPr txBox="1">
            <a:spLocks/>
          </p:cNvSpPr>
          <p:nvPr/>
        </p:nvSpPr>
        <p:spPr>
          <a:xfrm>
            <a:off x="51602" y="4418635"/>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798B03C0-852A-8183-47F0-36EC17119806}"/>
              </a:ext>
            </a:extLst>
          </p:cNvPr>
          <p:cNvPicPr>
            <a:picLocks noChangeAspect="1"/>
          </p:cNvPicPr>
          <p:nvPr/>
        </p:nvPicPr>
        <p:blipFill>
          <a:blip r:embed="rId2"/>
          <a:stretch>
            <a:fillRect/>
          </a:stretch>
        </p:blipFill>
        <p:spPr>
          <a:xfrm>
            <a:off x="457199" y="1257302"/>
            <a:ext cx="7696201" cy="3758683"/>
          </a:xfrm>
          <a:prstGeom prst="rect">
            <a:avLst/>
          </a:prstGeom>
        </p:spPr>
      </p:pic>
    </p:spTree>
    <p:extLst>
      <p:ext uri="{BB962C8B-B14F-4D97-AF65-F5344CB8AC3E}">
        <p14:creationId xmlns:p14="http://schemas.microsoft.com/office/powerpoint/2010/main" val="29326993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A0AD4-11D6-55E7-498F-F7F59F61290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10448CF-FB83-A963-6B77-19A3FA3E8CC0}"/>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61DDB3C8-9649-94B0-16C9-1899340B13C6}"/>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3.1.2 Report_Bagging(Wine Quality White)</a:t>
            </a:r>
            <a:br>
              <a:rPr lang="en-US" sz="3600" spc="-10"/>
            </a:br>
            <a:endParaRPr sz="3600" spc="-10" dirty="0"/>
          </a:p>
        </p:txBody>
      </p:sp>
      <p:sp>
        <p:nvSpPr>
          <p:cNvPr id="10" name="object 10">
            <a:extLst>
              <a:ext uri="{FF2B5EF4-FFF2-40B4-BE49-F238E27FC236}">
                <a16:creationId xmlns:a16="http://schemas.microsoft.com/office/drawing/2014/main" id="{7833A8BE-B876-8010-E6D2-22AA5112A940}"/>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50</a:t>
            </a:fld>
            <a:endParaRPr spc="-25" dirty="0"/>
          </a:p>
        </p:txBody>
      </p:sp>
      <p:sp>
        <p:nvSpPr>
          <p:cNvPr id="6" name="object 3">
            <a:extLst>
              <a:ext uri="{FF2B5EF4-FFF2-40B4-BE49-F238E27FC236}">
                <a16:creationId xmlns:a16="http://schemas.microsoft.com/office/drawing/2014/main" id="{698DE7AB-6AD6-EB14-E5DF-65A8BC02BD8F}"/>
              </a:ext>
            </a:extLst>
          </p:cNvPr>
          <p:cNvSpPr txBox="1">
            <a:spLocks/>
          </p:cNvSpPr>
          <p:nvPr/>
        </p:nvSpPr>
        <p:spPr>
          <a:xfrm>
            <a:off x="-33759" y="839188"/>
            <a:ext cx="8608060" cy="764312"/>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Classification Report</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B1700893-59C8-22C3-A928-40180A821413}"/>
              </a:ext>
            </a:extLst>
          </p:cNvPr>
          <p:cNvSpPr txBox="1">
            <a:spLocks/>
          </p:cNvSpPr>
          <p:nvPr/>
        </p:nvSpPr>
        <p:spPr>
          <a:xfrm>
            <a:off x="51602" y="4418635"/>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8" name="Picture 7">
            <a:extLst>
              <a:ext uri="{FF2B5EF4-FFF2-40B4-BE49-F238E27FC236}">
                <a16:creationId xmlns:a16="http://schemas.microsoft.com/office/drawing/2014/main" id="{03FBA707-3B42-CCFE-B27B-FFE22FB6F138}"/>
              </a:ext>
            </a:extLst>
          </p:cNvPr>
          <p:cNvPicPr>
            <a:picLocks noChangeAspect="1"/>
          </p:cNvPicPr>
          <p:nvPr/>
        </p:nvPicPr>
        <p:blipFill>
          <a:blip r:embed="rId2"/>
          <a:stretch>
            <a:fillRect/>
          </a:stretch>
        </p:blipFill>
        <p:spPr>
          <a:xfrm>
            <a:off x="484338" y="1270536"/>
            <a:ext cx="8202462" cy="3745449"/>
          </a:xfrm>
          <a:prstGeom prst="rect">
            <a:avLst/>
          </a:prstGeom>
        </p:spPr>
      </p:pic>
    </p:spTree>
    <p:extLst>
      <p:ext uri="{BB962C8B-B14F-4D97-AF65-F5344CB8AC3E}">
        <p14:creationId xmlns:p14="http://schemas.microsoft.com/office/powerpoint/2010/main" val="30439134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2BAB2-8428-D40C-7586-22BCAE7F65F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BCC4EC3-82C0-937A-B048-5BBE7828C857}"/>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5B0A6AEE-2255-4632-B6DD-7EEBC0CFF77C}"/>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3.1.2 Report_Bagging(Wine Quality White)</a:t>
            </a:r>
            <a:br>
              <a:rPr lang="en-US" sz="3600" spc="-10"/>
            </a:br>
            <a:endParaRPr sz="3600" spc="-10" dirty="0"/>
          </a:p>
        </p:txBody>
      </p:sp>
      <p:sp>
        <p:nvSpPr>
          <p:cNvPr id="10" name="object 10">
            <a:extLst>
              <a:ext uri="{FF2B5EF4-FFF2-40B4-BE49-F238E27FC236}">
                <a16:creationId xmlns:a16="http://schemas.microsoft.com/office/drawing/2014/main" id="{40530F90-7824-2E85-66C6-0D1A3322A7A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51</a:t>
            </a:fld>
            <a:endParaRPr spc="-25" dirty="0"/>
          </a:p>
        </p:txBody>
      </p:sp>
      <p:sp>
        <p:nvSpPr>
          <p:cNvPr id="6" name="object 3">
            <a:extLst>
              <a:ext uri="{FF2B5EF4-FFF2-40B4-BE49-F238E27FC236}">
                <a16:creationId xmlns:a16="http://schemas.microsoft.com/office/drawing/2014/main" id="{59BDF1DC-F8C8-B5CF-1E7E-35CF7F7B46B9}"/>
              </a:ext>
            </a:extLst>
          </p:cNvPr>
          <p:cNvSpPr txBox="1">
            <a:spLocks/>
          </p:cNvSpPr>
          <p:nvPr/>
        </p:nvSpPr>
        <p:spPr>
          <a:xfrm>
            <a:off x="1929" y="848803"/>
            <a:ext cx="8608060" cy="764312"/>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Classification Report</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275A83BA-7635-3682-EF90-7D0008C15DD4}"/>
              </a:ext>
            </a:extLst>
          </p:cNvPr>
          <p:cNvSpPr txBox="1">
            <a:spLocks/>
          </p:cNvSpPr>
          <p:nvPr/>
        </p:nvSpPr>
        <p:spPr>
          <a:xfrm>
            <a:off x="51602" y="4418635"/>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7" name="Table 6">
            <a:extLst>
              <a:ext uri="{FF2B5EF4-FFF2-40B4-BE49-F238E27FC236}">
                <a16:creationId xmlns:a16="http://schemas.microsoft.com/office/drawing/2014/main" id="{42DE91F8-37E9-992D-0048-4C3F7158332E}"/>
              </a:ext>
            </a:extLst>
          </p:cNvPr>
          <p:cNvGraphicFramePr>
            <a:graphicFrameLocks noGrp="1"/>
          </p:cNvGraphicFramePr>
          <p:nvPr>
            <p:extLst>
              <p:ext uri="{D42A27DB-BD31-4B8C-83A1-F6EECF244321}">
                <p14:modId xmlns:p14="http://schemas.microsoft.com/office/powerpoint/2010/main" val="4208146317"/>
              </p:ext>
            </p:extLst>
          </p:nvPr>
        </p:nvGraphicFramePr>
        <p:xfrm>
          <a:off x="356469" y="1283340"/>
          <a:ext cx="8431062" cy="3769075"/>
        </p:xfrm>
        <a:graphic>
          <a:graphicData uri="http://schemas.openxmlformats.org/drawingml/2006/table">
            <a:tbl>
              <a:tblPr firstRow="1" firstCol="1" bandRow="1">
                <a:tableStyleId>{5C22544A-7EE6-4342-B048-85BDC9FD1C3A}</a:tableStyleId>
              </a:tblPr>
              <a:tblGrid>
                <a:gridCol w="1405177">
                  <a:extLst>
                    <a:ext uri="{9D8B030D-6E8A-4147-A177-3AD203B41FA5}">
                      <a16:colId xmlns:a16="http://schemas.microsoft.com/office/drawing/2014/main" val="4020192138"/>
                    </a:ext>
                  </a:extLst>
                </a:gridCol>
                <a:gridCol w="600554">
                  <a:extLst>
                    <a:ext uri="{9D8B030D-6E8A-4147-A177-3AD203B41FA5}">
                      <a16:colId xmlns:a16="http://schemas.microsoft.com/office/drawing/2014/main" val="2411336050"/>
                    </a:ext>
                  </a:extLst>
                </a:gridCol>
                <a:gridCol w="609600">
                  <a:extLst>
                    <a:ext uri="{9D8B030D-6E8A-4147-A177-3AD203B41FA5}">
                      <a16:colId xmlns:a16="http://schemas.microsoft.com/office/drawing/2014/main" val="2674607892"/>
                    </a:ext>
                  </a:extLst>
                </a:gridCol>
                <a:gridCol w="685800">
                  <a:extLst>
                    <a:ext uri="{9D8B030D-6E8A-4147-A177-3AD203B41FA5}">
                      <a16:colId xmlns:a16="http://schemas.microsoft.com/office/drawing/2014/main" val="778848603"/>
                    </a:ext>
                  </a:extLst>
                </a:gridCol>
                <a:gridCol w="914400">
                  <a:extLst>
                    <a:ext uri="{9D8B030D-6E8A-4147-A177-3AD203B41FA5}">
                      <a16:colId xmlns:a16="http://schemas.microsoft.com/office/drawing/2014/main" val="2875640141"/>
                    </a:ext>
                  </a:extLst>
                </a:gridCol>
                <a:gridCol w="4215531">
                  <a:extLst>
                    <a:ext uri="{9D8B030D-6E8A-4147-A177-3AD203B41FA5}">
                      <a16:colId xmlns:a16="http://schemas.microsoft.com/office/drawing/2014/main" val="3200212271"/>
                    </a:ext>
                  </a:extLst>
                </a:gridCol>
              </a:tblGrid>
              <a:tr h="181452">
                <a:tc>
                  <a:txBody>
                    <a:bodyPr/>
                    <a:lstStyle/>
                    <a:p>
                      <a:pPr marL="0" marR="0" algn="just">
                        <a:lnSpc>
                          <a:spcPct val="107000"/>
                        </a:lnSpc>
                        <a:spcAft>
                          <a:spcPts val="2400"/>
                        </a:spcAft>
                        <a:buNone/>
                      </a:pPr>
                      <a:r>
                        <a:rPr lang="en-US" sz="1200" kern="100">
                          <a:effectLst/>
                        </a:rPr>
                        <a:t>Lớp (Quality)</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200" kern="100">
                          <a:effectLst/>
                        </a:rPr>
                        <a:t>Support</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200" kern="100">
                          <a:effectLst/>
                        </a:rPr>
                        <a:t>Precision</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200" kern="100">
                          <a:effectLst/>
                        </a:rPr>
                        <a:t>Recall</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200" kern="100">
                          <a:effectLst/>
                        </a:rPr>
                        <a:t>F1-Score</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200" kern="100">
                          <a:effectLst/>
                        </a:rPr>
                        <a:t>Phân</a:t>
                      </a:r>
                      <a:r>
                        <a:rPr lang="en-US" sz="600" kern="100">
                          <a:effectLst/>
                        </a:rPr>
                        <a:t> </a:t>
                      </a:r>
                      <a:r>
                        <a:rPr lang="en-US" sz="1200" kern="100">
                          <a:effectLst/>
                        </a:rPr>
                        <a:t>tích</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extLst>
                  <a:ext uri="{0D108BD9-81ED-4DB2-BD59-A6C34878D82A}">
                    <a16:rowId xmlns:a16="http://schemas.microsoft.com/office/drawing/2014/main" val="135462926"/>
                  </a:ext>
                </a:extLst>
              </a:tr>
              <a:tr h="630607">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3, 9</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4, 1</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0.00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0.00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0.00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Thất bại hoàn toàn do các lớp này quá hiếm (chỉ có  4  và  1  mẫu). Mô hình không thể học được các mẫu này và chỉ dự đoán chúng là các lớp phổ biến hơn.</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extLst>
                  <a:ext uri="{0D108BD9-81ED-4DB2-BD59-A6C34878D82A}">
                    <a16:rowId xmlns:a16="http://schemas.microsoft.com/office/drawing/2014/main" val="3739867219"/>
                  </a:ext>
                </a:extLst>
              </a:tr>
              <a:tr h="842707">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4</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33</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0.77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0.30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0.43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Precision cao ( 77\% ), nhưng Recall rất thấp ( 30\% ). Mô hình rất cẩn thận khi dự đoán là lớp 4 (khi dự đoán thì khả năng đúng cao), nhưng bỏ sót  70\%  số rượu Chất lượng 4 thực tế.</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extLst>
                  <a:ext uri="{0D108BD9-81ED-4DB2-BD59-A6C34878D82A}">
                    <a16:rowId xmlns:a16="http://schemas.microsoft.com/office/drawing/2014/main" val="3139036395"/>
                  </a:ext>
                </a:extLst>
              </a:tr>
              <a:tr h="630607">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5, 6</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291, 440</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0.68, 0.62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0.65, 0.76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0.67, 0.68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Lõi của mô hình. Hai lớp phổ biến nhất này chiếm phần lớn độ chính xác tổng thể. Lớp 6 có Recall cao nhất ( 76\% ), là lớp được mô hình nhận dạng tốt nhất.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extLst>
                  <a:ext uri="{0D108BD9-81ED-4DB2-BD59-A6C34878D82A}">
                    <a16:rowId xmlns:a16="http://schemas.microsoft.com/office/drawing/2014/main" val="1453805319"/>
                  </a:ext>
                </a:extLst>
              </a:tr>
              <a:tr h="630607">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7</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176</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0.64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0.47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0.54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Recall thấp. Mô hình bỏ sót hơn một nửa ( 53\% ) số rượu Chất lượng 7, thường bị dự đoán nhầm thành 6 hoặc 5.</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extLst>
                  <a:ext uri="{0D108BD9-81ED-4DB2-BD59-A6C34878D82A}">
                    <a16:rowId xmlns:a16="http://schemas.microsoft.com/office/drawing/2014/main" val="2835147153"/>
                  </a:ext>
                </a:extLst>
              </a:tr>
              <a:tr h="666875">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8</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35</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0.95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0.54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 0.69 </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tc>
                  <a:txBody>
                    <a:bodyPr/>
                    <a:lstStyle/>
                    <a:p>
                      <a:pPr marL="0" marR="0" algn="just">
                        <a:lnSpc>
                          <a:spcPct val="107000"/>
                        </a:lnSpc>
                        <a:spcAft>
                          <a:spcPts val="2400"/>
                        </a:spcAft>
                        <a:buNone/>
                      </a:pPr>
                      <a:r>
                        <a:rPr lang="en-US" sz="1400" kern="100">
                          <a:effectLst/>
                          <a:latin typeface="Times New Roman" panose="02020603050405020304" pitchFamily="18" charset="0"/>
                          <a:cs typeface="Times New Roman" panose="02020603050405020304" pitchFamily="18" charset="0"/>
                        </a:rPr>
                        <a:t>Precision rất cao. Khi mô hình dự đoán là 8, gần như luôn đúng ( 95\% ). Đây là điểm mạnh, cho thấy các đặc trưng hóa học của rượu Chất lượng 8 khác biệt rõ ràng.</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589" marR="4589" marT="4589" marB="4589" anchor="ctr"/>
                </a:tc>
                <a:extLst>
                  <a:ext uri="{0D108BD9-81ED-4DB2-BD59-A6C34878D82A}">
                    <a16:rowId xmlns:a16="http://schemas.microsoft.com/office/drawing/2014/main" val="891198455"/>
                  </a:ext>
                </a:extLst>
              </a:tr>
            </a:tbl>
          </a:graphicData>
        </a:graphic>
      </p:graphicFrame>
    </p:spTree>
    <p:extLst>
      <p:ext uri="{BB962C8B-B14F-4D97-AF65-F5344CB8AC3E}">
        <p14:creationId xmlns:p14="http://schemas.microsoft.com/office/powerpoint/2010/main" val="11844937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184C6-FD89-E341-6BB5-399FA60986C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73DC9B1-955E-A72F-0368-6A1B16362DBC}"/>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084CC1F3-45F7-B965-26FC-47F1B13600A9}"/>
              </a:ext>
            </a:extLst>
          </p:cNvPr>
          <p:cNvSpPr txBox="1">
            <a:spLocks noGrp="1"/>
          </p:cNvSpPr>
          <p:nvPr>
            <p:ph type="title"/>
          </p:nvPr>
        </p:nvSpPr>
        <p:spPr>
          <a:xfrm>
            <a:off x="457200" y="295479"/>
            <a:ext cx="8608060" cy="1674817"/>
          </a:xfrm>
          <a:prstGeom prst="rect">
            <a:avLst/>
          </a:prstGeom>
        </p:spPr>
        <p:txBody>
          <a:bodyPr vert="horz" wrap="square" lIns="0" tIns="12700" rIns="0" bIns="0" rtlCol="0">
            <a:spAutoFit/>
          </a:bodyPr>
          <a:lstStyle/>
          <a:p>
            <a:pPr marL="12700">
              <a:lnSpc>
                <a:spcPct val="100000"/>
              </a:lnSpc>
              <a:spcBef>
                <a:spcPts val="100"/>
              </a:spcBef>
            </a:pPr>
            <a:r>
              <a:rPr lang="en-US" sz="3600" spc="-10"/>
              <a:t>3.2.1 Report_RandomForest(Wine Quality Red)</a:t>
            </a:r>
            <a:br>
              <a:rPr lang="en-US" sz="3600" spc="-10"/>
            </a:br>
            <a:endParaRPr sz="3600" spc="-10" dirty="0"/>
          </a:p>
        </p:txBody>
      </p:sp>
      <p:sp>
        <p:nvSpPr>
          <p:cNvPr id="10" name="object 10">
            <a:extLst>
              <a:ext uri="{FF2B5EF4-FFF2-40B4-BE49-F238E27FC236}">
                <a16:creationId xmlns:a16="http://schemas.microsoft.com/office/drawing/2014/main" id="{60447864-2FC0-D2DB-3392-331525641299}"/>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52</a:t>
            </a:fld>
            <a:endParaRPr spc="-25" dirty="0"/>
          </a:p>
        </p:txBody>
      </p:sp>
      <p:sp>
        <p:nvSpPr>
          <p:cNvPr id="6" name="object 3">
            <a:extLst>
              <a:ext uri="{FF2B5EF4-FFF2-40B4-BE49-F238E27FC236}">
                <a16:creationId xmlns:a16="http://schemas.microsoft.com/office/drawing/2014/main" id="{0A0ADB9B-4881-28BC-942C-2917BF7181FD}"/>
              </a:ext>
            </a:extLst>
          </p:cNvPr>
          <p:cNvSpPr txBox="1">
            <a:spLocks/>
          </p:cNvSpPr>
          <p:nvPr/>
        </p:nvSpPr>
        <p:spPr>
          <a:xfrm>
            <a:off x="0" y="1377339"/>
            <a:ext cx="8608060" cy="764312"/>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tổng thế</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883F7E23-49CA-7AA4-2BF0-4C7D413651B1}"/>
              </a:ext>
            </a:extLst>
          </p:cNvPr>
          <p:cNvSpPr txBox="1">
            <a:spLocks/>
          </p:cNvSpPr>
          <p:nvPr/>
        </p:nvSpPr>
        <p:spPr>
          <a:xfrm>
            <a:off x="51602" y="4418635"/>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4" name="Table 3">
            <a:extLst>
              <a:ext uri="{FF2B5EF4-FFF2-40B4-BE49-F238E27FC236}">
                <a16:creationId xmlns:a16="http://schemas.microsoft.com/office/drawing/2014/main" id="{9FB331ED-F486-66BA-851B-5C09810EFF33}"/>
              </a:ext>
            </a:extLst>
          </p:cNvPr>
          <p:cNvGraphicFramePr>
            <a:graphicFrameLocks noGrp="1"/>
          </p:cNvGraphicFramePr>
          <p:nvPr>
            <p:extLst>
              <p:ext uri="{D42A27DB-BD31-4B8C-83A1-F6EECF244321}">
                <p14:modId xmlns:p14="http://schemas.microsoft.com/office/powerpoint/2010/main" val="3487153894"/>
              </p:ext>
            </p:extLst>
          </p:nvPr>
        </p:nvGraphicFramePr>
        <p:xfrm>
          <a:off x="444500" y="1866901"/>
          <a:ext cx="8255001" cy="3067072"/>
        </p:xfrm>
        <a:graphic>
          <a:graphicData uri="http://schemas.openxmlformats.org/drawingml/2006/table">
            <a:tbl>
              <a:tblPr firstRow="1" firstCol="1" bandRow="1">
                <a:tableStyleId>{5C22544A-7EE6-4342-B048-85BDC9FD1C3A}</a:tableStyleId>
              </a:tblPr>
              <a:tblGrid>
                <a:gridCol w="2751667">
                  <a:extLst>
                    <a:ext uri="{9D8B030D-6E8A-4147-A177-3AD203B41FA5}">
                      <a16:colId xmlns:a16="http://schemas.microsoft.com/office/drawing/2014/main" val="208148583"/>
                    </a:ext>
                  </a:extLst>
                </a:gridCol>
                <a:gridCol w="2751667">
                  <a:extLst>
                    <a:ext uri="{9D8B030D-6E8A-4147-A177-3AD203B41FA5}">
                      <a16:colId xmlns:a16="http://schemas.microsoft.com/office/drawing/2014/main" val="3835239573"/>
                    </a:ext>
                  </a:extLst>
                </a:gridCol>
                <a:gridCol w="2751667">
                  <a:extLst>
                    <a:ext uri="{9D8B030D-6E8A-4147-A177-3AD203B41FA5}">
                      <a16:colId xmlns:a16="http://schemas.microsoft.com/office/drawing/2014/main" val="2730408579"/>
                    </a:ext>
                  </a:extLst>
                </a:gridCol>
              </a:tblGrid>
              <a:tr h="619125">
                <a:tc>
                  <a:txBody>
                    <a:bodyPr/>
                    <a:lstStyle/>
                    <a:p>
                      <a:pPr marL="0" marR="0" algn="just">
                        <a:lnSpc>
                          <a:spcPct val="107000"/>
                        </a:lnSpc>
                        <a:spcAft>
                          <a:spcPts val="2400"/>
                        </a:spcAft>
                        <a:buNone/>
                      </a:pPr>
                      <a:r>
                        <a:rPr lang="en-US" sz="1200" kern="100">
                          <a:effectLst/>
                        </a:rPr>
                        <a:t>Chỉ số</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Giá trị</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Nhận định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69752099"/>
                  </a:ext>
                </a:extLst>
              </a:tr>
              <a:tr h="1209697">
                <a:tc>
                  <a:txBody>
                    <a:bodyPr/>
                    <a:lstStyle/>
                    <a:p>
                      <a:pPr marL="0" marR="0" algn="just">
                        <a:lnSpc>
                          <a:spcPct val="107000"/>
                        </a:lnSpc>
                        <a:spcAft>
                          <a:spcPts val="2400"/>
                        </a:spcAft>
                        <a:buNone/>
                      </a:pPr>
                      <a:r>
                        <a:rPr lang="en-US" sz="1200" kern="100">
                          <a:effectLst/>
                        </a:rPr>
                        <a:t>Test Accuracy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0.6781  (67.81%)</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Mô hình dự đoán đúng khoảng  68\%  số mẫu kiểm tra.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35097767"/>
                  </a:ext>
                </a:extLst>
              </a:tr>
              <a:tr h="619125">
                <a:tc>
                  <a:txBody>
                    <a:bodyPr/>
                    <a:lstStyle/>
                    <a:p>
                      <a:pPr marL="0" marR="0" algn="just">
                        <a:lnSpc>
                          <a:spcPct val="107000"/>
                        </a:lnSpc>
                        <a:spcAft>
                          <a:spcPts val="2400"/>
                        </a:spcAft>
                        <a:buNone/>
                      </a:pPr>
                      <a:r>
                        <a:rPr lang="en-US" sz="1200" kern="100">
                          <a:effectLst/>
                        </a:rPr>
                        <a:t>OOB 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0.7013  (70.13%)</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Độ chính xác ước tính nội tại.</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95555383"/>
                  </a:ext>
                </a:extLst>
              </a:tr>
              <a:tr h="619125">
                <a:tc>
                  <a:txBody>
                    <a:bodyPr/>
                    <a:lstStyle/>
                    <a:p>
                      <a:pPr marL="0" marR="0" algn="just">
                        <a:lnSpc>
                          <a:spcPct val="107000"/>
                        </a:lnSpc>
                        <a:spcAft>
                          <a:spcPts val="2400"/>
                        </a:spcAft>
                        <a:buNone/>
                      </a:pPr>
                      <a:r>
                        <a:rPr lang="en-US" sz="1200" kern="100">
                          <a:effectLst/>
                        </a:rPr>
                        <a:t>Số mẫu kiểm tra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320</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Đảm bảo kết quả đánh giá là đáng tin cậy.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64487108"/>
                  </a:ext>
                </a:extLst>
              </a:tr>
            </a:tbl>
          </a:graphicData>
        </a:graphic>
      </p:graphicFrame>
    </p:spTree>
    <p:extLst>
      <p:ext uri="{BB962C8B-B14F-4D97-AF65-F5344CB8AC3E}">
        <p14:creationId xmlns:p14="http://schemas.microsoft.com/office/powerpoint/2010/main" val="11055956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15880-39D1-76E6-F7A5-7994B32F91C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28FB234-38F2-0DEE-B3A4-21599CB445C3}"/>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853E7EB6-236C-6258-9422-700D51620C70}"/>
              </a:ext>
            </a:extLst>
          </p:cNvPr>
          <p:cNvSpPr txBox="1">
            <a:spLocks noGrp="1"/>
          </p:cNvSpPr>
          <p:nvPr>
            <p:ph type="title"/>
          </p:nvPr>
        </p:nvSpPr>
        <p:spPr>
          <a:xfrm>
            <a:off x="457200" y="295479"/>
            <a:ext cx="8608060" cy="1674817"/>
          </a:xfrm>
          <a:prstGeom prst="rect">
            <a:avLst/>
          </a:prstGeom>
        </p:spPr>
        <p:txBody>
          <a:bodyPr vert="horz" wrap="square" lIns="0" tIns="12700" rIns="0" bIns="0" rtlCol="0">
            <a:spAutoFit/>
          </a:bodyPr>
          <a:lstStyle/>
          <a:p>
            <a:pPr marL="12700">
              <a:lnSpc>
                <a:spcPct val="100000"/>
              </a:lnSpc>
              <a:spcBef>
                <a:spcPts val="100"/>
              </a:spcBef>
            </a:pPr>
            <a:r>
              <a:rPr lang="en-US" sz="3600" spc="-10"/>
              <a:t>3.2.1 Report_RandomForest(Wine Quality Red)</a:t>
            </a:r>
            <a:br>
              <a:rPr lang="en-US" sz="3600" spc="-10"/>
            </a:br>
            <a:endParaRPr sz="3600" spc="-10" dirty="0"/>
          </a:p>
        </p:txBody>
      </p:sp>
      <p:sp>
        <p:nvSpPr>
          <p:cNvPr id="10" name="object 10">
            <a:extLst>
              <a:ext uri="{FF2B5EF4-FFF2-40B4-BE49-F238E27FC236}">
                <a16:creationId xmlns:a16="http://schemas.microsoft.com/office/drawing/2014/main" id="{7910A521-5025-7DCD-A1BA-3C60877D0159}"/>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53</a:t>
            </a:fld>
            <a:endParaRPr spc="-25" dirty="0"/>
          </a:p>
        </p:txBody>
      </p:sp>
      <p:sp>
        <p:nvSpPr>
          <p:cNvPr id="6" name="object 3">
            <a:extLst>
              <a:ext uri="{FF2B5EF4-FFF2-40B4-BE49-F238E27FC236}">
                <a16:creationId xmlns:a16="http://schemas.microsoft.com/office/drawing/2014/main" id="{4F873263-6E60-CCE9-0928-B77FD9C85C0D}"/>
              </a:ext>
            </a:extLst>
          </p:cNvPr>
          <p:cNvSpPr txBox="1">
            <a:spLocks/>
          </p:cNvSpPr>
          <p:nvPr/>
        </p:nvSpPr>
        <p:spPr>
          <a:xfrm>
            <a:off x="0" y="1377339"/>
            <a:ext cx="8608060" cy="2721258"/>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tổng thế</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	Tính ổn định: OOB Score (70.13%) </a:t>
            </a:r>
            <a:r>
              <a:rPr lang="en-US" sz="2400" spc="-10">
                <a:solidFill>
                  <a:schemeClr val="tx1"/>
                </a:solidFill>
                <a:latin typeface="Times New Roman" panose="02020603050405020304" pitchFamily="18" charset="0"/>
                <a:cs typeface="Times New Roman" panose="02020603050405020304" pitchFamily="18" charset="0"/>
              </a:rPr>
              <a:t>và</a:t>
            </a:r>
            <a:r>
              <a:rPr lang="en-US" sz="2400" b="1" spc="-10">
                <a:solidFill>
                  <a:schemeClr val="tx1"/>
                </a:solidFill>
                <a:latin typeface="Times New Roman" panose="02020603050405020304" pitchFamily="18" charset="0"/>
                <a:cs typeface="Times New Roman" panose="02020603050405020304" pitchFamily="18" charset="0"/>
              </a:rPr>
              <a:t> Test Accuracy (67.81%) </a:t>
            </a:r>
            <a:r>
              <a:rPr lang="en-US" sz="2400" spc="-10">
                <a:solidFill>
                  <a:schemeClr val="tx1"/>
                </a:solidFill>
                <a:latin typeface="Times New Roman" panose="02020603050405020304" pitchFamily="18" charset="0"/>
                <a:cs typeface="Times New Roman" panose="02020603050405020304" pitchFamily="18" charset="0"/>
              </a:rPr>
              <a:t>là gần nhau -&gt; mô hình ổn định</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         Hiệu suất: Độ chính xác 67.81% </a:t>
            </a:r>
            <a:r>
              <a:rPr lang="en-US" sz="2400" spc="-10">
                <a:solidFill>
                  <a:schemeClr val="tx1"/>
                </a:solidFill>
                <a:latin typeface="Times New Roman" panose="02020603050405020304" pitchFamily="18" charset="0"/>
                <a:cs typeface="Times New Roman" panose="02020603050405020304" pitchFamily="18" charset="0"/>
              </a:rPr>
              <a:t>là hợp lý, cho thấy mô hình học được các mối quan hệ giữa các đặc trưng hóa học và chất lượng rượu, nhưng sự chồng chéo các lớp làm giới hạn độ chính xác</a:t>
            </a: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921A1F30-D58F-7FEB-D294-F92641966736}"/>
              </a:ext>
            </a:extLst>
          </p:cNvPr>
          <p:cNvSpPr txBox="1">
            <a:spLocks/>
          </p:cNvSpPr>
          <p:nvPr/>
        </p:nvSpPr>
        <p:spPr>
          <a:xfrm>
            <a:off x="51602" y="4418635"/>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311382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984FF-643D-F8B1-CC0D-529DC20479E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7FACA2E-8861-20E2-6764-F19E61C201A2}"/>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71B0601E-8DF2-5B3B-67D2-6A5440ECF17E}"/>
              </a:ext>
            </a:extLst>
          </p:cNvPr>
          <p:cNvSpPr txBox="1">
            <a:spLocks noGrp="1"/>
          </p:cNvSpPr>
          <p:nvPr>
            <p:ph type="title"/>
          </p:nvPr>
        </p:nvSpPr>
        <p:spPr>
          <a:xfrm>
            <a:off x="457200" y="295479"/>
            <a:ext cx="8608060" cy="1674817"/>
          </a:xfrm>
          <a:prstGeom prst="rect">
            <a:avLst/>
          </a:prstGeom>
        </p:spPr>
        <p:txBody>
          <a:bodyPr vert="horz" wrap="square" lIns="0" tIns="12700" rIns="0" bIns="0" rtlCol="0">
            <a:spAutoFit/>
          </a:bodyPr>
          <a:lstStyle/>
          <a:p>
            <a:pPr marL="12700">
              <a:lnSpc>
                <a:spcPct val="100000"/>
              </a:lnSpc>
              <a:spcBef>
                <a:spcPts val="100"/>
              </a:spcBef>
            </a:pPr>
            <a:r>
              <a:rPr lang="en-US" sz="3600" spc="-10"/>
              <a:t>3.2.1 Report_RandomForest(Wine Quality Red)</a:t>
            </a:r>
            <a:br>
              <a:rPr lang="en-US" sz="3600" spc="-10"/>
            </a:br>
            <a:endParaRPr sz="3600" spc="-10" dirty="0"/>
          </a:p>
        </p:txBody>
      </p:sp>
      <p:sp>
        <p:nvSpPr>
          <p:cNvPr id="10" name="object 10">
            <a:extLst>
              <a:ext uri="{FF2B5EF4-FFF2-40B4-BE49-F238E27FC236}">
                <a16:creationId xmlns:a16="http://schemas.microsoft.com/office/drawing/2014/main" id="{4C1FEFC2-8EDF-FBA1-75A6-C2AD5B3B8C9D}"/>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54</a:t>
            </a:fld>
            <a:endParaRPr spc="-25" dirty="0"/>
          </a:p>
        </p:txBody>
      </p:sp>
      <p:sp>
        <p:nvSpPr>
          <p:cNvPr id="6" name="object 3">
            <a:extLst>
              <a:ext uri="{FF2B5EF4-FFF2-40B4-BE49-F238E27FC236}">
                <a16:creationId xmlns:a16="http://schemas.microsoft.com/office/drawing/2014/main" id="{BFC71CE2-0373-5E84-6484-6C511AF4BE01}"/>
              </a:ext>
            </a:extLst>
          </p:cNvPr>
          <p:cNvSpPr txBox="1">
            <a:spLocks/>
          </p:cNvSpPr>
          <p:nvPr/>
        </p:nvSpPr>
        <p:spPr>
          <a:xfrm>
            <a:off x="0" y="1377339"/>
            <a:ext cx="8608060" cy="764312"/>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Classificatiom Report</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50F3AFFD-2A13-02B5-A321-0BF113C601F2}"/>
              </a:ext>
            </a:extLst>
          </p:cNvPr>
          <p:cNvSpPr txBox="1">
            <a:spLocks/>
          </p:cNvSpPr>
          <p:nvPr/>
        </p:nvSpPr>
        <p:spPr>
          <a:xfrm>
            <a:off x="51602" y="4418635"/>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BDB1543C-3B84-E8F0-A208-BAD83B9E360B}"/>
              </a:ext>
            </a:extLst>
          </p:cNvPr>
          <p:cNvPicPr>
            <a:picLocks noChangeAspect="1"/>
          </p:cNvPicPr>
          <p:nvPr/>
        </p:nvPicPr>
        <p:blipFill>
          <a:blip r:embed="rId2"/>
          <a:stretch>
            <a:fillRect/>
          </a:stretch>
        </p:blipFill>
        <p:spPr>
          <a:xfrm>
            <a:off x="484338" y="1866900"/>
            <a:ext cx="7440462" cy="3067074"/>
          </a:xfrm>
          <a:prstGeom prst="rect">
            <a:avLst/>
          </a:prstGeom>
        </p:spPr>
      </p:pic>
    </p:spTree>
    <p:extLst>
      <p:ext uri="{BB962C8B-B14F-4D97-AF65-F5344CB8AC3E}">
        <p14:creationId xmlns:p14="http://schemas.microsoft.com/office/powerpoint/2010/main" val="36636759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A13B1-4275-086E-5422-639F9F1D587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1928612-6802-9CD7-0D68-651534FAE704}"/>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AB9D7804-CC43-23E5-A9D9-5E35CBBD2816}"/>
              </a:ext>
            </a:extLst>
          </p:cNvPr>
          <p:cNvSpPr txBox="1">
            <a:spLocks noGrp="1"/>
          </p:cNvSpPr>
          <p:nvPr>
            <p:ph type="title"/>
          </p:nvPr>
        </p:nvSpPr>
        <p:spPr>
          <a:xfrm>
            <a:off x="457200" y="295479"/>
            <a:ext cx="8608060" cy="1674817"/>
          </a:xfrm>
          <a:prstGeom prst="rect">
            <a:avLst/>
          </a:prstGeom>
        </p:spPr>
        <p:txBody>
          <a:bodyPr vert="horz" wrap="square" lIns="0" tIns="12700" rIns="0" bIns="0" rtlCol="0">
            <a:spAutoFit/>
          </a:bodyPr>
          <a:lstStyle/>
          <a:p>
            <a:pPr marL="12700">
              <a:lnSpc>
                <a:spcPct val="100000"/>
              </a:lnSpc>
              <a:spcBef>
                <a:spcPts val="100"/>
              </a:spcBef>
            </a:pPr>
            <a:r>
              <a:rPr lang="en-US" sz="3600" spc="-10"/>
              <a:t>3.2.1 Report_RandomForest(Wine Quality Red)</a:t>
            </a:r>
            <a:br>
              <a:rPr lang="en-US" sz="3600" spc="-10"/>
            </a:br>
            <a:endParaRPr sz="3600" spc="-10" dirty="0"/>
          </a:p>
        </p:txBody>
      </p:sp>
      <p:sp>
        <p:nvSpPr>
          <p:cNvPr id="10" name="object 10">
            <a:extLst>
              <a:ext uri="{FF2B5EF4-FFF2-40B4-BE49-F238E27FC236}">
                <a16:creationId xmlns:a16="http://schemas.microsoft.com/office/drawing/2014/main" id="{60F39EC2-DB46-A49E-C9F7-268CAE50EB0E}"/>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55</a:t>
            </a:fld>
            <a:endParaRPr spc="-25" dirty="0"/>
          </a:p>
        </p:txBody>
      </p:sp>
      <p:sp>
        <p:nvSpPr>
          <p:cNvPr id="6" name="object 3">
            <a:extLst>
              <a:ext uri="{FF2B5EF4-FFF2-40B4-BE49-F238E27FC236}">
                <a16:creationId xmlns:a16="http://schemas.microsoft.com/office/drawing/2014/main" id="{04677ECD-160B-F25C-6B88-4C70E757543E}"/>
              </a:ext>
            </a:extLst>
          </p:cNvPr>
          <p:cNvSpPr txBox="1">
            <a:spLocks/>
          </p:cNvSpPr>
          <p:nvPr/>
        </p:nvSpPr>
        <p:spPr>
          <a:xfrm>
            <a:off x="0" y="1377339"/>
            <a:ext cx="8608060" cy="764312"/>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Classificatiom Report</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E39E0DB5-28E6-E602-A700-BE4645E5F3FC}"/>
              </a:ext>
            </a:extLst>
          </p:cNvPr>
          <p:cNvSpPr txBox="1">
            <a:spLocks/>
          </p:cNvSpPr>
          <p:nvPr/>
        </p:nvSpPr>
        <p:spPr>
          <a:xfrm>
            <a:off x="51602" y="4418635"/>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8" name="Picture 7">
            <a:extLst>
              <a:ext uri="{FF2B5EF4-FFF2-40B4-BE49-F238E27FC236}">
                <a16:creationId xmlns:a16="http://schemas.microsoft.com/office/drawing/2014/main" id="{1577992D-3E68-6A47-551E-B3557D9F39D3}"/>
              </a:ext>
            </a:extLst>
          </p:cNvPr>
          <p:cNvPicPr>
            <a:picLocks noChangeAspect="1"/>
          </p:cNvPicPr>
          <p:nvPr/>
        </p:nvPicPr>
        <p:blipFill>
          <a:blip r:embed="rId2"/>
          <a:stretch>
            <a:fillRect/>
          </a:stretch>
        </p:blipFill>
        <p:spPr>
          <a:xfrm>
            <a:off x="535940" y="1866900"/>
            <a:ext cx="8072120" cy="3067075"/>
          </a:xfrm>
          <a:prstGeom prst="rect">
            <a:avLst/>
          </a:prstGeom>
        </p:spPr>
      </p:pic>
    </p:spTree>
    <p:extLst>
      <p:ext uri="{BB962C8B-B14F-4D97-AF65-F5344CB8AC3E}">
        <p14:creationId xmlns:p14="http://schemas.microsoft.com/office/powerpoint/2010/main" val="34162796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1E1CD-126D-DE30-7610-6F0669EFD29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D5B2588-B562-3A10-7145-E339109C26FF}"/>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0C2B6074-04A2-69EE-951C-5445909DF671}"/>
              </a:ext>
            </a:extLst>
          </p:cNvPr>
          <p:cNvSpPr txBox="1">
            <a:spLocks noGrp="1"/>
          </p:cNvSpPr>
          <p:nvPr>
            <p:ph type="title"/>
          </p:nvPr>
        </p:nvSpPr>
        <p:spPr>
          <a:xfrm>
            <a:off x="457200" y="295479"/>
            <a:ext cx="8608060" cy="1674817"/>
          </a:xfrm>
          <a:prstGeom prst="rect">
            <a:avLst/>
          </a:prstGeom>
        </p:spPr>
        <p:txBody>
          <a:bodyPr vert="horz" wrap="square" lIns="0" tIns="12700" rIns="0" bIns="0" rtlCol="0">
            <a:spAutoFit/>
          </a:bodyPr>
          <a:lstStyle/>
          <a:p>
            <a:pPr marL="12700">
              <a:lnSpc>
                <a:spcPct val="100000"/>
              </a:lnSpc>
              <a:spcBef>
                <a:spcPts val="100"/>
              </a:spcBef>
            </a:pPr>
            <a:r>
              <a:rPr lang="en-US" sz="3600" spc="-10"/>
              <a:t>3.2.1 Report_RandomForest(Wine Quality Red)</a:t>
            </a:r>
            <a:br>
              <a:rPr lang="en-US" sz="3600" spc="-10"/>
            </a:br>
            <a:endParaRPr sz="3600" spc="-10" dirty="0"/>
          </a:p>
        </p:txBody>
      </p:sp>
      <p:sp>
        <p:nvSpPr>
          <p:cNvPr id="10" name="object 10">
            <a:extLst>
              <a:ext uri="{FF2B5EF4-FFF2-40B4-BE49-F238E27FC236}">
                <a16:creationId xmlns:a16="http://schemas.microsoft.com/office/drawing/2014/main" id="{A05A4BCF-C86F-834D-BE97-2DA098E0F188}"/>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56</a:t>
            </a:fld>
            <a:endParaRPr spc="-25" dirty="0"/>
          </a:p>
        </p:txBody>
      </p:sp>
      <p:sp>
        <p:nvSpPr>
          <p:cNvPr id="6" name="object 3">
            <a:extLst>
              <a:ext uri="{FF2B5EF4-FFF2-40B4-BE49-F238E27FC236}">
                <a16:creationId xmlns:a16="http://schemas.microsoft.com/office/drawing/2014/main" id="{4E313C3C-9990-2ED4-238D-A1203887ED8A}"/>
              </a:ext>
            </a:extLst>
          </p:cNvPr>
          <p:cNvSpPr txBox="1">
            <a:spLocks/>
          </p:cNvSpPr>
          <p:nvPr/>
        </p:nvSpPr>
        <p:spPr>
          <a:xfrm>
            <a:off x="0" y="1377339"/>
            <a:ext cx="8608060" cy="764312"/>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Classificatiom Report</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FF5DE52F-CE1C-89DA-E5FB-D686260CE14E}"/>
              </a:ext>
            </a:extLst>
          </p:cNvPr>
          <p:cNvSpPr txBox="1">
            <a:spLocks/>
          </p:cNvSpPr>
          <p:nvPr/>
        </p:nvSpPr>
        <p:spPr>
          <a:xfrm>
            <a:off x="51602" y="4418635"/>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7" name="Table 6">
            <a:extLst>
              <a:ext uri="{FF2B5EF4-FFF2-40B4-BE49-F238E27FC236}">
                <a16:creationId xmlns:a16="http://schemas.microsoft.com/office/drawing/2014/main" id="{C824F99B-F765-4825-0C68-DA057289239A}"/>
              </a:ext>
            </a:extLst>
          </p:cNvPr>
          <p:cNvGraphicFramePr>
            <a:graphicFrameLocks noGrp="1"/>
          </p:cNvGraphicFramePr>
          <p:nvPr>
            <p:extLst>
              <p:ext uri="{D42A27DB-BD31-4B8C-83A1-F6EECF244321}">
                <p14:modId xmlns:p14="http://schemas.microsoft.com/office/powerpoint/2010/main" val="3883071022"/>
              </p:ext>
            </p:extLst>
          </p:nvPr>
        </p:nvGraphicFramePr>
        <p:xfrm>
          <a:off x="426720" y="1777351"/>
          <a:ext cx="8412480" cy="3220702"/>
        </p:xfrm>
        <a:graphic>
          <a:graphicData uri="http://schemas.openxmlformats.org/drawingml/2006/table">
            <a:tbl>
              <a:tblPr firstRow="1" firstCol="1" bandRow="1">
                <a:tableStyleId>{5C22544A-7EE6-4342-B048-85BDC9FD1C3A}</a:tableStyleId>
              </a:tblPr>
              <a:tblGrid>
                <a:gridCol w="838200">
                  <a:extLst>
                    <a:ext uri="{9D8B030D-6E8A-4147-A177-3AD203B41FA5}">
                      <a16:colId xmlns:a16="http://schemas.microsoft.com/office/drawing/2014/main" val="1239767309"/>
                    </a:ext>
                  </a:extLst>
                </a:gridCol>
                <a:gridCol w="609600">
                  <a:extLst>
                    <a:ext uri="{9D8B030D-6E8A-4147-A177-3AD203B41FA5}">
                      <a16:colId xmlns:a16="http://schemas.microsoft.com/office/drawing/2014/main" val="1590662133"/>
                    </a:ext>
                  </a:extLst>
                </a:gridCol>
                <a:gridCol w="838200">
                  <a:extLst>
                    <a:ext uri="{9D8B030D-6E8A-4147-A177-3AD203B41FA5}">
                      <a16:colId xmlns:a16="http://schemas.microsoft.com/office/drawing/2014/main" val="4197924092"/>
                    </a:ext>
                  </a:extLst>
                </a:gridCol>
                <a:gridCol w="914400">
                  <a:extLst>
                    <a:ext uri="{9D8B030D-6E8A-4147-A177-3AD203B41FA5}">
                      <a16:colId xmlns:a16="http://schemas.microsoft.com/office/drawing/2014/main" val="4084755930"/>
                    </a:ext>
                  </a:extLst>
                </a:gridCol>
                <a:gridCol w="914400">
                  <a:extLst>
                    <a:ext uri="{9D8B030D-6E8A-4147-A177-3AD203B41FA5}">
                      <a16:colId xmlns:a16="http://schemas.microsoft.com/office/drawing/2014/main" val="2404597339"/>
                    </a:ext>
                  </a:extLst>
                </a:gridCol>
                <a:gridCol w="4297680">
                  <a:extLst>
                    <a:ext uri="{9D8B030D-6E8A-4147-A177-3AD203B41FA5}">
                      <a16:colId xmlns:a16="http://schemas.microsoft.com/office/drawing/2014/main" val="3234224723"/>
                    </a:ext>
                  </a:extLst>
                </a:gridCol>
              </a:tblGrid>
              <a:tr h="298660">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Lớp (Quality)</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Support</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Precision</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Recall</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F1-Score</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Phân tích</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extLst>
                  <a:ext uri="{0D108BD9-81ED-4DB2-BD59-A6C34878D82A}">
                    <a16:rowId xmlns:a16="http://schemas.microsoft.com/office/drawing/2014/main" val="1258583762"/>
                  </a:ext>
                </a:extLst>
              </a:tr>
              <a:tr h="892807">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3, 4</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2, 11</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 0.00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 0.00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 0.00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Thất bại hoàn toàn. Các lớp này quá hiếm. Mô hình không có đủ dữ liệu để học và chỉ dự đoán chúng là các lớp trung bình (5 hoặc 6).</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extLst>
                  <a:ext uri="{0D108BD9-81ED-4DB2-BD59-A6C34878D82A}">
                    <a16:rowId xmlns:a16="http://schemas.microsoft.com/office/drawing/2014/main" val="2329912901"/>
                  </a:ext>
                </a:extLst>
              </a:tr>
              <a:tr h="812845">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5, 6</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136, 128</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 0.71, 0.65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 0.76, 0.70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 0.73, 0.67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Lõi của mô hình. Hai lớp này chiếm  82.5\%  tập kiểm tra. Mô hình hoạt động tốt ở đây, đạt F1-Score cao nhất.</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extLst>
                  <a:ext uri="{0D108BD9-81ED-4DB2-BD59-A6C34878D82A}">
                    <a16:rowId xmlns:a16="http://schemas.microsoft.com/office/drawing/2014/main" val="3723203439"/>
                  </a:ext>
                </a:extLst>
              </a:tr>
              <a:tr h="892807">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7</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40</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 0.71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 0.55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 0.62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100" kern="100">
                          <a:effectLst/>
                          <a:latin typeface="Times New Roman" panose="02020603050405020304" pitchFamily="18" charset="0"/>
                          <a:cs typeface="Times New Roman" panose="02020603050405020304" pitchFamily="18" charset="0"/>
                        </a:rPr>
                        <a:t>Precision tốt ( 71\% ), nhưng Recall thấp ( 55\% ). Mô hình chính xác khi dự đoán là 7 nhưng bỏ sót  45\%  số rượu Chất lượng 7.</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extLst>
                  <a:ext uri="{0D108BD9-81ED-4DB2-BD59-A6C34878D82A}">
                    <a16:rowId xmlns:a16="http://schemas.microsoft.com/office/drawing/2014/main" val="3786265242"/>
                  </a:ext>
                </a:extLst>
              </a:tr>
              <a:tr h="259505">
                <a:tc>
                  <a:txBody>
                    <a:bodyPr/>
                    <a:lstStyle/>
                    <a:p>
                      <a:pPr marL="0" marR="0" algn="just">
                        <a:lnSpc>
                          <a:spcPct val="107000"/>
                        </a:lnSpc>
                        <a:spcAft>
                          <a:spcPts val="2400"/>
                        </a:spcAft>
                        <a:buNone/>
                      </a:pPr>
                      <a:r>
                        <a:rPr lang="en-US" sz="1000" kern="100">
                          <a:effectLst/>
                        </a:rPr>
                        <a:t>8</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3</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 0.50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 0.33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 0.40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Hiệu suất rất kém do số lượng mẫu quá ít.</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extLst>
                  <a:ext uri="{0D108BD9-81ED-4DB2-BD59-A6C34878D82A}">
                    <a16:rowId xmlns:a16="http://schemas.microsoft.com/office/drawing/2014/main" val="4086168104"/>
                  </a:ext>
                </a:extLst>
              </a:tr>
            </a:tbl>
          </a:graphicData>
        </a:graphic>
      </p:graphicFrame>
    </p:spTree>
    <p:extLst>
      <p:ext uri="{BB962C8B-B14F-4D97-AF65-F5344CB8AC3E}">
        <p14:creationId xmlns:p14="http://schemas.microsoft.com/office/powerpoint/2010/main" val="16782448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2AD1F-76B0-7C18-8890-06CE0FBF044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37C8E0D-ADD1-E02C-590A-950F8135E61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D3790C6E-F1C6-B848-866D-5D0CA37D72C9}"/>
              </a:ext>
            </a:extLst>
          </p:cNvPr>
          <p:cNvSpPr txBox="1">
            <a:spLocks noGrp="1"/>
          </p:cNvSpPr>
          <p:nvPr>
            <p:ph type="title"/>
          </p:nvPr>
        </p:nvSpPr>
        <p:spPr>
          <a:xfrm>
            <a:off x="457200" y="295479"/>
            <a:ext cx="8608060" cy="1674817"/>
          </a:xfrm>
          <a:prstGeom prst="rect">
            <a:avLst/>
          </a:prstGeom>
        </p:spPr>
        <p:txBody>
          <a:bodyPr vert="horz" wrap="square" lIns="0" tIns="12700" rIns="0" bIns="0" rtlCol="0">
            <a:spAutoFit/>
          </a:bodyPr>
          <a:lstStyle/>
          <a:p>
            <a:pPr marL="12700">
              <a:lnSpc>
                <a:spcPct val="100000"/>
              </a:lnSpc>
              <a:spcBef>
                <a:spcPts val="100"/>
              </a:spcBef>
            </a:pPr>
            <a:r>
              <a:rPr lang="en-US" sz="3600" spc="-10"/>
              <a:t>3.2.1 Report_RandomForest(Wine Quality Red)</a:t>
            </a:r>
            <a:br>
              <a:rPr lang="en-US" sz="3600" spc="-10"/>
            </a:br>
            <a:endParaRPr sz="3600" spc="-10" dirty="0"/>
          </a:p>
        </p:txBody>
      </p:sp>
      <p:sp>
        <p:nvSpPr>
          <p:cNvPr id="10" name="object 10">
            <a:extLst>
              <a:ext uri="{FF2B5EF4-FFF2-40B4-BE49-F238E27FC236}">
                <a16:creationId xmlns:a16="http://schemas.microsoft.com/office/drawing/2014/main" id="{24BD815F-34AC-2455-57C5-C09CB562379D}"/>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57</a:t>
            </a:fld>
            <a:endParaRPr spc="-25" dirty="0"/>
          </a:p>
        </p:txBody>
      </p:sp>
      <p:sp>
        <p:nvSpPr>
          <p:cNvPr id="6" name="object 3">
            <a:extLst>
              <a:ext uri="{FF2B5EF4-FFF2-40B4-BE49-F238E27FC236}">
                <a16:creationId xmlns:a16="http://schemas.microsoft.com/office/drawing/2014/main" id="{B6B39369-87F2-6563-A619-DA757F6FEEFE}"/>
              </a:ext>
            </a:extLst>
          </p:cNvPr>
          <p:cNvSpPr txBox="1">
            <a:spLocks/>
          </p:cNvSpPr>
          <p:nvPr/>
        </p:nvSpPr>
        <p:spPr>
          <a:xfrm>
            <a:off x="457200" y="1462304"/>
            <a:ext cx="8229600" cy="2664832"/>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Classificatiom Report</a:t>
            </a:r>
          </a:p>
          <a:p>
            <a:pPr marL="355600" indent="-342900">
              <a:spcBef>
                <a:spcPts val="100"/>
              </a:spcBef>
              <a:buFont typeface="Courier New" panose="02070309020205020404" pitchFamily="49" charset="0"/>
              <a:buChar char="o"/>
            </a:pPr>
            <a:r>
              <a:rPr lang="en-US" sz="2400" b="1" spc="-10">
                <a:solidFill>
                  <a:schemeClr val="tx1"/>
                </a:solidFill>
                <a:latin typeface="Times New Roman" panose="02020603050405020304" pitchFamily="18" charset="0"/>
                <a:cs typeface="Times New Roman" panose="02020603050405020304" pitchFamily="18" charset="0"/>
              </a:rPr>
              <a:t>Weighted Avg (0.66): </a:t>
            </a:r>
            <a:r>
              <a:rPr lang="en-US" sz="2400" spc="-10">
                <a:solidFill>
                  <a:schemeClr val="tx1"/>
                </a:solidFill>
                <a:latin typeface="Times New Roman" panose="02020603050405020304" pitchFamily="18" charset="0"/>
                <a:cs typeface="Times New Roman" panose="02020603050405020304" pitchFamily="18" charset="0"/>
              </a:rPr>
              <a:t>Phản ánh độ chính xác thực tế, bị chi phối bởi các lớp 5 và 6</a:t>
            </a:r>
          </a:p>
          <a:p>
            <a:pPr marL="355600" indent="-342900">
              <a:spcBef>
                <a:spcPts val="100"/>
              </a:spcBef>
              <a:buFont typeface="Courier New" panose="02070309020205020404" pitchFamily="49" charset="0"/>
              <a:buChar char="o"/>
            </a:pPr>
            <a:r>
              <a:rPr lang="en-US" sz="2400" b="1" spc="-10">
                <a:solidFill>
                  <a:schemeClr val="tx1"/>
                </a:solidFill>
                <a:latin typeface="Times New Roman" panose="02020603050405020304" pitchFamily="18" charset="0"/>
                <a:cs typeface="Times New Roman" panose="02020603050405020304" pitchFamily="18" charset="0"/>
              </a:rPr>
              <a:t>Marco Avg (0.40): </a:t>
            </a:r>
            <a:r>
              <a:rPr lang="en-US" sz="2400" spc="-10">
                <a:solidFill>
                  <a:schemeClr val="tx1"/>
                </a:solidFill>
                <a:latin typeface="Times New Roman" panose="02020603050405020304" pitchFamily="18" charset="0"/>
                <a:cs typeface="Times New Roman" panose="02020603050405020304" pitchFamily="18" charset="0"/>
              </a:rPr>
              <a:t>Giá trị thấp cho thấy mô hình hoạt động rất kém trên các lớp thiểu số (3, 4, 8), nơi dữ liệu huấn luyện không đầy đủ</a:t>
            </a:r>
          </a:p>
          <a:p>
            <a:pPr marL="355600" lvl="1" indent="-342900">
              <a:spcBef>
                <a:spcPts val="100"/>
              </a:spcBef>
              <a:buFont typeface="Wingdings" panose="05000000000000000000" pitchFamily="2" charset="2"/>
              <a:buChar char="§"/>
            </a:pPr>
            <a:r>
              <a:rPr lang="en-US" sz="100" b="1" spc="-10">
                <a:solidFill>
                  <a:schemeClr val="tx1"/>
                </a:solidFill>
                <a:latin typeface="Times New Roman" panose="02020603050405020304" pitchFamily="18" charset="0"/>
                <a:cs typeface="Times New Roman" panose="02020603050405020304" pitchFamily="18" charset="0"/>
              </a:rPr>
              <a:t> 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241B2995-FDBF-79CD-BBBC-F36765B48F98}"/>
              </a:ext>
            </a:extLst>
          </p:cNvPr>
          <p:cNvSpPr txBox="1">
            <a:spLocks/>
          </p:cNvSpPr>
          <p:nvPr/>
        </p:nvSpPr>
        <p:spPr>
          <a:xfrm>
            <a:off x="51602" y="4418635"/>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136276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C9EA9-2173-40A0-B20C-2AD8843594A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FB7C060-6D86-C030-82BC-A5E22AE3CDAC}"/>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A576E64F-B16B-3FB1-E094-486704B143AB}"/>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3.2.1 Report_RandomForest(Wine Quality Red)</a:t>
            </a:r>
            <a:endParaRPr sz="3600" spc="-10" dirty="0"/>
          </a:p>
        </p:txBody>
      </p:sp>
      <p:sp>
        <p:nvSpPr>
          <p:cNvPr id="10" name="object 10">
            <a:extLst>
              <a:ext uri="{FF2B5EF4-FFF2-40B4-BE49-F238E27FC236}">
                <a16:creationId xmlns:a16="http://schemas.microsoft.com/office/drawing/2014/main" id="{8DC88C17-730E-D0DC-8F3A-7D24FB67C288}"/>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58</a:t>
            </a:fld>
            <a:endParaRPr spc="-25" dirty="0"/>
          </a:p>
        </p:txBody>
      </p:sp>
      <p:sp>
        <p:nvSpPr>
          <p:cNvPr id="6" name="object 3">
            <a:extLst>
              <a:ext uri="{FF2B5EF4-FFF2-40B4-BE49-F238E27FC236}">
                <a16:creationId xmlns:a16="http://schemas.microsoft.com/office/drawing/2014/main" id="{D68AAFF2-F89B-C409-6F78-DCD14EEEA40A}"/>
              </a:ext>
            </a:extLst>
          </p:cNvPr>
          <p:cNvSpPr txBox="1">
            <a:spLocks/>
          </p:cNvSpPr>
          <p:nvPr/>
        </p:nvSpPr>
        <p:spPr>
          <a:xfrm>
            <a:off x="0" y="1377339"/>
            <a:ext cx="8608060" cy="79252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C6848017-7CBA-B6E2-B89A-BFF1B353DA18}"/>
              </a:ext>
            </a:extLst>
          </p:cNvPr>
          <p:cNvSpPr txBox="1">
            <a:spLocks/>
          </p:cNvSpPr>
          <p:nvPr/>
        </p:nvSpPr>
        <p:spPr>
          <a:xfrm>
            <a:off x="51602" y="4418635"/>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AE0A8DE6-6D02-9356-23F0-01B390EEAF48}"/>
              </a:ext>
            </a:extLst>
          </p:cNvPr>
          <p:cNvPicPr>
            <a:picLocks noChangeAspect="1"/>
          </p:cNvPicPr>
          <p:nvPr/>
        </p:nvPicPr>
        <p:blipFill>
          <a:blip r:embed="rId2"/>
          <a:stretch>
            <a:fillRect/>
          </a:stretch>
        </p:blipFill>
        <p:spPr>
          <a:xfrm>
            <a:off x="1066800" y="1866900"/>
            <a:ext cx="6779260" cy="3067074"/>
          </a:xfrm>
          <a:prstGeom prst="rect">
            <a:avLst/>
          </a:prstGeom>
        </p:spPr>
      </p:pic>
    </p:spTree>
    <p:extLst>
      <p:ext uri="{BB962C8B-B14F-4D97-AF65-F5344CB8AC3E}">
        <p14:creationId xmlns:p14="http://schemas.microsoft.com/office/powerpoint/2010/main" val="37186436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0F468-CC57-5E71-992C-76879E393A2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100E48F-908E-99B1-3B48-370F7CECD16B}"/>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5BA78C91-4701-4B77-1C3D-56717F698921}"/>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3.2.1 Report_RandomForest(Wine Quality Red)</a:t>
            </a:r>
            <a:endParaRPr sz="3600" spc="-10" dirty="0"/>
          </a:p>
        </p:txBody>
      </p:sp>
      <p:sp>
        <p:nvSpPr>
          <p:cNvPr id="10" name="object 10">
            <a:extLst>
              <a:ext uri="{FF2B5EF4-FFF2-40B4-BE49-F238E27FC236}">
                <a16:creationId xmlns:a16="http://schemas.microsoft.com/office/drawing/2014/main" id="{D93D9E59-6436-7821-40CC-32AE916A153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59</a:t>
            </a:fld>
            <a:endParaRPr spc="-25" dirty="0"/>
          </a:p>
        </p:txBody>
      </p:sp>
      <p:sp>
        <p:nvSpPr>
          <p:cNvPr id="6" name="object 3">
            <a:extLst>
              <a:ext uri="{FF2B5EF4-FFF2-40B4-BE49-F238E27FC236}">
                <a16:creationId xmlns:a16="http://schemas.microsoft.com/office/drawing/2014/main" id="{5C28FF9A-7C65-624B-5DAA-43F8C33478AF}"/>
              </a:ext>
            </a:extLst>
          </p:cNvPr>
          <p:cNvSpPr txBox="1">
            <a:spLocks/>
          </p:cNvSpPr>
          <p:nvPr/>
        </p:nvSpPr>
        <p:spPr>
          <a:xfrm>
            <a:off x="0" y="1377339"/>
            <a:ext cx="8608060" cy="79252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E56FF0C2-5BDE-8D5A-7524-AAF1CA7F856B}"/>
              </a:ext>
            </a:extLst>
          </p:cNvPr>
          <p:cNvSpPr txBox="1">
            <a:spLocks/>
          </p:cNvSpPr>
          <p:nvPr/>
        </p:nvSpPr>
        <p:spPr>
          <a:xfrm>
            <a:off x="51602" y="4418635"/>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7" name="Table 6">
            <a:extLst>
              <a:ext uri="{FF2B5EF4-FFF2-40B4-BE49-F238E27FC236}">
                <a16:creationId xmlns:a16="http://schemas.microsoft.com/office/drawing/2014/main" id="{A8D41359-CE3E-5D70-53BB-9E816348FC45}"/>
              </a:ext>
            </a:extLst>
          </p:cNvPr>
          <p:cNvGraphicFramePr>
            <a:graphicFrameLocks noGrp="1"/>
          </p:cNvGraphicFramePr>
          <p:nvPr>
            <p:extLst>
              <p:ext uri="{D42A27DB-BD31-4B8C-83A1-F6EECF244321}">
                <p14:modId xmlns:p14="http://schemas.microsoft.com/office/powerpoint/2010/main" val="584344143"/>
              </p:ext>
            </p:extLst>
          </p:nvPr>
        </p:nvGraphicFramePr>
        <p:xfrm>
          <a:off x="444500" y="1866901"/>
          <a:ext cx="8255000" cy="3134511"/>
        </p:xfrm>
        <a:graphic>
          <a:graphicData uri="http://schemas.openxmlformats.org/drawingml/2006/table">
            <a:tbl>
              <a:tblPr firstRow="1" firstCol="1" bandRow="1">
                <a:tableStyleId>{5C22544A-7EE6-4342-B048-85BDC9FD1C3A}</a:tableStyleId>
              </a:tblPr>
              <a:tblGrid>
                <a:gridCol w="546100">
                  <a:extLst>
                    <a:ext uri="{9D8B030D-6E8A-4147-A177-3AD203B41FA5}">
                      <a16:colId xmlns:a16="http://schemas.microsoft.com/office/drawing/2014/main" val="1134414793"/>
                    </a:ext>
                  </a:extLst>
                </a:gridCol>
                <a:gridCol w="1905000">
                  <a:extLst>
                    <a:ext uri="{9D8B030D-6E8A-4147-A177-3AD203B41FA5}">
                      <a16:colId xmlns:a16="http://schemas.microsoft.com/office/drawing/2014/main" val="4100022678"/>
                    </a:ext>
                  </a:extLst>
                </a:gridCol>
                <a:gridCol w="1600200">
                  <a:extLst>
                    <a:ext uri="{9D8B030D-6E8A-4147-A177-3AD203B41FA5}">
                      <a16:colId xmlns:a16="http://schemas.microsoft.com/office/drawing/2014/main" val="95905678"/>
                    </a:ext>
                  </a:extLst>
                </a:gridCol>
                <a:gridCol w="1219200">
                  <a:extLst>
                    <a:ext uri="{9D8B030D-6E8A-4147-A177-3AD203B41FA5}">
                      <a16:colId xmlns:a16="http://schemas.microsoft.com/office/drawing/2014/main" val="3349353020"/>
                    </a:ext>
                  </a:extLst>
                </a:gridCol>
                <a:gridCol w="2984500">
                  <a:extLst>
                    <a:ext uri="{9D8B030D-6E8A-4147-A177-3AD203B41FA5}">
                      <a16:colId xmlns:a16="http://schemas.microsoft.com/office/drawing/2014/main" val="4066768564"/>
                    </a:ext>
                  </a:extLst>
                </a:gridCol>
              </a:tblGrid>
              <a:tr h="194855">
                <a:tc>
                  <a:txBody>
                    <a:bodyPr/>
                    <a:lstStyle/>
                    <a:p>
                      <a:pPr marL="0" marR="0" algn="just">
                        <a:lnSpc>
                          <a:spcPct val="107000"/>
                        </a:lnSpc>
                        <a:spcAft>
                          <a:spcPts val="2400"/>
                        </a:spcAft>
                        <a:buNone/>
                      </a:pPr>
                      <a:r>
                        <a:rPr lang="en-US" sz="1200" kern="100">
                          <a:effectLst/>
                        </a:rPr>
                        <a:t>Hạng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Đặc trưng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Importance 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Tỷ lệ (Gần đúng)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Ý nghĩa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3495945"/>
                  </a:ext>
                </a:extLst>
              </a:tr>
              <a:tr h="616316">
                <a:tc>
                  <a:txBody>
                    <a:bodyPr/>
                    <a:lstStyle/>
                    <a:p>
                      <a:pPr marL="0" marR="0" algn="just">
                        <a:lnSpc>
                          <a:spcPct val="107000"/>
                        </a:lnSpc>
                        <a:spcAft>
                          <a:spcPts val="2400"/>
                        </a:spcAft>
                        <a:buNone/>
                      </a:pPr>
                      <a:r>
                        <a:rPr lang="en-US" sz="1200" kern="100">
                          <a:effectLst/>
                        </a:rPr>
                        <a:t>1</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alcohol</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0.1521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~15.2\%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Quan trọng nhất. Độ cồn là yếu tố quyết định hàng đầu đến chất lượng cảm quan của rượu vang đỏ.</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913225"/>
                  </a:ext>
                </a:extLst>
              </a:tr>
              <a:tr h="616316">
                <a:tc>
                  <a:txBody>
                    <a:bodyPr/>
                    <a:lstStyle/>
                    <a:p>
                      <a:pPr marL="0" marR="0" algn="just">
                        <a:lnSpc>
                          <a:spcPct val="107000"/>
                        </a:lnSpc>
                        <a:spcAft>
                          <a:spcPts val="2400"/>
                        </a:spcAft>
                        <a:buNone/>
                      </a:pPr>
                      <a:r>
                        <a:rPr lang="en-US" sz="1200" kern="100">
                          <a:effectLst/>
                        </a:rPr>
                        <a:t>2</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sulphates</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0.1121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~11.2\%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Yếu tố quan trọng thứ hai, liên quan đến chất bảo quản và ảnh hưởng đến hương vị.</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95228692"/>
                  </a:ext>
                </a:extLst>
              </a:tr>
              <a:tr h="616316">
                <a:tc>
                  <a:txBody>
                    <a:bodyPr/>
                    <a:lstStyle/>
                    <a:p>
                      <a:pPr marL="0" marR="0" algn="just">
                        <a:lnSpc>
                          <a:spcPct val="107000"/>
                        </a:lnSpc>
                        <a:spcAft>
                          <a:spcPts val="2400"/>
                        </a:spcAft>
                        <a:buNone/>
                      </a:pPr>
                      <a:r>
                        <a:rPr lang="en-US" sz="1200" kern="100">
                          <a:effectLst/>
                        </a:rPr>
                        <a:t>3</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volatile acidity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0.1037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~10.4\%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Độ axit dễ bay hơi cao thường làm giảm chất lượng rượu, là chỉ báo quan trọng.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44045952"/>
                  </a:ext>
                </a:extLst>
              </a:tr>
              <a:tr h="311839">
                <a:tc>
                  <a:txBody>
                    <a:bodyPr/>
                    <a:lstStyle/>
                    <a:p>
                      <a:pPr marL="0" marR="0" algn="just">
                        <a:lnSpc>
                          <a:spcPct val="107000"/>
                        </a:lnSpc>
                        <a:spcAft>
                          <a:spcPts val="2400"/>
                        </a:spcAft>
                        <a:buNone/>
                      </a:pPr>
                      <a:r>
                        <a:rPr lang="en-US" sz="1200" kern="100">
                          <a:effectLst/>
                        </a:rPr>
                        <a:t>4</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total sulfur dioxide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0.1015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~10.1\%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Mức độ lưu huỳnh tổng thể (chất bảo quản).</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62432336"/>
                  </a:ext>
                </a:extLst>
              </a:tr>
              <a:tr h="768555">
                <a:tc>
                  <a:txBody>
                    <a:bodyPr/>
                    <a:lstStyle/>
                    <a:p>
                      <a:pPr marL="0" marR="0" algn="just">
                        <a:lnSpc>
                          <a:spcPct val="107000"/>
                        </a:lnSpc>
                        <a:spcAft>
                          <a:spcPts val="2400"/>
                        </a:spcAft>
                        <a:buNone/>
                      </a:pPr>
                      <a:r>
                        <a:rPr lang="en-US" sz="1200" kern="100">
                          <a:effectLst/>
                        </a:rPr>
                        <a:t>Cuối</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free sulfur dioxide, citric acid</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\approx 0.064, 0.069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\approx 6.4\%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Các yếu tố này có vai trò ít quan trọng nhất trong việc quyết định chất lượng rượu so với nhóm dẫn đầu.</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04865637"/>
                  </a:ext>
                </a:extLst>
              </a:tr>
            </a:tbl>
          </a:graphicData>
        </a:graphic>
      </p:graphicFrame>
    </p:spTree>
    <p:extLst>
      <p:ext uri="{BB962C8B-B14F-4D97-AF65-F5344CB8AC3E}">
        <p14:creationId xmlns:p14="http://schemas.microsoft.com/office/powerpoint/2010/main" val="34732202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8633B-CD0B-A7F8-7C74-38EE1296FCD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AB02878-BAB6-EDFD-F579-27A6A02F702F}"/>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4F8775C6-95A2-3D0E-42A4-8745F3781109}"/>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Report_RandomForest(Wine Quality White)</a:t>
            </a:r>
            <a:endParaRPr sz="3600" spc="-10" dirty="0"/>
          </a:p>
        </p:txBody>
      </p:sp>
      <p:sp>
        <p:nvSpPr>
          <p:cNvPr id="10" name="object 10">
            <a:extLst>
              <a:ext uri="{FF2B5EF4-FFF2-40B4-BE49-F238E27FC236}">
                <a16:creationId xmlns:a16="http://schemas.microsoft.com/office/drawing/2014/main" id="{938BA871-D7BC-F0F5-0589-E89B383513F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60</a:t>
            </a:fld>
            <a:endParaRPr spc="-25" dirty="0"/>
          </a:p>
        </p:txBody>
      </p:sp>
      <p:sp>
        <p:nvSpPr>
          <p:cNvPr id="6" name="object 3">
            <a:extLst>
              <a:ext uri="{FF2B5EF4-FFF2-40B4-BE49-F238E27FC236}">
                <a16:creationId xmlns:a16="http://schemas.microsoft.com/office/drawing/2014/main" id="{6046D5F7-631F-CBC6-D6A7-35E07746E6EF}"/>
              </a:ext>
            </a:extLst>
          </p:cNvPr>
          <p:cNvSpPr txBox="1">
            <a:spLocks/>
          </p:cNvSpPr>
          <p:nvPr/>
        </p:nvSpPr>
        <p:spPr>
          <a:xfrm>
            <a:off x="0" y="1377339"/>
            <a:ext cx="8608060" cy="79252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tổng thể:</a:t>
            </a:r>
          </a:p>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AD37DD04-7FE3-F549-F5F3-19ADE5F1CB8D}"/>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4" name="Table 3">
            <a:extLst>
              <a:ext uri="{FF2B5EF4-FFF2-40B4-BE49-F238E27FC236}">
                <a16:creationId xmlns:a16="http://schemas.microsoft.com/office/drawing/2014/main" id="{F23746F9-007B-2E7F-715B-C1D8E19DA7F1}"/>
              </a:ext>
            </a:extLst>
          </p:cNvPr>
          <p:cNvGraphicFramePr>
            <a:graphicFrameLocks noGrp="1"/>
          </p:cNvGraphicFramePr>
          <p:nvPr>
            <p:extLst>
              <p:ext uri="{D42A27DB-BD31-4B8C-83A1-F6EECF244321}">
                <p14:modId xmlns:p14="http://schemas.microsoft.com/office/powerpoint/2010/main" val="4294043276"/>
              </p:ext>
            </p:extLst>
          </p:nvPr>
        </p:nvGraphicFramePr>
        <p:xfrm>
          <a:off x="444500" y="1866900"/>
          <a:ext cx="8255001" cy="1880124"/>
        </p:xfrm>
        <a:graphic>
          <a:graphicData uri="http://schemas.openxmlformats.org/drawingml/2006/table">
            <a:tbl>
              <a:tblPr firstRow="1" firstCol="1" bandRow="1">
                <a:tableStyleId>{5C22544A-7EE6-4342-B048-85BDC9FD1C3A}</a:tableStyleId>
              </a:tblPr>
              <a:tblGrid>
                <a:gridCol w="2751667">
                  <a:extLst>
                    <a:ext uri="{9D8B030D-6E8A-4147-A177-3AD203B41FA5}">
                      <a16:colId xmlns:a16="http://schemas.microsoft.com/office/drawing/2014/main" val="1876735817"/>
                    </a:ext>
                  </a:extLst>
                </a:gridCol>
                <a:gridCol w="2751667">
                  <a:extLst>
                    <a:ext uri="{9D8B030D-6E8A-4147-A177-3AD203B41FA5}">
                      <a16:colId xmlns:a16="http://schemas.microsoft.com/office/drawing/2014/main" val="5566849"/>
                    </a:ext>
                  </a:extLst>
                </a:gridCol>
                <a:gridCol w="2751667">
                  <a:extLst>
                    <a:ext uri="{9D8B030D-6E8A-4147-A177-3AD203B41FA5}">
                      <a16:colId xmlns:a16="http://schemas.microsoft.com/office/drawing/2014/main" val="4169616250"/>
                    </a:ext>
                  </a:extLst>
                </a:gridCol>
              </a:tblGrid>
              <a:tr h="318246">
                <a:tc>
                  <a:txBody>
                    <a:bodyPr/>
                    <a:lstStyle/>
                    <a:p>
                      <a:pPr marL="0" marR="0" algn="just">
                        <a:lnSpc>
                          <a:spcPct val="107000"/>
                        </a:lnSpc>
                        <a:spcAft>
                          <a:spcPts val="2400"/>
                        </a:spcAft>
                        <a:buNone/>
                      </a:pPr>
                      <a:r>
                        <a:rPr lang="en-US" sz="1200" kern="100">
                          <a:effectLst/>
                        </a:rPr>
                        <a:t>Chỉ số</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Giá trị</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Nhận định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51441492"/>
                  </a:ext>
                </a:extLst>
              </a:tr>
              <a:tr h="621816">
                <a:tc>
                  <a:txBody>
                    <a:bodyPr/>
                    <a:lstStyle/>
                    <a:p>
                      <a:pPr marL="0" marR="0" algn="just">
                        <a:lnSpc>
                          <a:spcPct val="107000"/>
                        </a:lnSpc>
                        <a:spcAft>
                          <a:spcPts val="2400"/>
                        </a:spcAft>
                        <a:buNone/>
                      </a:pPr>
                      <a:r>
                        <a:rPr lang="en-US" sz="1200" kern="100">
                          <a:effectLst/>
                        </a:rPr>
                        <a:t>Test Accuracy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0.6796  (67.96%)</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Mô hình dự đoán đúng  67.96\%  trong số 980 mẫu rượu kiểm tra.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53928278"/>
                  </a:ext>
                </a:extLst>
              </a:tr>
              <a:tr h="621816">
                <a:tc>
                  <a:txBody>
                    <a:bodyPr/>
                    <a:lstStyle/>
                    <a:p>
                      <a:pPr marL="0" marR="0" algn="just">
                        <a:lnSpc>
                          <a:spcPct val="107000"/>
                        </a:lnSpc>
                        <a:spcAft>
                          <a:spcPts val="2400"/>
                        </a:spcAft>
                        <a:buNone/>
                      </a:pPr>
                      <a:r>
                        <a:rPr lang="en-US" sz="1200" kern="100">
                          <a:effectLst/>
                        </a:rPr>
                        <a:t>OOB 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0.6889  (68.89%)</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Độ chính xác ước tính nội tại (Out-of-Bag 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52628416"/>
                  </a:ext>
                </a:extLst>
              </a:tr>
              <a:tr h="318246">
                <a:tc>
                  <a:txBody>
                    <a:bodyPr/>
                    <a:lstStyle/>
                    <a:p>
                      <a:pPr marL="0" marR="0" algn="just">
                        <a:lnSpc>
                          <a:spcPct val="107000"/>
                        </a:lnSpc>
                        <a:spcAft>
                          <a:spcPts val="2400"/>
                        </a:spcAft>
                        <a:buNone/>
                      </a:pPr>
                      <a:r>
                        <a:rPr lang="en-US" sz="1200" kern="100">
                          <a:effectLst/>
                        </a:rPr>
                        <a:t>Số mẫu kiểm tra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980</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Đảm bảo kết quả đánh giá là đáng tin cậy.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15618631"/>
                  </a:ext>
                </a:extLst>
              </a:tr>
            </a:tbl>
          </a:graphicData>
        </a:graphic>
      </p:graphicFrame>
      <p:sp>
        <p:nvSpPr>
          <p:cNvPr id="8" name="object 3">
            <a:extLst>
              <a:ext uri="{FF2B5EF4-FFF2-40B4-BE49-F238E27FC236}">
                <a16:creationId xmlns:a16="http://schemas.microsoft.com/office/drawing/2014/main" id="{618B42E6-ED4E-AF97-310B-73B99864D525}"/>
              </a:ext>
            </a:extLst>
          </p:cNvPr>
          <p:cNvSpPr txBox="1">
            <a:spLocks/>
          </p:cNvSpPr>
          <p:nvPr/>
        </p:nvSpPr>
        <p:spPr>
          <a:xfrm>
            <a:off x="68579" y="3920264"/>
            <a:ext cx="8608060" cy="1531188"/>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Tính ổn định: OOB Score (68.89%) và Test Accuracy (67.96%) </a:t>
            </a:r>
            <a:r>
              <a:rPr lang="en-US" sz="2400" spc="-10">
                <a:solidFill>
                  <a:schemeClr val="tx1"/>
                </a:solidFill>
                <a:latin typeface="Times New Roman" panose="02020603050405020304" pitchFamily="18" charset="0"/>
                <a:cs typeface="Times New Roman" panose="02020603050405020304" pitchFamily="18" charset="0"/>
              </a:rPr>
              <a:t>gần nhau -&gt; mô hình rất ổn định và đã giảm phương sai hiệu quả, tránh được hiện tượng quá khớp.</a:t>
            </a:r>
            <a:endParaRPr lang="en-US" sz="2400" b="1" spc="-10">
              <a:solidFill>
                <a:schemeClr val="tx1"/>
              </a:solidFill>
              <a:latin typeface="Times New Roman" panose="02020603050405020304" pitchFamily="18" charset="0"/>
              <a:cs typeface="Times New Roman" panose="02020603050405020304" pitchFamily="18" charset="0"/>
            </a:endParaRPr>
          </a:p>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61943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F701A-16ED-892E-0B6E-59005660FCC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F849D8C-837E-D563-606B-F2ADE63B3B41}"/>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D6F4ED9E-4F42-B6D5-E5C1-192587598F26}"/>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Report_RandomForest(Wine Quality White)</a:t>
            </a:r>
            <a:endParaRPr sz="3600" spc="-10" dirty="0"/>
          </a:p>
        </p:txBody>
      </p:sp>
      <p:sp>
        <p:nvSpPr>
          <p:cNvPr id="10" name="object 10">
            <a:extLst>
              <a:ext uri="{FF2B5EF4-FFF2-40B4-BE49-F238E27FC236}">
                <a16:creationId xmlns:a16="http://schemas.microsoft.com/office/drawing/2014/main" id="{0458FEDD-B0EE-F65A-5AED-9D4178D1CBD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61</a:t>
            </a:fld>
            <a:endParaRPr spc="-25" dirty="0"/>
          </a:p>
        </p:txBody>
      </p:sp>
      <p:sp>
        <p:nvSpPr>
          <p:cNvPr id="6" name="object 3">
            <a:extLst>
              <a:ext uri="{FF2B5EF4-FFF2-40B4-BE49-F238E27FC236}">
                <a16:creationId xmlns:a16="http://schemas.microsoft.com/office/drawing/2014/main" id="{53252343-734A-92F6-5E89-9659E88D7B45}"/>
              </a:ext>
            </a:extLst>
          </p:cNvPr>
          <p:cNvSpPr txBox="1">
            <a:spLocks/>
          </p:cNvSpPr>
          <p:nvPr/>
        </p:nvSpPr>
        <p:spPr>
          <a:xfrm>
            <a:off x="0" y="1377339"/>
            <a:ext cx="8608060" cy="79252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Classification Report</a:t>
            </a:r>
          </a:p>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38F9D43A-F705-EDE4-8B5A-3CBB9331B7D5}"/>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A93AFF0D-8E0C-C88A-C33B-DC37F3D30B87}"/>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91273F6-688B-6145-1FA2-668649EDE841}"/>
              </a:ext>
            </a:extLst>
          </p:cNvPr>
          <p:cNvPicPr>
            <a:picLocks noChangeAspect="1"/>
          </p:cNvPicPr>
          <p:nvPr/>
        </p:nvPicPr>
        <p:blipFill>
          <a:blip r:embed="rId2"/>
          <a:stretch>
            <a:fillRect/>
          </a:stretch>
        </p:blipFill>
        <p:spPr>
          <a:xfrm>
            <a:off x="535940" y="1773601"/>
            <a:ext cx="7772400" cy="3196364"/>
          </a:xfrm>
          <a:prstGeom prst="rect">
            <a:avLst/>
          </a:prstGeom>
        </p:spPr>
      </p:pic>
    </p:spTree>
    <p:extLst>
      <p:ext uri="{BB962C8B-B14F-4D97-AF65-F5344CB8AC3E}">
        <p14:creationId xmlns:p14="http://schemas.microsoft.com/office/powerpoint/2010/main" val="21189196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CE427-D382-5447-BC64-1EEFAA0350F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84C26AA-D038-1915-F3E7-CEF213C45FE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BB278117-2D8E-C191-15F7-2CA857826328}"/>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Report_RandomForest(Wine Quality White)</a:t>
            </a:r>
            <a:endParaRPr sz="3600" spc="-10" dirty="0"/>
          </a:p>
        </p:txBody>
      </p:sp>
      <p:sp>
        <p:nvSpPr>
          <p:cNvPr id="10" name="object 10">
            <a:extLst>
              <a:ext uri="{FF2B5EF4-FFF2-40B4-BE49-F238E27FC236}">
                <a16:creationId xmlns:a16="http://schemas.microsoft.com/office/drawing/2014/main" id="{12BE56EA-38AC-AB50-BC60-D782B9B15C1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62</a:t>
            </a:fld>
            <a:endParaRPr spc="-25" dirty="0"/>
          </a:p>
        </p:txBody>
      </p:sp>
      <p:sp>
        <p:nvSpPr>
          <p:cNvPr id="6" name="object 3">
            <a:extLst>
              <a:ext uri="{FF2B5EF4-FFF2-40B4-BE49-F238E27FC236}">
                <a16:creationId xmlns:a16="http://schemas.microsoft.com/office/drawing/2014/main" id="{712CED1A-AC1C-19F0-64EC-B1A1B17886FF}"/>
              </a:ext>
            </a:extLst>
          </p:cNvPr>
          <p:cNvSpPr txBox="1">
            <a:spLocks/>
          </p:cNvSpPr>
          <p:nvPr/>
        </p:nvSpPr>
        <p:spPr>
          <a:xfrm>
            <a:off x="0" y="1377339"/>
            <a:ext cx="8608060" cy="79252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Classification Report</a:t>
            </a:r>
          </a:p>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93CD80D8-9B16-B9E7-6C71-185992D068F2}"/>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9A6E219A-AC7A-E16F-2D16-3F8AE558C8EA}"/>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A42620C-E678-338F-0251-5439263CC958}"/>
              </a:ext>
            </a:extLst>
          </p:cNvPr>
          <p:cNvPicPr>
            <a:picLocks noChangeAspect="1"/>
          </p:cNvPicPr>
          <p:nvPr/>
        </p:nvPicPr>
        <p:blipFill>
          <a:blip r:embed="rId2"/>
          <a:stretch>
            <a:fillRect/>
          </a:stretch>
        </p:blipFill>
        <p:spPr>
          <a:xfrm>
            <a:off x="467361" y="1790703"/>
            <a:ext cx="8257537" cy="3196364"/>
          </a:xfrm>
          <a:prstGeom prst="rect">
            <a:avLst/>
          </a:prstGeom>
        </p:spPr>
      </p:pic>
    </p:spTree>
    <p:extLst>
      <p:ext uri="{BB962C8B-B14F-4D97-AF65-F5344CB8AC3E}">
        <p14:creationId xmlns:p14="http://schemas.microsoft.com/office/powerpoint/2010/main" val="12877663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2319A-B4FB-2F88-31B4-9A9B2CCE312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8F0D623-136A-4767-DD6C-10DE69E452A6}"/>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7DF1B99F-7562-EE5E-EAAB-D77C16F8EEA3}"/>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Report_RandomForest(Wine Quality White)</a:t>
            </a:r>
            <a:endParaRPr sz="3600" spc="-10" dirty="0"/>
          </a:p>
        </p:txBody>
      </p:sp>
      <p:sp>
        <p:nvSpPr>
          <p:cNvPr id="10" name="object 10">
            <a:extLst>
              <a:ext uri="{FF2B5EF4-FFF2-40B4-BE49-F238E27FC236}">
                <a16:creationId xmlns:a16="http://schemas.microsoft.com/office/drawing/2014/main" id="{85CC0ABA-2948-BAC5-2031-0FF04461CF55}"/>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63</a:t>
            </a:fld>
            <a:endParaRPr spc="-25" dirty="0"/>
          </a:p>
        </p:txBody>
      </p:sp>
      <p:sp>
        <p:nvSpPr>
          <p:cNvPr id="6" name="object 3">
            <a:extLst>
              <a:ext uri="{FF2B5EF4-FFF2-40B4-BE49-F238E27FC236}">
                <a16:creationId xmlns:a16="http://schemas.microsoft.com/office/drawing/2014/main" id="{5B11C043-7BEA-B5CB-503B-F453DA3F2F51}"/>
              </a:ext>
            </a:extLst>
          </p:cNvPr>
          <p:cNvSpPr txBox="1">
            <a:spLocks/>
          </p:cNvSpPr>
          <p:nvPr/>
        </p:nvSpPr>
        <p:spPr>
          <a:xfrm>
            <a:off x="0" y="1377339"/>
            <a:ext cx="8608060" cy="79252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Classification Report</a:t>
            </a:r>
          </a:p>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5F370AC0-CF1E-AE88-3E80-4209AC9DC699}"/>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FE30F5E0-C6AC-1E86-6844-BA7B8EEFD250}"/>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9818E204-8710-B4A1-1A33-CA5F1A5C1E07}"/>
              </a:ext>
            </a:extLst>
          </p:cNvPr>
          <p:cNvGraphicFramePr>
            <a:graphicFrameLocks noGrp="1"/>
          </p:cNvGraphicFramePr>
          <p:nvPr>
            <p:extLst>
              <p:ext uri="{D42A27DB-BD31-4B8C-83A1-F6EECF244321}">
                <p14:modId xmlns:p14="http://schemas.microsoft.com/office/powerpoint/2010/main" val="2892517833"/>
              </p:ext>
            </p:extLst>
          </p:nvPr>
        </p:nvGraphicFramePr>
        <p:xfrm>
          <a:off x="535940" y="1773601"/>
          <a:ext cx="7998460" cy="3165627"/>
        </p:xfrm>
        <a:graphic>
          <a:graphicData uri="http://schemas.openxmlformats.org/drawingml/2006/table">
            <a:tbl>
              <a:tblPr firstRow="1" firstCol="1" bandRow="1">
                <a:tableStyleId>{5C22544A-7EE6-4342-B048-85BDC9FD1C3A}</a:tableStyleId>
              </a:tblPr>
              <a:tblGrid>
                <a:gridCol w="757034">
                  <a:extLst>
                    <a:ext uri="{9D8B030D-6E8A-4147-A177-3AD203B41FA5}">
                      <a16:colId xmlns:a16="http://schemas.microsoft.com/office/drawing/2014/main" val="2880370228"/>
                    </a:ext>
                  </a:extLst>
                </a:gridCol>
                <a:gridCol w="945641">
                  <a:extLst>
                    <a:ext uri="{9D8B030D-6E8A-4147-A177-3AD203B41FA5}">
                      <a16:colId xmlns:a16="http://schemas.microsoft.com/office/drawing/2014/main" val="1365825394"/>
                    </a:ext>
                  </a:extLst>
                </a:gridCol>
                <a:gridCol w="733185">
                  <a:extLst>
                    <a:ext uri="{9D8B030D-6E8A-4147-A177-3AD203B41FA5}">
                      <a16:colId xmlns:a16="http://schemas.microsoft.com/office/drawing/2014/main" val="429216977"/>
                    </a:ext>
                  </a:extLst>
                </a:gridCol>
                <a:gridCol w="838200">
                  <a:extLst>
                    <a:ext uri="{9D8B030D-6E8A-4147-A177-3AD203B41FA5}">
                      <a16:colId xmlns:a16="http://schemas.microsoft.com/office/drawing/2014/main" val="2675156475"/>
                    </a:ext>
                  </a:extLst>
                </a:gridCol>
                <a:gridCol w="838200">
                  <a:extLst>
                    <a:ext uri="{9D8B030D-6E8A-4147-A177-3AD203B41FA5}">
                      <a16:colId xmlns:a16="http://schemas.microsoft.com/office/drawing/2014/main" val="1967430355"/>
                    </a:ext>
                  </a:extLst>
                </a:gridCol>
                <a:gridCol w="3886200">
                  <a:extLst>
                    <a:ext uri="{9D8B030D-6E8A-4147-A177-3AD203B41FA5}">
                      <a16:colId xmlns:a16="http://schemas.microsoft.com/office/drawing/2014/main" val="3548331753"/>
                    </a:ext>
                  </a:extLst>
                </a:gridCol>
              </a:tblGrid>
              <a:tr h="225087">
                <a:tc>
                  <a:txBody>
                    <a:bodyPr/>
                    <a:lstStyle/>
                    <a:p>
                      <a:pPr marL="0" marR="0" algn="just">
                        <a:lnSpc>
                          <a:spcPct val="107000"/>
                        </a:lnSpc>
                        <a:spcAft>
                          <a:spcPts val="2400"/>
                        </a:spcAft>
                        <a:buNone/>
                      </a:pPr>
                      <a:r>
                        <a:rPr lang="en-US" sz="700" kern="100">
                          <a:effectLst/>
                        </a:rPr>
                        <a:t>Lớp (Quality)</a:t>
                      </a:r>
                      <a:endParaRPr lang="en-US" sz="7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700" kern="100">
                          <a:effectLst/>
                        </a:rPr>
                        <a:t>Support</a:t>
                      </a:r>
                      <a:endParaRPr lang="en-US" sz="7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700" kern="100">
                          <a:effectLst/>
                        </a:rPr>
                        <a:t>Precision</a:t>
                      </a:r>
                      <a:endParaRPr lang="en-US" sz="7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700" kern="100">
                          <a:effectLst/>
                        </a:rPr>
                        <a:t>Recall</a:t>
                      </a:r>
                      <a:endParaRPr lang="en-US" sz="7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700" kern="100">
                          <a:effectLst/>
                        </a:rPr>
                        <a:t>F1-Score</a:t>
                      </a:r>
                      <a:endParaRPr lang="en-US" sz="7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700" kern="100">
                          <a:effectLst/>
                        </a:rPr>
                        <a:t>Phân tích</a:t>
                      </a:r>
                      <a:endParaRPr lang="en-US" sz="7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extLst>
                  <a:ext uri="{0D108BD9-81ED-4DB2-BD59-A6C34878D82A}">
                    <a16:rowId xmlns:a16="http://schemas.microsoft.com/office/drawing/2014/main" val="476792557"/>
                  </a:ext>
                </a:extLst>
              </a:tr>
              <a:tr h="490495">
                <a:tc>
                  <a:txBody>
                    <a:bodyPr/>
                    <a:lstStyle/>
                    <a:p>
                      <a:pPr marL="0" marR="0" algn="just">
                        <a:lnSpc>
                          <a:spcPct val="107000"/>
                        </a:lnSpc>
                        <a:spcAft>
                          <a:spcPts val="2400"/>
                        </a:spcAft>
                        <a:buNone/>
                      </a:pPr>
                      <a:r>
                        <a:rPr lang="en-US" sz="700" kern="100">
                          <a:effectLst/>
                        </a:rPr>
                        <a:t>3, 9</a:t>
                      </a:r>
                      <a:endParaRPr lang="en-US" sz="7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4, 1</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0.00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0.00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0.00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Thất bại hoàn toàn. Các lớp này quá hiếm (chỉ 4 và 1 mẫu) nên mô hình không thể học hoặc dự đoán đúng.</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extLst>
                  <a:ext uri="{0D108BD9-81ED-4DB2-BD59-A6C34878D82A}">
                    <a16:rowId xmlns:a16="http://schemas.microsoft.com/office/drawing/2014/main" val="3048898764"/>
                  </a:ext>
                </a:extLst>
              </a:tr>
              <a:tr h="734528">
                <a:tc>
                  <a:txBody>
                    <a:bodyPr/>
                    <a:lstStyle/>
                    <a:p>
                      <a:pPr marL="0" marR="0" algn="just">
                        <a:lnSpc>
                          <a:spcPct val="107000"/>
                        </a:lnSpc>
                        <a:spcAft>
                          <a:spcPts val="2400"/>
                        </a:spcAft>
                        <a:buNone/>
                      </a:pPr>
                      <a:r>
                        <a:rPr lang="en-US" sz="700" kern="100">
                          <a:effectLst/>
                        </a:rPr>
                        <a:t>4</a:t>
                      </a:r>
                      <a:endParaRPr lang="en-US" sz="7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33</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0.70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0.21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0.33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Precision cao ( 70\% ), nhưng Recall rất thấp ( 21\% ). Khi mô hình dự đoán là  4 , nó đúng  70\%  số lần, nhưng lại bỏ sót  79\%  số rượu Chất lượng 4 thực tế.</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extLst>
                  <a:ext uri="{0D108BD9-81ED-4DB2-BD59-A6C34878D82A}">
                    <a16:rowId xmlns:a16="http://schemas.microsoft.com/office/drawing/2014/main" val="2864306202"/>
                  </a:ext>
                </a:extLst>
              </a:tr>
              <a:tr h="734528">
                <a:tc>
                  <a:txBody>
                    <a:bodyPr/>
                    <a:lstStyle/>
                    <a:p>
                      <a:pPr marL="0" marR="0" algn="just">
                        <a:lnSpc>
                          <a:spcPct val="107000"/>
                        </a:lnSpc>
                        <a:spcAft>
                          <a:spcPts val="2400"/>
                        </a:spcAft>
                        <a:buNone/>
                      </a:pPr>
                      <a:r>
                        <a:rPr lang="en-US" sz="700" kern="100">
                          <a:effectLst/>
                        </a:rPr>
                        <a:t>5, 6</a:t>
                      </a:r>
                      <a:endParaRPr lang="en-US" sz="7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291, 440</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0.71, 0.64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0.66, 0.82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0.69, 0.72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Lõi của mô hình. Hai lớp chiếm đa số này đạt F1-Score cao nhất. Đặc biệt, lớp 6 có Recall cao nhất ( 82\% ), cho thấy mô hình nhận dạng rượu chất lượng trung bình rất tốt.</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extLst>
                  <a:ext uri="{0D108BD9-81ED-4DB2-BD59-A6C34878D82A}">
                    <a16:rowId xmlns:a16="http://schemas.microsoft.com/office/drawing/2014/main" val="1458886078"/>
                  </a:ext>
                </a:extLst>
              </a:tr>
              <a:tr h="653183">
                <a:tc>
                  <a:txBody>
                    <a:bodyPr/>
                    <a:lstStyle/>
                    <a:p>
                      <a:pPr marL="0" marR="0" algn="just">
                        <a:lnSpc>
                          <a:spcPct val="107000"/>
                        </a:lnSpc>
                        <a:spcAft>
                          <a:spcPts val="2400"/>
                        </a:spcAft>
                        <a:buNone/>
                      </a:pPr>
                      <a:r>
                        <a:rPr lang="en-US" sz="700" kern="100">
                          <a:effectLst/>
                        </a:rPr>
                        <a:t>7</a:t>
                      </a:r>
                      <a:endParaRPr lang="en-US" sz="7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176</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0.72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0.49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0.58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Precision tốt ( 72\% ), nhưng Recall trung bình ( 49\% ). Mô hình chính xác khi dự đoán 7 nhưng bỏ sót một nửa số rượu chất lượng cao này.</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extLst>
                  <a:ext uri="{0D108BD9-81ED-4DB2-BD59-A6C34878D82A}">
                    <a16:rowId xmlns:a16="http://schemas.microsoft.com/office/drawing/2014/main" val="2102685545"/>
                  </a:ext>
                </a:extLst>
              </a:tr>
              <a:tr h="327806">
                <a:tc>
                  <a:txBody>
                    <a:bodyPr/>
                    <a:lstStyle/>
                    <a:p>
                      <a:pPr marL="0" marR="0" algn="just">
                        <a:lnSpc>
                          <a:spcPct val="107000"/>
                        </a:lnSpc>
                        <a:spcAft>
                          <a:spcPts val="2400"/>
                        </a:spcAft>
                        <a:buNone/>
                      </a:pPr>
                      <a:r>
                        <a:rPr lang="en-US" sz="700" kern="100">
                          <a:effectLst/>
                        </a:rPr>
                        <a:t>8</a:t>
                      </a:r>
                      <a:endParaRPr lang="en-US" sz="7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35</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0.95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0.54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 0.69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tc>
                  <a:txBody>
                    <a:bodyPr/>
                    <a:lstStyle/>
                    <a:p>
                      <a:pPr marL="0" marR="0" algn="just">
                        <a:lnSpc>
                          <a:spcPct val="107000"/>
                        </a:lnSpc>
                        <a:spcAft>
                          <a:spcPts val="2400"/>
                        </a:spcAft>
                        <a:buNone/>
                      </a:pPr>
                      <a:r>
                        <a:rPr lang="en-US" sz="1000" kern="100">
                          <a:effectLst/>
                        </a:rPr>
                        <a:t>Precision rất cao. Khi mô hình dự đoán là 8, nó gần như luôn đúng ( 95\% ).</a:t>
                      </a:r>
                      <a:endParaRPr lang="en-US"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206" marR="5206" marT="5206" marB="5206" anchor="ctr"/>
                </a:tc>
                <a:extLst>
                  <a:ext uri="{0D108BD9-81ED-4DB2-BD59-A6C34878D82A}">
                    <a16:rowId xmlns:a16="http://schemas.microsoft.com/office/drawing/2014/main" val="4162501986"/>
                  </a:ext>
                </a:extLst>
              </a:tr>
            </a:tbl>
          </a:graphicData>
        </a:graphic>
      </p:graphicFrame>
    </p:spTree>
    <p:extLst>
      <p:ext uri="{BB962C8B-B14F-4D97-AF65-F5344CB8AC3E}">
        <p14:creationId xmlns:p14="http://schemas.microsoft.com/office/powerpoint/2010/main" val="6848582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294A1-757A-5C93-75AE-C7174EE4719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6243A94-2605-56E6-150A-4232572CA927}"/>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149868B2-A534-6443-E1B8-ABD6D43F0BF7}"/>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Report_RandomForest(Wine Quality White)</a:t>
            </a:r>
            <a:endParaRPr sz="3600" spc="-10" dirty="0"/>
          </a:p>
        </p:txBody>
      </p:sp>
      <p:sp>
        <p:nvSpPr>
          <p:cNvPr id="10" name="object 10">
            <a:extLst>
              <a:ext uri="{FF2B5EF4-FFF2-40B4-BE49-F238E27FC236}">
                <a16:creationId xmlns:a16="http://schemas.microsoft.com/office/drawing/2014/main" id="{0D7E72C4-8714-6FE6-3D94-EF0BC5BCF197}"/>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64</a:t>
            </a:fld>
            <a:endParaRPr spc="-25" dirty="0"/>
          </a:p>
        </p:txBody>
      </p:sp>
      <p:sp>
        <p:nvSpPr>
          <p:cNvPr id="6" name="object 3">
            <a:extLst>
              <a:ext uri="{FF2B5EF4-FFF2-40B4-BE49-F238E27FC236}">
                <a16:creationId xmlns:a16="http://schemas.microsoft.com/office/drawing/2014/main" id="{A34B720B-C3ED-A763-2AB5-54D52FA202D6}"/>
              </a:ext>
            </a:extLst>
          </p:cNvPr>
          <p:cNvSpPr txBox="1">
            <a:spLocks/>
          </p:cNvSpPr>
          <p:nvPr/>
        </p:nvSpPr>
        <p:spPr>
          <a:xfrm>
            <a:off x="457200" y="1371648"/>
            <a:ext cx="8188959" cy="303416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Classification Report</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2400" spc="-10">
                <a:solidFill>
                  <a:schemeClr val="tx1"/>
                </a:solidFill>
                <a:latin typeface="Times New Roman" panose="02020603050405020304" pitchFamily="18" charset="0"/>
                <a:cs typeface="Times New Roman" panose="02020603050405020304" pitchFamily="18" charset="0"/>
              </a:rPr>
              <a:t>-Báo cáo cho thấy mô hình hoạt động tốt ở các lớp phổ biến nhưng thất bại hoàn toàn ở các lớp hiếm do tính chất </a:t>
            </a:r>
            <a:r>
              <a:rPr lang="en-US" sz="2400" b="1" spc="-10">
                <a:solidFill>
                  <a:schemeClr val="tx1"/>
                </a:solidFill>
                <a:latin typeface="Times New Roman" panose="02020603050405020304" pitchFamily="18" charset="0"/>
                <a:cs typeface="Times New Roman" panose="02020603050405020304" pitchFamily="18" charset="0"/>
              </a:rPr>
              <a:t>mất cân bằng lớp </a:t>
            </a:r>
            <a:r>
              <a:rPr lang="en-US" sz="2400" spc="-10">
                <a:solidFill>
                  <a:schemeClr val="tx1"/>
                </a:solidFill>
                <a:latin typeface="Times New Roman" panose="02020603050405020304" pitchFamily="18" charset="0"/>
                <a:cs typeface="Times New Roman" panose="02020603050405020304" pitchFamily="18" charset="0"/>
              </a:rPr>
              <a:t>của dữ liệu</a:t>
            </a:r>
          </a:p>
          <a:p>
            <a:pPr marL="12700">
              <a:spcBef>
                <a:spcPts val="100"/>
              </a:spcBef>
            </a:pPr>
            <a:r>
              <a:rPr lang="en-US" sz="2400" spc="-10">
                <a:solidFill>
                  <a:schemeClr val="tx1"/>
                </a:solidFill>
                <a:latin typeface="Times New Roman" panose="02020603050405020304" pitchFamily="18" charset="0"/>
                <a:cs typeface="Times New Roman" panose="02020603050405020304" pitchFamily="18" charset="0"/>
              </a:rPr>
              <a:t>	-</a:t>
            </a:r>
            <a:r>
              <a:rPr lang="en-US" sz="2400" b="1" spc="-10">
                <a:solidFill>
                  <a:schemeClr val="tx1"/>
                </a:solidFill>
                <a:latin typeface="Times New Roman" panose="02020603050405020304" pitchFamily="18" charset="0"/>
                <a:cs typeface="Times New Roman" panose="02020603050405020304" pitchFamily="18" charset="0"/>
              </a:rPr>
              <a:t>Hiệu suất tổng thể (68%) </a:t>
            </a:r>
            <a:r>
              <a:rPr lang="en-US" sz="2400" spc="-10">
                <a:solidFill>
                  <a:schemeClr val="tx1"/>
                </a:solidFill>
                <a:latin typeface="Times New Roman" panose="02020603050405020304" pitchFamily="18" charset="0"/>
                <a:cs typeface="Times New Roman" panose="02020603050405020304" pitchFamily="18" charset="0"/>
              </a:rPr>
              <a:t>bị kéo xuống bởi sự thất bại ở các lớp hiếm. Mô hình đang tập trung vào việc dự đoán chính xác các lớp phổ biến và lớp có đặc trung rõ rang(8)</a:t>
            </a:r>
          </a:p>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DF851E07-C146-926B-FA1E-C0E07B4A04A5}"/>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F3015C85-4AC7-F9CE-C9EE-8C5A2ED8559B}"/>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08566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3E14E-9B45-0234-382C-6AD047A3EC0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601340D-8280-4B24-AE3F-C54175B326B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27043A30-97C4-1F9D-6103-B3C9E9792375}"/>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Report_RandomForest(Wine Quality White)</a:t>
            </a:r>
            <a:endParaRPr sz="3600" spc="-10" dirty="0"/>
          </a:p>
        </p:txBody>
      </p:sp>
      <p:sp>
        <p:nvSpPr>
          <p:cNvPr id="10" name="object 10">
            <a:extLst>
              <a:ext uri="{FF2B5EF4-FFF2-40B4-BE49-F238E27FC236}">
                <a16:creationId xmlns:a16="http://schemas.microsoft.com/office/drawing/2014/main" id="{2437C5D0-34E0-938A-A8F1-EFE2EE03973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65</a:t>
            </a:fld>
            <a:endParaRPr spc="-25" dirty="0"/>
          </a:p>
        </p:txBody>
      </p:sp>
      <p:sp>
        <p:nvSpPr>
          <p:cNvPr id="6" name="object 3">
            <a:extLst>
              <a:ext uri="{FF2B5EF4-FFF2-40B4-BE49-F238E27FC236}">
                <a16:creationId xmlns:a16="http://schemas.microsoft.com/office/drawing/2014/main" id="{71FA5E1C-D128-FC05-7A15-1306CEB8818D}"/>
              </a:ext>
            </a:extLst>
          </p:cNvPr>
          <p:cNvSpPr txBox="1">
            <a:spLocks/>
          </p:cNvSpPr>
          <p:nvPr/>
        </p:nvSpPr>
        <p:spPr>
          <a:xfrm>
            <a:off x="0" y="1377339"/>
            <a:ext cx="8608060" cy="191077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3F9F3206-E759-9DCB-20E5-1A65F45FF9D1}"/>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524C36DC-A2DC-00FB-8C67-1A4540445BB0}"/>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8B87831-E41C-E36E-C6A9-6140AF89C05B}"/>
              </a:ext>
            </a:extLst>
          </p:cNvPr>
          <p:cNvPicPr>
            <a:picLocks noChangeAspect="1"/>
          </p:cNvPicPr>
          <p:nvPr/>
        </p:nvPicPr>
        <p:blipFill>
          <a:blip r:embed="rId2"/>
          <a:stretch>
            <a:fillRect/>
          </a:stretch>
        </p:blipFill>
        <p:spPr>
          <a:xfrm>
            <a:off x="1219200" y="1794737"/>
            <a:ext cx="6781800" cy="3120164"/>
          </a:xfrm>
          <a:prstGeom prst="rect">
            <a:avLst/>
          </a:prstGeom>
        </p:spPr>
      </p:pic>
    </p:spTree>
    <p:extLst>
      <p:ext uri="{BB962C8B-B14F-4D97-AF65-F5344CB8AC3E}">
        <p14:creationId xmlns:p14="http://schemas.microsoft.com/office/powerpoint/2010/main" val="24788484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11BF3-FB43-CF66-8F9C-7E740E65A9A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425C3FE-1AD0-8DE0-6F18-84A768A15833}"/>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44C5A721-8888-16E1-6B51-5619F0DE8998}"/>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Report_RandomForest(Wine Quality White)</a:t>
            </a:r>
            <a:endParaRPr sz="3600" spc="-10" dirty="0"/>
          </a:p>
        </p:txBody>
      </p:sp>
      <p:sp>
        <p:nvSpPr>
          <p:cNvPr id="10" name="object 10">
            <a:extLst>
              <a:ext uri="{FF2B5EF4-FFF2-40B4-BE49-F238E27FC236}">
                <a16:creationId xmlns:a16="http://schemas.microsoft.com/office/drawing/2014/main" id="{0E8E8F26-B1A1-712C-5198-5D8833E25248}"/>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66</a:t>
            </a:fld>
            <a:endParaRPr spc="-25" dirty="0"/>
          </a:p>
        </p:txBody>
      </p:sp>
      <p:sp>
        <p:nvSpPr>
          <p:cNvPr id="6" name="object 3">
            <a:extLst>
              <a:ext uri="{FF2B5EF4-FFF2-40B4-BE49-F238E27FC236}">
                <a16:creationId xmlns:a16="http://schemas.microsoft.com/office/drawing/2014/main" id="{B1A13D4B-AB02-5559-3ECF-6D5908409657}"/>
              </a:ext>
            </a:extLst>
          </p:cNvPr>
          <p:cNvSpPr txBox="1">
            <a:spLocks/>
          </p:cNvSpPr>
          <p:nvPr/>
        </p:nvSpPr>
        <p:spPr>
          <a:xfrm>
            <a:off x="0" y="1377339"/>
            <a:ext cx="8608060" cy="191077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F737480E-DBE3-827D-97BA-EDCA2BB12870}"/>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6263A87D-F33A-198E-807A-D1C6D1114667}"/>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B8EC8F0F-B311-5337-0CAC-A9A0CDF2C2D0}"/>
              </a:ext>
            </a:extLst>
          </p:cNvPr>
          <p:cNvGraphicFramePr>
            <a:graphicFrameLocks noGrp="1"/>
          </p:cNvGraphicFramePr>
          <p:nvPr>
            <p:extLst>
              <p:ext uri="{D42A27DB-BD31-4B8C-83A1-F6EECF244321}">
                <p14:modId xmlns:p14="http://schemas.microsoft.com/office/powerpoint/2010/main" val="3642684319"/>
              </p:ext>
            </p:extLst>
          </p:nvPr>
        </p:nvGraphicFramePr>
        <p:xfrm>
          <a:off x="421639" y="1886615"/>
          <a:ext cx="8255000" cy="3047357"/>
        </p:xfrm>
        <a:graphic>
          <a:graphicData uri="http://schemas.openxmlformats.org/drawingml/2006/table">
            <a:tbl>
              <a:tblPr firstRow="1" firstCol="1" bandRow="1">
                <a:tableStyleId>{5C22544A-7EE6-4342-B048-85BDC9FD1C3A}</a:tableStyleId>
              </a:tblPr>
              <a:tblGrid>
                <a:gridCol w="1003300">
                  <a:extLst>
                    <a:ext uri="{9D8B030D-6E8A-4147-A177-3AD203B41FA5}">
                      <a16:colId xmlns:a16="http://schemas.microsoft.com/office/drawing/2014/main" val="2654158923"/>
                    </a:ext>
                  </a:extLst>
                </a:gridCol>
                <a:gridCol w="2514600">
                  <a:extLst>
                    <a:ext uri="{9D8B030D-6E8A-4147-A177-3AD203B41FA5}">
                      <a16:colId xmlns:a16="http://schemas.microsoft.com/office/drawing/2014/main" val="2756531455"/>
                    </a:ext>
                  </a:extLst>
                </a:gridCol>
                <a:gridCol w="1752600">
                  <a:extLst>
                    <a:ext uri="{9D8B030D-6E8A-4147-A177-3AD203B41FA5}">
                      <a16:colId xmlns:a16="http://schemas.microsoft.com/office/drawing/2014/main" val="1789015278"/>
                    </a:ext>
                  </a:extLst>
                </a:gridCol>
                <a:gridCol w="2984500">
                  <a:extLst>
                    <a:ext uri="{9D8B030D-6E8A-4147-A177-3AD203B41FA5}">
                      <a16:colId xmlns:a16="http://schemas.microsoft.com/office/drawing/2014/main" val="342515432"/>
                    </a:ext>
                  </a:extLst>
                </a:gridCol>
              </a:tblGrid>
              <a:tr h="205890">
                <a:tc>
                  <a:txBody>
                    <a:bodyPr/>
                    <a:lstStyle/>
                    <a:p>
                      <a:pPr marL="0" marR="0" algn="just">
                        <a:lnSpc>
                          <a:spcPct val="107000"/>
                        </a:lnSpc>
                        <a:spcAft>
                          <a:spcPts val="2400"/>
                        </a:spcAft>
                        <a:buNone/>
                      </a:pPr>
                      <a:r>
                        <a:rPr lang="en-US" sz="1200" kern="100">
                          <a:effectLst/>
                        </a:rPr>
                        <a:t>Hạng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Đặc trưng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Importance 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Ý nghĩa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76745780"/>
                  </a:ext>
                </a:extLst>
              </a:tr>
              <a:tr h="639705">
                <a:tc>
                  <a:txBody>
                    <a:bodyPr/>
                    <a:lstStyle/>
                    <a:p>
                      <a:pPr marL="0" marR="0" algn="just">
                        <a:lnSpc>
                          <a:spcPct val="107000"/>
                        </a:lnSpc>
                        <a:spcAft>
                          <a:spcPts val="2400"/>
                        </a:spcAft>
                        <a:buNone/>
                      </a:pPr>
                      <a:r>
                        <a:rPr lang="en-US" sz="1200" kern="100">
                          <a:effectLst/>
                        </a:rPr>
                        <a:t>1</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alcohol</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0.1165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Quan trọng nhất. Độ cồn là yếu tố đơn lẻ quan trọng nhất quyết định chất lượng rượu vang trắng.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13734420"/>
                  </a:ext>
                </a:extLst>
              </a:tr>
              <a:tr h="598679">
                <a:tc>
                  <a:txBody>
                    <a:bodyPr/>
                    <a:lstStyle/>
                    <a:p>
                      <a:pPr marL="0" marR="0" algn="just">
                        <a:lnSpc>
                          <a:spcPct val="107000"/>
                        </a:lnSpc>
                        <a:spcAft>
                          <a:spcPts val="2400"/>
                        </a:spcAft>
                        <a:buNone/>
                      </a:pPr>
                      <a:r>
                        <a:rPr lang="en-US" sz="1200" kern="100">
                          <a:effectLst/>
                        </a:rPr>
                        <a:t>2</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density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0.1030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Yếu tố mật độ có vai trò lớn thứ hai, thường liên quan trực tiếp đến hàm lượng đường và cồn.</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15301941"/>
                  </a:ext>
                </a:extLst>
              </a:tr>
              <a:tr h="481689">
                <a:tc>
                  <a:txBody>
                    <a:bodyPr/>
                    <a:lstStyle/>
                    <a:p>
                      <a:pPr marL="0" marR="0" algn="just">
                        <a:lnSpc>
                          <a:spcPct val="107000"/>
                        </a:lnSpc>
                        <a:spcAft>
                          <a:spcPts val="2400"/>
                        </a:spcAft>
                        <a:buNone/>
                      </a:pPr>
                      <a:r>
                        <a:rPr lang="en-US" sz="1200" kern="100">
                          <a:effectLst/>
                        </a:rPr>
                        <a:t>3</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volatile acidity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0.1005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Độ axit bay hơi cao thường làm giảm chất lượng rượu, là một chỉ báo quan trọng.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46784757"/>
                  </a:ext>
                </a:extLst>
              </a:tr>
              <a:tr h="481689">
                <a:tc>
                  <a:txBody>
                    <a:bodyPr/>
                    <a:lstStyle/>
                    <a:p>
                      <a:pPr marL="0" marR="0" algn="just">
                        <a:lnSpc>
                          <a:spcPct val="107000"/>
                        </a:lnSpc>
                        <a:spcAft>
                          <a:spcPts val="2400"/>
                        </a:spcAft>
                        <a:buNone/>
                      </a:pPr>
                      <a:r>
                        <a:rPr lang="en-US" sz="1200" kern="100">
                          <a:effectLst/>
                        </a:rPr>
                        <a:t>4, 5</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free sulfur dioxide, total sulfur dioxide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\approx 0.092, 0.091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Lưu huỳnh đioxit đóng vai trò quan trọng trong việc bảo quản rượu.</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08005321"/>
                  </a:ext>
                </a:extLst>
              </a:tr>
              <a:tr h="639705">
                <a:tc>
                  <a:txBody>
                    <a:bodyPr/>
                    <a:lstStyle/>
                    <a:p>
                      <a:pPr marL="0" marR="0" algn="just">
                        <a:lnSpc>
                          <a:spcPct val="107000"/>
                        </a:lnSpc>
                        <a:spcAft>
                          <a:spcPts val="2400"/>
                        </a:spcAft>
                        <a:buNone/>
                      </a:pPr>
                      <a:r>
                        <a:rPr lang="en-US" sz="1200" kern="100">
                          <a:effectLst/>
                        </a:rPr>
                        <a:t>Cuối</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fixed acidity, sulphates</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\approx 0.078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Các yếu tố này có vai trò thấp nhất trong việc phân loại chất lượng rượu vang trắng so với các đặc trưng khác.</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91475493"/>
                  </a:ext>
                </a:extLst>
              </a:tr>
            </a:tbl>
          </a:graphicData>
        </a:graphic>
      </p:graphicFrame>
    </p:spTree>
    <p:extLst>
      <p:ext uri="{BB962C8B-B14F-4D97-AF65-F5344CB8AC3E}">
        <p14:creationId xmlns:p14="http://schemas.microsoft.com/office/powerpoint/2010/main" val="1638849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3A7E2-D8E6-6904-3E9A-246E2129B06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AC2C932-5A22-D555-4B53-188ED0199838}"/>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601E88F7-DB53-4BDC-A1C0-47953A6B511B}"/>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Report_RandomForest(Wine Quality White)</a:t>
            </a:r>
            <a:endParaRPr sz="3600" spc="-10" dirty="0"/>
          </a:p>
        </p:txBody>
      </p:sp>
      <p:sp>
        <p:nvSpPr>
          <p:cNvPr id="10" name="object 10">
            <a:extLst>
              <a:ext uri="{FF2B5EF4-FFF2-40B4-BE49-F238E27FC236}">
                <a16:creationId xmlns:a16="http://schemas.microsoft.com/office/drawing/2014/main" id="{54D6244A-F26E-E07D-8629-581F5EB620B4}"/>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67</a:t>
            </a:fld>
            <a:endParaRPr spc="-25" dirty="0"/>
          </a:p>
        </p:txBody>
      </p:sp>
      <p:sp>
        <p:nvSpPr>
          <p:cNvPr id="6" name="object 3">
            <a:extLst>
              <a:ext uri="{FF2B5EF4-FFF2-40B4-BE49-F238E27FC236}">
                <a16:creationId xmlns:a16="http://schemas.microsoft.com/office/drawing/2014/main" id="{3056D0AE-04F9-E2B4-0E55-929AD8D355DD}"/>
              </a:ext>
            </a:extLst>
          </p:cNvPr>
          <p:cNvSpPr txBox="1">
            <a:spLocks/>
          </p:cNvSpPr>
          <p:nvPr/>
        </p:nvSpPr>
        <p:spPr>
          <a:xfrm>
            <a:off x="454152" y="1311857"/>
            <a:ext cx="8232648" cy="3831818"/>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342900" indent="-342900">
              <a:buFont typeface="Wingdings" panose="05000000000000000000" pitchFamily="2" charset="2"/>
              <a:buChar char="§"/>
            </a:pPr>
            <a:r>
              <a:rPr lang="en-US" sz="2000" b="1">
                <a:solidFill>
                  <a:schemeClr val="tx1"/>
                </a:solidFill>
                <a:latin typeface="Times New Roman" panose="02020603050405020304" pitchFamily="18" charset="0"/>
                <a:cs typeface="Times New Roman" panose="02020603050405020304" pitchFamily="18" charset="0"/>
              </a:rPr>
              <a:t>Kết luận từ Feature Importance:</a:t>
            </a:r>
          </a:p>
          <a:p>
            <a:pPr algn="l"/>
            <a:r>
              <a:rPr lang="en-US" sz="2000">
                <a:solidFill>
                  <a:schemeClr val="tx1"/>
                </a:solidFill>
                <a:latin typeface="Times New Roman" panose="02020603050405020304" pitchFamily="18" charset="0"/>
                <a:cs typeface="Times New Roman" panose="02020603050405020304" pitchFamily="18" charset="0"/>
              </a:rPr>
              <a:t>	</a:t>
            </a:r>
            <a:r>
              <a:rPr lang="en-US" sz="2000" b="1">
                <a:solidFill>
                  <a:schemeClr val="tx1"/>
                </a:solidFill>
                <a:latin typeface="Times New Roman" panose="02020603050405020304" pitchFamily="18" charset="0"/>
                <a:cs typeface="Times New Roman" panose="02020603050405020304" pitchFamily="18" charset="0"/>
              </a:rPr>
              <a:t>Các yếu tố vật lý và hóa học</a:t>
            </a:r>
            <a:r>
              <a:rPr lang="en-US" sz="2000">
                <a:solidFill>
                  <a:schemeClr val="tx1"/>
                </a:solidFill>
                <a:latin typeface="Times New Roman" panose="02020603050405020304" pitchFamily="18" charset="0"/>
                <a:cs typeface="Times New Roman" panose="02020603050405020304" pitchFamily="18" charset="0"/>
              </a:rPr>
              <a:t> như </a:t>
            </a:r>
            <a:r>
              <a:rPr lang="en-US" sz="2000" b="1">
                <a:solidFill>
                  <a:schemeClr val="tx1"/>
                </a:solidFill>
                <a:latin typeface="Times New Roman" panose="02020603050405020304" pitchFamily="18" charset="0"/>
                <a:cs typeface="Times New Roman" panose="02020603050405020304" pitchFamily="18" charset="0"/>
              </a:rPr>
              <a:t>Alcohol (độ cồn), Density (mật độ),</a:t>
            </a:r>
            <a:r>
              <a:rPr lang="en-US" sz="2000">
                <a:solidFill>
                  <a:schemeClr val="tx1"/>
                </a:solidFill>
                <a:latin typeface="Times New Roman" panose="02020603050405020304" pitchFamily="18" charset="0"/>
                <a:cs typeface="Times New Roman" panose="02020603050405020304" pitchFamily="18" charset="0"/>
              </a:rPr>
              <a:t> và </a:t>
            </a:r>
            <a:r>
              <a:rPr lang="en-US" sz="2000" b="1">
                <a:solidFill>
                  <a:schemeClr val="tx1"/>
                </a:solidFill>
                <a:latin typeface="Times New Roman" panose="02020603050405020304" pitchFamily="18" charset="0"/>
                <a:cs typeface="Times New Roman" panose="02020603050405020304" pitchFamily="18" charset="0"/>
              </a:rPr>
              <a:t>Volatile Acidity (độ axit bay hơi) </a:t>
            </a:r>
            <a:r>
              <a:rPr lang="en-US" sz="2000">
                <a:solidFill>
                  <a:schemeClr val="tx1"/>
                </a:solidFill>
                <a:latin typeface="Times New Roman" panose="02020603050405020304" pitchFamily="18" charset="0"/>
                <a:cs typeface="Times New Roman" panose="02020603050405020304" pitchFamily="18" charset="0"/>
              </a:rPr>
              <a:t>là các đặc trưng ảnh hưởng mạnh mẽ nhất đến quyết định phân loại chất lượng rượu của mô hình Random Forest. Việc trực quan hóa này giúp giải thích tại sao mô hình đưa ra các dự đoán như vậy</a:t>
            </a:r>
          </a:p>
          <a:p>
            <a:pPr marL="355600" indent="-342900">
              <a:spcBef>
                <a:spcPts val="100"/>
              </a:spcBef>
              <a:buFont typeface="Arial" panose="020B0604020202020204" pitchFamily="34" charset="0"/>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9EFE7B3C-0AEA-B429-6ADC-3DB68CAE3AA0}"/>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C94BB52B-C047-E3C8-FD59-9F2DCBCBEA5F}"/>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15416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C079D-D0D1-3FF8-87E0-57C8765E687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04318E5-BEC0-A059-B108-90F8E5E2B2C4}"/>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3183AAC5-7984-942B-D4B2-94B8565442C8}"/>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Report_RandomForest(Foresfire regressor)</a:t>
            </a:r>
            <a:endParaRPr sz="3600" spc="-10" dirty="0"/>
          </a:p>
        </p:txBody>
      </p:sp>
      <p:sp>
        <p:nvSpPr>
          <p:cNvPr id="10" name="object 10">
            <a:extLst>
              <a:ext uri="{FF2B5EF4-FFF2-40B4-BE49-F238E27FC236}">
                <a16:creationId xmlns:a16="http://schemas.microsoft.com/office/drawing/2014/main" id="{EA1B4B0B-050B-1FCA-F261-B2D533B58438}"/>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68</a:t>
            </a:fld>
            <a:endParaRPr spc="-25" dirty="0"/>
          </a:p>
        </p:txBody>
      </p:sp>
      <p:sp>
        <p:nvSpPr>
          <p:cNvPr id="6" name="object 3">
            <a:extLst>
              <a:ext uri="{FF2B5EF4-FFF2-40B4-BE49-F238E27FC236}">
                <a16:creationId xmlns:a16="http://schemas.microsoft.com/office/drawing/2014/main" id="{BC8049E6-EC1B-7B63-A9AB-981DD9FF6E10}"/>
              </a:ext>
            </a:extLst>
          </p:cNvPr>
          <p:cNvSpPr txBox="1">
            <a:spLocks/>
          </p:cNvSpPr>
          <p:nvPr/>
        </p:nvSpPr>
        <p:spPr>
          <a:xfrm>
            <a:off x="0" y="1377339"/>
            <a:ext cx="8608060" cy="2526333"/>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Tệp dữ liệu</a:t>
            </a:r>
          </a:p>
          <a:p>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E9233F95-4838-89D6-2CA0-A44A7038E562}"/>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2F58750F-E709-EB66-13E0-7B02F225FD25}"/>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pic>
        <p:nvPicPr>
          <p:cNvPr id="7" name="Picture 6" descr="A screenshot of a graph&#10;&#10;AI-generated content may be incorrect.">
            <a:extLst>
              <a:ext uri="{FF2B5EF4-FFF2-40B4-BE49-F238E27FC236}">
                <a16:creationId xmlns:a16="http://schemas.microsoft.com/office/drawing/2014/main" id="{46974417-5F96-A903-0882-781EA64B66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802096"/>
            <a:ext cx="7467600" cy="3183435"/>
          </a:xfrm>
          <a:prstGeom prst="rect">
            <a:avLst/>
          </a:prstGeom>
        </p:spPr>
      </p:pic>
    </p:spTree>
    <p:extLst>
      <p:ext uri="{BB962C8B-B14F-4D97-AF65-F5344CB8AC3E}">
        <p14:creationId xmlns:p14="http://schemas.microsoft.com/office/powerpoint/2010/main" val="33499438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CB0D3-99AB-753F-BCCC-60B4B26F568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31CC929-ACE5-045C-5F06-B550F3253D1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563FCDB4-88D6-128C-111D-9962BCFE1B8D}"/>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Report_RandomForest(Foresfire regressor)</a:t>
            </a:r>
            <a:endParaRPr sz="3600" spc="-10" dirty="0"/>
          </a:p>
        </p:txBody>
      </p:sp>
      <p:sp>
        <p:nvSpPr>
          <p:cNvPr id="10" name="object 10">
            <a:extLst>
              <a:ext uri="{FF2B5EF4-FFF2-40B4-BE49-F238E27FC236}">
                <a16:creationId xmlns:a16="http://schemas.microsoft.com/office/drawing/2014/main" id="{321CA60B-C501-96EA-1E46-42CDAA41860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69</a:t>
            </a:fld>
            <a:endParaRPr spc="-25" dirty="0"/>
          </a:p>
        </p:txBody>
      </p:sp>
      <p:sp>
        <p:nvSpPr>
          <p:cNvPr id="6" name="object 3">
            <a:extLst>
              <a:ext uri="{FF2B5EF4-FFF2-40B4-BE49-F238E27FC236}">
                <a16:creationId xmlns:a16="http://schemas.microsoft.com/office/drawing/2014/main" id="{66E91ACB-D2F4-3700-24E0-815155017EDD}"/>
              </a:ext>
            </a:extLst>
          </p:cNvPr>
          <p:cNvSpPr txBox="1">
            <a:spLocks/>
          </p:cNvSpPr>
          <p:nvPr/>
        </p:nvSpPr>
        <p:spPr>
          <a:xfrm>
            <a:off x="0" y="1377339"/>
            <a:ext cx="8608060" cy="2526333"/>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mô hình</a:t>
            </a:r>
          </a:p>
          <a:p>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657A5944-86B1-2925-A01E-F24FF5BF1514}"/>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604E5AAF-67F4-7421-3653-0037CBCD8913}"/>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9298F7C-9802-61EE-E7EE-F8362FBCD9A2}"/>
              </a:ext>
            </a:extLst>
          </p:cNvPr>
          <p:cNvPicPr>
            <a:picLocks noChangeAspect="1"/>
          </p:cNvPicPr>
          <p:nvPr/>
        </p:nvPicPr>
        <p:blipFill>
          <a:blip r:embed="rId2"/>
          <a:stretch>
            <a:fillRect/>
          </a:stretch>
        </p:blipFill>
        <p:spPr>
          <a:xfrm>
            <a:off x="457199" y="1794735"/>
            <a:ext cx="8219439" cy="3190797"/>
          </a:xfrm>
          <a:prstGeom prst="rect">
            <a:avLst/>
          </a:prstGeom>
        </p:spPr>
      </p:pic>
    </p:spTree>
    <p:extLst>
      <p:ext uri="{BB962C8B-B14F-4D97-AF65-F5344CB8AC3E}">
        <p14:creationId xmlns:p14="http://schemas.microsoft.com/office/powerpoint/2010/main" val="12178464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AB791-431D-0434-FD7A-22D3B7660F9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036A55D-1722-DBD6-D0CF-210BE35A645B}"/>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B99E4468-AE9E-4E0C-542B-41EDF65C3F66}"/>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Report_RandomForest(Foresfire regressor)</a:t>
            </a:r>
            <a:endParaRPr sz="3600" spc="-10" dirty="0"/>
          </a:p>
        </p:txBody>
      </p:sp>
      <p:sp>
        <p:nvSpPr>
          <p:cNvPr id="10" name="object 10">
            <a:extLst>
              <a:ext uri="{FF2B5EF4-FFF2-40B4-BE49-F238E27FC236}">
                <a16:creationId xmlns:a16="http://schemas.microsoft.com/office/drawing/2014/main" id="{6350671C-0989-2B9E-280F-FC9CFCDCED2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70</a:t>
            </a:fld>
            <a:endParaRPr spc="-25" dirty="0"/>
          </a:p>
        </p:txBody>
      </p:sp>
      <p:sp>
        <p:nvSpPr>
          <p:cNvPr id="6" name="object 3">
            <a:extLst>
              <a:ext uri="{FF2B5EF4-FFF2-40B4-BE49-F238E27FC236}">
                <a16:creationId xmlns:a16="http://schemas.microsoft.com/office/drawing/2014/main" id="{9F6EE09A-93FF-5C20-9AE2-8BB8D576975C}"/>
              </a:ext>
            </a:extLst>
          </p:cNvPr>
          <p:cNvSpPr txBox="1">
            <a:spLocks/>
          </p:cNvSpPr>
          <p:nvPr/>
        </p:nvSpPr>
        <p:spPr>
          <a:xfrm>
            <a:off x="0" y="1377339"/>
            <a:ext cx="8608060" cy="2526333"/>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mô hình</a:t>
            </a:r>
          </a:p>
          <a:p>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60281966-4DF4-D4CF-89E3-51243B1F2819}"/>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3AB83835-3EB2-5274-8773-F43E07B14307}"/>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29DAD96D-9511-6ADC-BFA9-CCE4F0363AE0}"/>
              </a:ext>
            </a:extLst>
          </p:cNvPr>
          <p:cNvGraphicFramePr>
            <a:graphicFrameLocks noGrp="1"/>
          </p:cNvGraphicFramePr>
          <p:nvPr>
            <p:extLst>
              <p:ext uri="{D42A27DB-BD31-4B8C-83A1-F6EECF244321}">
                <p14:modId xmlns:p14="http://schemas.microsoft.com/office/powerpoint/2010/main" val="3898854132"/>
              </p:ext>
            </p:extLst>
          </p:nvPr>
        </p:nvGraphicFramePr>
        <p:xfrm>
          <a:off x="444500" y="1829085"/>
          <a:ext cx="8255001" cy="3062758"/>
        </p:xfrm>
        <a:graphic>
          <a:graphicData uri="http://schemas.openxmlformats.org/drawingml/2006/table">
            <a:tbl>
              <a:tblPr firstRow="1" firstCol="1" bandRow="1">
                <a:tableStyleId>{5C22544A-7EE6-4342-B048-85BDC9FD1C3A}</a:tableStyleId>
              </a:tblPr>
              <a:tblGrid>
                <a:gridCol w="2751667">
                  <a:extLst>
                    <a:ext uri="{9D8B030D-6E8A-4147-A177-3AD203B41FA5}">
                      <a16:colId xmlns:a16="http://schemas.microsoft.com/office/drawing/2014/main" val="2829287842"/>
                    </a:ext>
                  </a:extLst>
                </a:gridCol>
                <a:gridCol w="1299633">
                  <a:extLst>
                    <a:ext uri="{9D8B030D-6E8A-4147-A177-3AD203B41FA5}">
                      <a16:colId xmlns:a16="http://schemas.microsoft.com/office/drawing/2014/main" val="2080993932"/>
                    </a:ext>
                  </a:extLst>
                </a:gridCol>
                <a:gridCol w="4203701">
                  <a:extLst>
                    <a:ext uri="{9D8B030D-6E8A-4147-A177-3AD203B41FA5}">
                      <a16:colId xmlns:a16="http://schemas.microsoft.com/office/drawing/2014/main" val="642487690"/>
                    </a:ext>
                  </a:extLst>
                </a:gridCol>
              </a:tblGrid>
              <a:tr h="226220">
                <a:tc>
                  <a:txBody>
                    <a:bodyPr/>
                    <a:lstStyle/>
                    <a:p>
                      <a:pPr marL="0" marR="0" algn="just">
                        <a:lnSpc>
                          <a:spcPct val="107000"/>
                        </a:lnSpc>
                        <a:spcAft>
                          <a:spcPts val="2400"/>
                        </a:spcAft>
                        <a:buNone/>
                      </a:pPr>
                      <a:r>
                        <a:rPr lang="en-US" sz="1200" kern="100">
                          <a:effectLst/>
                        </a:rPr>
                        <a:t>Chỉ số</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Giá trị</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Nhận định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43517180"/>
                  </a:ext>
                </a:extLst>
              </a:tr>
              <a:tr h="1089371">
                <a:tc>
                  <a:txBody>
                    <a:bodyPr/>
                    <a:lstStyle/>
                    <a:p>
                      <a:pPr marL="0" marR="0" algn="just">
                        <a:lnSpc>
                          <a:spcPct val="107000"/>
                        </a:lnSpc>
                        <a:spcAft>
                          <a:spcPts val="2400"/>
                        </a:spcAft>
                        <a:buNone/>
                      </a:pPr>
                      <a:r>
                        <a:rPr lang="en-US" sz="1200" kern="100">
                          <a:effectLst/>
                        </a:rPr>
                        <a:t>Test R-squared ( R^2 )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-0.0257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Rất tệ.  R^2  là thước đo mức độ phù hợp của mô hình (càng gần  1  càng tốt). Giá trị âm cho thấy mô hình của chúng ta còn tệ hơn cả việc sử dụng giá trị trung bình (mean) của  area  để dự đoán.</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15490738"/>
                  </a:ext>
                </a:extLst>
              </a:tr>
              <a:tr h="1089371">
                <a:tc>
                  <a:txBody>
                    <a:bodyPr/>
                    <a:lstStyle/>
                    <a:p>
                      <a:pPr marL="0" marR="0" algn="just">
                        <a:lnSpc>
                          <a:spcPct val="107000"/>
                        </a:lnSpc>
                        <a:spcAft>
                          <a:spcPts val="2400"/>
                        </a:spcAft>
                        <a:buNone/>
                      </a:pPr>
                      <a:r>
                        <a:rPr lang="en-US" sz="1200" kern="100">
                          <a:effectLst/>
                        </a:rPr>
                        <a:t>OOB R-squared</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-0.4092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Rất tệ. OOB Score âm xác nhận vấn đề không phải do tập kiểm tra ( R^2  âm cũng cho thấy không có hiện tượng overfitting), mà là do bản chất của dữ liệu và biến mục tiêu.</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57195242"/>
                  </a:ext>
                </a:extLst>
              </a:tr>
              <a:tr h="657796">
                <a:tc>
                  <a:txBody>
                    <a:bodyPr/>
                    <a:lstStyle/>
                    <a:p>
                      <a:pPr marL="0" marR="0" algn="just">
                        <a:lnSpc>
                          <a:spcPct val="107000"/>
                        </a:lnSpc>
                        <a:spcAft>
                          <a:spcPts val="2400"/>
                        </a:spcAft>
                        <a:buNone/>
                      </a:pPr>
                      <a:r>
                        <a:rPr lang="en-US" sz="1200" kern="100">
                          <a:effectLst/>
                        </a:rPr>
                        <a:t>Test RMSE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109.9581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Giá trị lớn. Điều này cho thấy sai số dự đoán trung bình của mô hình là rất cao, cao hơn nhiều so với giá trị thực tế.</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35210014"/>
                  </a:ext>
                </a:extLst>
              </a:tr>
            </a:tbl>
          </a:graphicData>
        </a:graphic>
      </p:graphicFrame>
    </p:spTree>
    <p:extLst>
      <p:ext uri="{BB962C8B-B14F-4D97-AF65-F5344CB8AC3E}">
        <p14:creationId xmlns:p14="http://schemas.microsoft.com/office/powerpoint/2010/main" val="7678346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325C-3C25-D169-E3B9-88CEE48B41A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766CFAB-19EE-266D-5206-CA45E8577E86}"/>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6ED187F2-1B59-562F-274F-138805EA34A0}"/>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Report_RandomForest(Foresfire regressor)</a:t>
            </a:r>
            <a:endParaRPr sz="3600" spc="-10" dirty="0"/>
          </a:p>
        </p:txBody>
      </p:sp>
      <p:sp>
        <p:nvSpPr>
          <p:cNvPr id="10" name="object 10">
            <a:extLst>
              <a:ext uri="{FF2B5EF4-FFF2-40B4-BE49-F238E27FC236}">
                <a16:creationId xmlns:a16="http://schemas.microsoft.com/office/drawing/2014/main" id="{AE26A948-C435-8A39-FF56-C4DE16B687DE}"/>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71</a:t>
            </a:fld>
            <a:endParaRPr spc="-25" dirty="0"/>
          </a:p>
        </p:txBody>
      </p:sp>
      <p:sp>
        <p:nvSpPr>
          <p:cNvPr id="6" name="object 3">
            <a:extLst>
              <a:ext uri="{FF2B5EF4-FFF2-40B4-BE49-F238E27FC236}">
                <a16:creationId xmlns:a16="http://schemas.microsoft.com/office/drawing/2014/main" id="{68B6FE2F-40C4-76F3-3EDC-3EE8BE638628}"/>
              </a:ext>
            </a:extLst>
          </p:cNvPr>
          <p:cNvSpPr txBox="1">
            <a:spLocks/>
          </p:cNvSpPr>
          <p:nvPr/>
        </p:nvSpPr>
        <p:spPr>
          <a:xfrm>
            <a:off x="457200" y="1384367"/>
            <a:ext cx="7956550" cy="5573321"/>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mô hình</a:t>
            </a:r>
          </a:p>
          <a:p>
            <a:pPr marL="355600" indent="-342900">
              <a:spcBef>
                <a:spcPts val="100"/>
              </a:spcBef>
              <a:buFont typeface="Wingdings" panose="05000000000000000000" pitchFamily="2" charset="2"/>
              <a:buChar char="§"/>
            </a:pPr>
            <a:r>
              <a:rPr lang="en-US" sz="2400" spc="-10">
                <a:solidFill>
                  <a:schemeClr val="tx1"/>
                </a:solidFill>
                <a:latin typeface="Times New Roman" panose="02020603050405020304" pitchFamily="18" charset="0"/>
                <a:cs typeface="Times New Roman" panose="02020603050405020304" pitchFamily="18" charset="0"/>
              </a:rPr>
              <a:t>Các chỉ số cho thấy mô hình hoàn toàn thất bại trong việc dự đoán diện tích cháy rừng</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Nguyên nhân thất bại:</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2400" b="1">
                <a:solidFill>
                  <a:schemeClr val="tx1"/>
                </a:solidFill>
                <a:latin typeface="Times New Roman" panose="02020603050405020304" pitchFamily="18" charset="0"/>
                <a:cs typeface="Times New Roman" panose="02020603050405020304" pitchFamily="18" charset="0"/>
              </a:rPr>
              <a:t>Dữ liệu có giá trị area bằng 0 rất lớn:</a:t>
            </a:r>
            <a:r>
              <a:rPr lang="en-US" sz="2400">
                <a:solidFill>
                  <a:schemeClr val="tx1"/>
                </a:solidFill>
                <a:latin typeface="Times New Roman" panose="02020603050405020304" pitchFamily="18" charset="0"/>
                <a:cs typeface="Times New Roman" panose="02020603050405020304" pitchFamily="18" charset="0"/>
              </a:rPr>
              <a:t> Phần lớn các mẫu trong bộ dữ liệu (forestfires.csv) có diện tích cháy bằng  0 . Điều này tạo ra sự </a:t>
            </a:r>
            <a:r>
              <a:rPr lang="en-US" sz="2400" b="1">
                <a:solidFill>
                  <a:schemeClr val="tx1"/>
                </a:solidFill>
                <a:latin typeface="Times New Roman" panose="02020603050405020304" pitchFamily="18" charset="0"/>
                <a:cs typeface="Times New Roman" panose="02020603050405020304" pitchFamily="18" charset="0"/>
              </a:rPr>
              <a:t>mất cân bằng cực đoan</a:t>
            </a:r>
            <a:r>
              <a:rPr lang="en-US" sz="2400">
                <a:solidFill>
                  <a:schemeClr val="tx1"/>
                </a:solidFill>
                <a:latin typeface="Times New Roman" panose="02020603050405020304" pitchFamily="18" charset="0"/>
                <a:cs typeface="Times New Roman" panose="02020603050405020304" pitchFamily="18" charset="0"/>
              </a:rPr>
              <a:t> (Zero-inflation).</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B7BAC9F6-D356-62FB-3045-6BD4A967F226}"/>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55AB4465-683C-E68E-4FF7-F767EEAFAEFA}"/>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48105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DAD0F-F0CC-DD83-34C1-41E8066F9D3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0272A62-EDFD-371D-45C4-3482AFF267C1}"/>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BB9B069F-8FFC-0591-870B-7317B592E05E}"/>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Report_RandomForest(Foresfire regressor)</a:t>
            </a:r>
            <a:endParaRPr sz="3600" spc="-10" dirty="0"/>
          </a:p>
        </p:txBody>
      </p:sp>
      <p:sp>
        <p:nvSpPr>
          <p:cNvPr id="10" name="object 10">
            <a:extLst>
              <a:ext uri="{FF2B5EF4-FFF2-40B4-BE49-F238E27FC236}">
                <a16:creationId xmlns:a16="http://schemas.microsoft.com/office/drawing/2014/main" id="{41CAB1F7-04FC-6567-9B81-A1A6418026C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72</a:t>
            </a:fld>
            <a:endParaRPr spc="-25" dirty="0"/>
          </a:p>
        </p:txBody>
      </p:sp>
      <p:sp>
        <p:nvSpPr>
          <p:cNvPr id="6" name="object 3">
            <a:extLst>
              <a:ext uri="{FF2B5EF4-FFF2-40B4-BE49-F238E27FC236}">
                <a16:creationId xmlns:a16="http://schemas.microsoft.com/office/drawing/2014/main" id="{BB65B8EC-9A30-DDA0-54C0-C4F374C52BE7}"/>
              </a:ext>
            </a:extLst>
          </p:cNvPr>
          <p:cNvSpPr txBox="1">
            <a:spLocks/>
          </p:cNvSpPr>
          <p:nvPr/>
        </p:nvSpPr>
        <p:spPr>
          <a:xfrm>
            <a:off x="68579" y="1384367"/>
            <a:ext cx="8608060" cy="407034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Kết quả dự đoán chi tiết</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Thiên vị Dự đoán:</a:t>
            </a:r>
            <a:r>
              <a:rPr lang="en-US" sz="1600">
                <a:solidFill>
                  <a:schemeClr val="tx1"/>
                </a:solidFill>
                <a:latin typeface="Times New Roman" panose="02020603050405020304" pitchFamily="18" charset="0"/>
                <a:cs typeface="Times New Roman" panose="02020603050405020304" pitchFamily="18" charset="0"/>
              </a:rPr>
              <a:t> Mô hình có xu hướng dự đoán các giá trị </a:t>
            </a:r>
            <a:r>
              <a:rPr lang="en-US" sz="1600" b="1">
                <a:solidFill>
                  <a:schemeClr val="tx1"/>
                </a:solidFill>
                <a:latin typeface="Times New Roman" panose="02020603050405020304" pitchFamily="18" charset="0"/>
                <a:cs typeface="Times New Roman" panose="02020603050405020304" pitchFamily="18" charset="0"/>
              </a:rPr>
              <a:t>dương nhỏ</a:t>
            </a:r>
            <a:r>
              <a:rPr lang="en-US" sz="1600">
                <a:solidFill>
                  <a:schemeClr val="tx1"/>
                </a:solidFill>
                <a:latin typeface="Times New Roman" panose="02020603050405020304" pitchFamily="18" charset="0"/>
                <a:cs typeface="Times New Roman" panose="02020603050405020304" pitchFamily="18" charset="0"/>
              </a:rPr>
              <a:t> ( 6  đến  30 ), 	ngay cả khi diện tích thực tế là  0.00 . Điều này giải thích tại sao  R^2  là âm: mô hình liên 	tục dự đoán sai các vụ cháy nhỏ/không cháy.</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3DC88BAE-3DF0-8460-B916-764C1FF53AF3}"/>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617793EF-6328-7EE8-68B6-4CCAF65CB2F5}"/>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2846F8F-5C95-56E8-6D06-A4416B20B50F}"/>
              </a:ext>
            </a:extLst>
          </p:cNvPr>
          <p:cNvGraphicFramePr>
            <a:graphicFrameLocks noGrp="1"/>
          </p:cNvGraphicFramePr>
          <p:nvPr>
            <p:extLst>
              <p:ext uri="{D42A27DB-BD31-4B8C-83A1-F6EECF244321}">
                <p14:modId xmlns:p14="http://schemas.microsoft.com/office/powerpoint/2010/main" val="1646597346"/>
              </p:ext>
            </p:extLst>
          </p:nvPr>
        </p:nvGraphicFramePr>
        <p:xfrm>
          <a:off x="444500" y="1856575"/>
          <a:ext cx="8255000" cy="2169677"/>
        </p:xfrm>
        <a:graphic>
          <a:graphicData uri="http://schemas.openxmlformats.org/drawingml/2006/table">
            <a:tbl>
              <a:tblPr firstRow="1" firstCol="1" bandRow="1">
                <a:tableStyleId>{5C22544A-7EE6-4342-B048-85BDC9FD1C3A}</a:tableStyleId>
              </a:tblPr>
              <a:tblGrid>
                <a:gridCol w="2063750">
                  <a:extLst>
                    <a:ext uri="{9D8B030D-6E8A-4147-A177-3AD203B41FA5}">
                      <a16:colId xmlns:a16="http://schemas.microsoft.com/office/drawing/2014/main" val="1706382867"/>
                    </a:ext>
                  </a:extLst>
                </a:gridCol>
                <a:gridCol w="1530350">
                  <a:extLst>
                    <a:ext uri="{9D8B030D-6E8A-4147-A177-3AD203B41FA5}">
                      <a16:colId xmlns:a16="http://schemas.microsoft.com/office/drawing/2014/main" val="3431956606"/>
                    </a:ext>
                  </a:extLst>
                </a:gridCol>
                <a:gridCol w="2209800">
                  <a:extLst>
                    <a:ext uri="{9D8B030D-6E8A-4147-A177-3AD203B41FA5}">
                      <a16:colId xmlns:a16="http://schemas.microsoft.com/office/drawing/2014/main" val="3036139661"/>
                    </a:ext>
                  </a:extLst>
                </a:gridCol>
                <a:gridCol w="2451100">
                  <a:extLst>
                    <a:ext uri="{9D8B030D-6E8A-4147-A177-3AD203B41FA5}">
                      <a16:colId xmlns:a16="http://schemas.microsoft.com/office/drawing/2014/main" val="1668671503"/>
                    </a:ext>
                  </a:extLst>
                </a:gridCol>
              </a:tblGrid>
              <a:tr h="275983">
                <a:tc>
                  <a:txBody>
                    <a:bodyPr/>
                    <a:lstStyle/>
                    <a:p>
                      <a:pPr marL="0" marR="0" algn="just">
                        <a:lnSpc>
                          <a:spcPct val="107000"/>
                        </a:lnSpc>
                        <a:spcAft>
                          <a:spcPts val="2400"/>
                        </a:spcAft>
                        <a:buNone/>
                      </a:pPr>
                      <a:r>
                        <a:rPr lang="en-US" sz="1200" kern="100">
                          <a:effectLst/>
                        </a:rPr>
                        <a:t>Mẫu</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Actual Area (Thực tế)</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Predicted Area (Dự đoán)</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Sai số</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80110641"/>
                  </a:ext>
                </a:extLst>
              </a:tr>
              <a:tr h="275983">
                <a:tc>
                  <a:txBody>
                    <a:bodyPr/>
                    <a:lstStyle/>
                    <a:p>
                      <a:pPr marL="0" marR="0" algn="just">
                        <a:lnSpc>
                          <a:spcPct val="107000"/>
                        </a:lnSpc>
                        <a:spcAft>
                          <a:spcPts val="2400"/>
                        </a:spcAft>
                        <a:buNone/>
                      </a:pPr>
                      <a:r>
                        <a:rPr lang="en-US" sz="1200" kern="100">
                          <a:effectLst/>
                        </a:rPr>
                        <a:t>304</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0.00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6.93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Dự đoán sai một vụ cháy nhỏ.</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08386786"/>
                  </a:ext>
                </a:extLst>
              </a:tr>
              <a:tr h="539237">
                <a:tc>
                  <a:txBody>
                    <a:bodyPr/>
                    <a:lstStyle/>
                    <a:p>
                      <a:pPr marL="0" marR="0" algn="just">
                        <a:lnSpc>
                          <a:spcPct val="107000"/>
                        </a:lnSpc>
                        <a:spcAft>
                          <a:spcPts val="2400"/>
                        </a:spcAft>
                        <a:buNone/>
                      </a:pPr>
                      <a:r>
                        <a:rPr lang="en-US" sz="1200" kern="100">
                          <a:effectLst/>
                        </a:rPr>
                        <a:t>501</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0.00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12.66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Dự đoán sai một vụ cháy không tồn tại.</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47526466"/>
                  </a:ext>
                </a:extLst>
              </a:tr>
              <a:tr h="539237">
                <a:tc>
                  <a:txBody>
                    <a:bodyPr/>
                    <a:lstStyle/>
                    <a:p>
                      <a:pPr marL="0" marR="0" algn="just">
                        <a:lnSpc>
                          <a:spcPct val="107000"/>
                        </a:lnSpc>
                        <a:spcAft>
                          <a:spcPts val="2400"/>
                        </a:spcAft>
                        <a:buNone/>
                      </a:pPr>
                      <a:r>
                        <a:rPr lang="en-US" sz="1200" kern="100">
                          <a:effectLst/>
                        </a:rPr>
                        <a:t>441</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1.23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22.82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Dự đoán sai quá cao so với thực tế.</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5390469"/>
                  </a:ext>
                </a:extLst>
              </a:tr>
              <a:tr h="539237">
                <a:tc>
                  <a:txBody>
                    <a:bodyPr/>
                    <a:lstStyle/>
                    <a:p>
                      <a:pPr marL="0" marR="0" algn="just">
                        <a:lnSpc>
                          <a:spcPct val="107000"/>
                        </a:lnSpc>
                        <a:spcAft>
                          <a:spcPts val="2400"/>
                        </a:spcAft>
                        <a:buNone/>
                      </a:pPr>
                      <a:r>
                        <a:rPr lang="en-US" sz="1200" kern="100">
                          <a:effectLst/>
                        </a:rPr>
                        <a:t>503</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1.95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30.09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Dự đoán sai quá cao so với thực tế.</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02468095"/>
                  </a:ext>
                </a:extLst>
              </a:tr>
            </a:tbl>
          </a:graphicData>
        </a:graphic>
      </p:graphicFrame>
    </p:spTree>
    <p:extLst>
      <p:ext uri="{BB962C8B-B14F-4D97-AF65-F5344CB8AC3E}">
        <p14:creationId xmlns:p14="http://schemas.microsoft.com/office/powerpoint/2010/main" val="11007374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CB98A-2963-6016-4579-8E61EC067F5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D294805-5643-0039-BE5C-F0CA88BEAAFF}"/>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5FE2854F-B571-B4A5-1B51-74784911603D}"/>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Report_RandomForest(Foresfire regressor)</a:t>
            </a:r>
            <a:endParaRPr sz="3600" spc="-10" dirty="0"/>
          </a:p>
        </p:txBody>
      </p:sp>
      <p:sp>
        <p:nvSpPr>
          <p:cNvPr id="10" name="object 10">
            <a:extLst>
              <a:ext uri="{FF2B5EF4-FFF2-40B4-BE49-F238E27FC236}">
                <a16:creationId xmlns:a16="http://schemas.microsoft.com/office/drawing/2014/main" id="{160D8CF2-599D-CFCD-6343-8AC67533912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73</a:t>
            </a:fld>
            <a:endParaRPr spc="-25" dirty="0"/>
          </a:p>
        </p:txBody>
      </p:sp>
      <p:sp>
        <p:nvSpPr>
          <p:cNvPr id="6" name="object 3">
            <a:extLst>
              <a:ext uri="{FF2B5EF4-FFF2-40B4-BE49-F238E27FC236}">
                <a16:creationId xmlns:a16="http://schemas.microsoft.com/office/drawing/2014/main" id="{AC76B63C-EC05-629D-2FF4-D82F73E474CE}"/>
              </a:ext>
            </a:extLst>
          </p:cNvPr>
          <p:cNvSpPr txBox="1">
            <a:spLocks/>
          </p:cNvSpPr>
          <p:nvPr/>
        </p:nvSpPr>
        <p:spPr>
          <a:xfrm>
            <a:off x="68579" y="1384367"/>
            <a:ext cx="8608060" cy="3195747"/>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BCC60F22-F6E2-80BD-5F7F-372380888FE0}"/>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01D2AEB7-1D92-DFBC-4ECB-09D8A5DA5618}"/>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4FDAE702-9605-9006-9BA5-71F5CA3A29CD}"/>
              </a:ext>
            </a:extLst>
          </p:cNvPr>
          <p:cNvGraphicFramePr>
            <a:graphicFrameLocks noGrp="1"/>
          </p:cNvGraphicFramePr>
          <p:nvPr>
            <p:extLst>
              <p:ext uri="{D42A27DB-BD31-4B8C-83A1-F6EECF244321}">
                <p14:modId xmlns:p14="http://schemas.microsoft.com/office/powerpoint/2010/main" val="3550025814"/>
              </p:ext>
            </p:extLst>
          </p:nvPr>
        </p:nvGraphicFramePr>
        <p:xfrm>
          <a:off x="444500" y="1725390"/>
          <a:ext cx="8255000" cy="3196372"/>
        </p:xfrm>
        <a:graphic>
          <a:graphicData uri="http://schemas.openxmlformats.org/drawingml/2006/table">
            <a:tbl>
              <a:tblPr firstRow="1" firstCol="1" bandRow="1">
                <a:tableStyleId>{5C22544A-7EE6-4342-B048-85BDC9FD1C3A}</a:tableStyleId>
              </a:tblPr>
              <a:tblGrid>
                <a:gridCol w="850900">
                  <a:extLst>
                    <a:ext uri="{9D8B030D-6E8A-4147-A177-3AD203B41FA5}">
                      <a16:colId xmlns:a16="http://schemas.microsoft.com/office/drawing/2014/main" val="3870928589"/>
                    </a:ext>
                  </a:extLst>
                </a:gridCol>
                <a:gridCol w="2057400">
                  <a:extLst>
                    <a:ext uri="{9D8B030D-6E8A-4147-A177-3AD203B41FA5}">
                      <a16:colId xmlns:a16="http://schemas.microsoft.com/office/drawing/2014/main" val="790309588"/>
                    </a:ext>
                  </a:extLst>
                </a:gridCol>
                <a:gridCol w="1447800">
                  <a:extLst>
                    <a:ext uri="{9D8B030D-6E8A-4147-A177-3AD203B41FA5}">
                      <a16:colId xmlns:a16="http://schemas.microsoft.com/office/drawing/2014/main" val="2726224470"/>
                    </a:ext>
                  </a:extLst>
                </a:gridCol>
                <a:gridCol w="1295400">
                  <a:extLst>
                    <a:ext uri="{9D8B030D-6E8A-4147-A177-3AD203B41FA5}">
                      <a16:colId xmlns:a16="http://schemas.microsoft.com/office/drawing/2014/main" val="1783034004"/>
                    </a:ext>
                  </a:extLst>
                </a:gridCol>
                <a:gridCol w="2603500">
                  <a:extLst>
                    <a:ext uri="{9D8B030D-6E8A-4147-A177-3AD203B41FA5}">
                      <a16:colId xmlns:a16="http://schemas.microsoft.com/office/drawing/2014/main" val="1266396714"/>
                    </a:ext>
                  </a:extLst>
                </a:gridCol>
              </a:tblGrid>
              <a:tr h="204543">
                <a:tc>
                  <a:txBody>
                    <a:bodyPr/>
                    <a:lstStyle/>
                    <a:p>
                      <a:pPr marL="0" marR="0" algn="just">
                        <a:lnSpc>
                          <a:spcPct val="107000"/>
                        </a:lnSpc>
                        <a:spcAft>
                          <a:spcPts val="2400"/>
                        </a:spcAft>
                        <a:buNone/>
                      </a:pPr>
                      <a:r>
                        <a:rPr lang="en-US" sz="1200" kern="100">
                          <a:effectLst/>
                        </a:rPr>
                        <a:t>Hạng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Đặc trưng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Importance 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Tỷ lệ</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Ý nghĩa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16567282"/>
                  </a:ext>
                </a:extLst>
              </a:tr>
              <a:tr h="850277">
                <a:tc>
                  <a:txBody>
                    <a:bodyPr/>
                    <a:lstStyle/>
                    <a:p>
                      <a:pPr marL="0" marR="0" algn="just">
                        <a:lnSpc>
                          <a:spcPct val="107000"/>
                        </a:lnSpc>
                        <a:spcAft>
                          <a:spcPts val="2400"/>
                        </a:spcAft>
                        <a:buNone/>
                      </a:pPr>
                      <a:r>
                        <a:rPr lang="en-US" sz="1200" kern="100">
                          <a:effectLst/>
                        </a:rPr>
                        <a:t>1</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DMC (Duff Moisture Code)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0.1998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\approx 20\%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Quan trọng nhất. Chỉ số độ ẩm nhiên liệu, là yếu tố cốt lõi ảnh hưởng đến diện tích cháy.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83148002"/>
                  </a:ext>
                </a:extLst>
              </a:tr>
              <a:tr h="640247">
                <a:tc>
                  <a:txBody>
                    <a:bodyPr/>
                    <a:lstStyle/>
                    <a:p>
                      <a:pPr marL="0" marR="0" algn="just">
                        <a:lnSpc>
                          <a:spcPct val="107000"/>
                        </a:lnSpc>
                        <a:spcAft>
                          <a:spcPts val="2400"/>
                        </a:spcAft>
                        <a:buNone/>
                      </a:pPr>
                      <a:r>
                        <a:rPr lang="en-US" sz="1200" kern="100">
                          <a:effectLst/>
                        </a:rPr>
                        <a:t>2</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temp (Nhiệt độ)</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0.1964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\approx 20\%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Yếu tố khí hậu quan trọng thứ hai. Nhiệt độ cao làm tăng cường độ cháy.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62601617"/>
                  </a:ext>
                </a:extLst>
              </a:tr>
              <a:tr h="430216">
                <a:tc>
                  <a:txBody>
                    <a:bodyPr/>
                    <a:lstStyle/>
                    <a:p>
                      <a:pPr marL="0" marR="0" algn="just">
                        <a:lnSpc>
                          <a:spcPct val="107000"/>
                        </a:lnSpc>
                        <a:spcAft>
                          <a:spcPts val="2400"/>
                        </a:spcAft>
                        <a:buNone/>
                      </a:pPr>
                      <a:r>
                        <a:rPr lang="en-US" sz="1200" kern="100">
                          <a:effectLst/>
                        </a:rPr>
                        <a:t>3</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RH (Độ ẩm tương đối)</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0.1131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\approx 11\%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Độ ẩm không khí cao làm giảm cường độ cháy.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02786625"/>
                  </a:ext>
                </a:extLst>
              </a:tr>
              <a:tr h="430216">
                <a:tc>
                  <a:txBody>
                    <a:bodyPr/>
                    <a:lstStyle/>
                    <a:p>
                      <a:pPr marL="0" marR="0" algn="just">
                        <a:lnSpc>
                          <a:spcPct val="107000"/>
                        </a:lnSpc>
                        <a:spcAft>
                          <a:spcPts val="2400"/>
                        </a:spcAft>
                        <a:buNone/>
                      </a:pPr>
                      <a:r>
                        <a:rPr lang="en-US" sz="1200" kern="100">
                          <a:effectLst/>
                        </a:rPr>
                        <a:t>4</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wind (Gió)</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0.0985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\approx 10\%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Gió ảnh hưởng lớn đến sự lan rộng của đám cháy.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12378518"/>
                  </a:ext>
                </a:extLst>
              </a:tr>
              <a:tr h="640247">
                <a:tc>
                  <a:txBody>
                    <a:bodyPr/>
                    <a:lstStyle/>
                    <a:p>
                      <a:pPr marL="0" marR="0" algn="just">
                        <a:lnSpc>
                          <a:spcPct val="107000"/>
                        </a:lnSpc>
                        <a:spcAft>
                          <a:spcPts val="2400"/>
                        </a:spcAft>
                        <a:buNone/>
                      </a:pPr>
                      <a:r>
                        <a:rPr lang="en-US" sz="1200" kern="100">
                          <a:effectLst/>
                        </a:rPr>
                        <a:t>Cuối</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rain (Mưa)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0.0010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\approx 0.1\%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Ít quan trọng nhất. Điều này do dữ liệu phần lớn không có mưa.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2252989"/>
                  </a:ext>
                </a:extLst>
              </a:tr>
            </a:tbl>
          </a:graphicData>
        </a:graphic>
      </p:graphicFrame>
    </p:spTree>
    <p:extLst>
      <p:ext uri="{BB962C8B-B14F-4D97-AF65-F5344CB8AC3E}">
        <p14:creationId xmlns:p14="http://schemas.microsoft.com/office/powerpoint/2010/main" val="22939556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FE3DF-3490-C4CC-03F5-76FE88F5454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85D9CE9-28C0-8C08-FCFC-2E50DDCA910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2D44B378-9F06-1DD8-2A9E-15CECD2FA574}"/>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Report_RandomForest(Foresfire regressor)</a:t>
            </a:r>
            <a:endParaRPr sz="3600" spc="-10" dirty="0"/>
          </a:p>
        </p:txBody>
      </p:sp>
      <p:sp>
        <p:nvSpPr>
          <p:cNvPr id="10" name="object 10">
            <a:extLst>
              <a:ext uri="{FF2B5EF4-FFF2-40B4-BE49-F238E27FC236}">
                <a16:creationId xmlns:a16="http://schemas.microsoft.com/office/drawing/2014/main" id="{49C854FD-9DFE-7C8C-93A6-5577980E1A1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74</a:t>
            </a:fld>
            <a:endParaRPr spc="-25" dirty="0"/>
          </a:p>
        </p:txBody>
      </p:sp>
      <p:sp>
        <p:nvSpPr>
          <p:cNvPr id="6" name="object 3">
            <a:extLst>
              <a:ext uri="{FF2B5EF4-FFF2-40B4-BE49-F238E27FC236}">
                <a16:creationId xmlns:a16="http://schemas.microsoft.com/office/drawing/2014/main" id="{381E9C85-AB8F-E35F-0ADA-A9B7ADE1D352}"/>
              </a:ext>
            </a:extLst>
          </p:cNvPr>
          <p:cNvSpPr txBox="1">
            <a:spLocks/>
          </p:cNvSpPr>
          <p:nvPr/>
        </p:nvSpPr>
        <p:spPr>
          <a:xfrm>
            <a:off x="68579" y="1384367"/>
            <a:ext cx="8608060" cy="3195747"/>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Kết luận từ Feature Importance</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74FC495D-3725-5B44-BD95-1766BCDB89ED}"/>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912AF8C7-3AEA-6F3A-DF52-97E929ACCD29}"/>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9BCE241-A12A-B64D-52DB-5A01481BA176}"/>
              </a:ext>
            </a:extLst>
          </p:cNvPr>
          <p:cNvPicPr>
            <a:picLocks noChangeAspect="1"/>
          </p:cNvPicPr>
          <p:nvPr/>
        </p:nvPicPr>
        <p:blipFill>
          <a:blip r:embed="rId2"/>
          <a:stretch>
            <a:fillRect/>
          </a:stretch>
        </p:blipFill>
        <p:spPr>
          <a:xfrm>
            <a:off x="467361" y="1794736"/>
            <a:ext cx="8067039" cy="3195747"/>
          </a:xfrm>
          <a:prstGeom prst="rect">
            <a:avLst/>
          </a:prstGeom>
        </p:spPr>
      </p:pic>
    </p:spTree>
    <p:extLst>
      <p:ext uri="{BB962C8B-B14F-4D97-AF65-F5344CB8AC3E}">
        <p14:creationId xmlns:p14="http://schemas.microsoft.com/office/powerpoint/2010/main" val="7990508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6B842-4341-0B71-75AE-B66FD18BFA3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BD127A-5F4A-3D78-9376-AB34B89678F8}"/>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5E1C2A78-E3AB-29CD-FCA7-42A51929179B}"/>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Report_RandomForest(Foresfire regressor)</a:t>
            </a:r>
            <a:endParaRPr sz="3600" spc="-10" dirty="0"/>
          </a:p>
        </p:txBody>
      </p:sp>
      <p:sp>
        <p:nvSpPr>
          <p:cNvPr id="10" name="object 10">
            <a:extLst>
              <a:ext uri="{FF2B5EF4-FFF2-40B4-BE49-F238E27FC236}">
                <a16:creationId xmlns:a16="http://schemas.microsoft.com/office/drawing/2014/main" id="{1369E0EF-C27B-A7E7-58BF-793DAD526D6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75</a:t>
            </a:fld>
            <a:endParaRPr spc="-25" dirty="0"/>
          </a:p>
        </p:txBody>
      </p:sp>
      <p:sp>
        <p:nvSpPr>
          <p:cNvPr id="6" name="object 3">
            <a:extLst>
              <a:ext uri="{FF2B5EF4-FFF2-40B4-BE49-F238E27FC236}">
                <a16:creationId xmlns:a16="http://schemas.microsoft.com/office/drawing/2014/main" id="{556A7F7D-23EA-A8DC-0DEA-6C4DBC6A7D68}"/>
              </a:ext>
            </a:extLst>
          </p:cNvPr>
          <p:cNvSpPr txBox="1">
            <a:spLocks/>
          </p:cNvSpPr>
          <p:nvPr/>
        </p:nvSpPr>
        <p:spPr>
          <a:xfrm>
            <a:off x="457200" y="1364436"/>
            <a:ext cx="8188959" cy="552202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Kết luận từ Feature Importance</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2400">
                <a:solidFill>
                  <a:schemeClr val="tx1"/>
                </a:solidFill>
                <a:latin typeface="Times New Roman" panose="02020603050405020304" pitchFamily="18" charset="0"/>
                <a:cs typeface="Times New Roman" panose="02020603050405020304" pitchFamily="18" charset="0"/>
              </a:rPr>
              <a:t>Mô hình đã xác định chính xác các yếu tố </a:t>
            </a:r>
            <a:r>
              <a:rPr lang="en-US" sz="2400" b="1">
                <a:solidFill>
                  <a:schemeClr val="tx1"/>
                </a:solidFill>
                <a:latin typeface="Times New Roman" panose="02020603050405020304" pitchFamily="18" charset="0"/>
                <a:cs typeface="Times New Roman" panose="02020603050405020304" pitchFamily="18" charset="0"/>
              </a:rPr>
              <a:t>vật lý và khí hậu hợp lý (DMC, temp, RH, wind) </a:t>
            </a:r>
            <a:r>
              <a:rPr lang="en-US" sz="2400">
                <a:solidFill>
                  <a:schemeClr val="tx1"/>
                </a:solidFill>
                <a:latin typeface="Times New Roman" panose="02020603050405020304" pitchFamily="18" charset="0"/>
                <a:cs typeface="Times New Roman" panose="02020603050405020304" pitchFamily="18" charset="0"/>
              </a:rPr>
              <a:t>là quan trọng nhất trong việc xác định diện tích cháy. Tuy nhiên, bản thân mô hình RF không thể biến những đặc trưng quan trọng này thành dự đoán chính xác do vấn đề phân bố dữ liệu của biến mục tiêu area.</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476DF10F-DB2A-D42F-7AFC-BDE2AD6863BA}"/>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BCB762D8-4800-4707-EE87-7DCE07A00B49}"/>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16095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7847D-497D-238A-EE6D-16B23BFAFC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6A2AD37-015B-5080-017B-AE7A1807BB2E}"/>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9AA6E8CC-1897-BE6D-B83D-B03FA19BD6AC}"/>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Report_RandomForest(Binary Classification Fire/No Fire)</a:t>
            </a:r>
            <a:endParaRPr sz="3600" spc="-10" dirty="0"/>
          </a:p>
        </p:txBody>
      </p:sp>
      <p:sp>
        <p:nvSpPr>
          <p:cNvPr id="10" name="object 10">
            <a:extLst>
              <a:ext uri="{FF2B5EF4-FFF2-40B4-BE49-F238E27FC236}">
                <a16:creationId xmlns:a16="http://schemas.microsoft.com/office/drawing/2014/main" id="{D271BB29-4018-62AA-6C96-1F3CDE020D5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76</a:t>
            </a:fld>
            <a:endParaRPr spc="-25" dirty="0"/>
          </a:p>
        </p:txBody>
      </p:sp>
      <p:sp>
        <p:nvSpPr>
          <p:cNvPr id="6" name="object 3">
            <a:extLst>
              <a:ext uri="{FF2B5EF4-FFF2-40B4-BE49-F238E27FC236}">
                <a16:creationId xmlns:a16="http://schemas.microsoft.com/office/drawing/2014/main" id="{1035A168-7981-5027-542C-99E154885298}"/>
              </a:ext>
            </a:extLst>
          </p:cNvPr>
          <p:cNvSpPr txBox="1">
            <a:spLocks/>
          </p:cNvSpPr>
          <p:nvPr/>
        </p:nvSpPr>
        <p:spPr>
          <a:xfrm>
            <a:off x="484338" y="1358023"/>
            <a:ext cx="8229600" cy="553484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Phân loại</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2400">
                <a:solidFill>
                  <a:schemeClr val="tx1"/>
                </a:solidFill>
                <a:latin typeface="Times New Roman" panose="02020603050405020304" pitchFamily="18" charset="0"/>
                <a:cs typeface="Times New Roman" panose="02020603050405020304" pitchFamily="18" charset="0"/>
              </a:rPr>
              <a:t>Mô hình được chuyển từ bài toán Hồi quy (area) sang bài toán </a:t>
            </a:r>
            <a:r>
              <a:rPr lang="en-US" sz="2400" b="1">
                <a:solidFill>
                  <a:schemeClr val="tx1"/>
                </a:solidFill>
                <a:latin typeface="Times New Roman" panose="02020603050405020304" pitchFamily="18" charset="0"/>
                <a:cs typeface="Times New Roman" panose="02020603050405020304" pitchFamily="18" charset="0"/>
              </a:rPr>
              <a:t>Phân loại nhị phân</a:t>
            </a:r>
            <a:r>
              <a:rPr lang="en-US" sz="2400">
                <a:solidFill>
                  <a:schemeClr val="tx1"/>
                </a:solidFill>
                <a:latin typeface="Times New Roman" panose="02020603050405020304" pitchFamily="18" charset="0"/>
                <a:cs typeface="Times New Roman" panose="02020603050405020304" pitchFamily="18" charset="0"/>
              </a:rPr>
              <a:t> (is_large_fire, trong đó 1 là có cháy, 0 là không cháy). Dữ liệu có sự cân bằng tốt giữa hai lớp: Lớp 1 có 270 mẫu và Lớp 0 có 247 mẫu.</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C5FD9206-7ECC-E00C-DCA5-E522224C9BCB}"/>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855CD763-C2C2-5F07-1FA1-C3AA02D7332C}"/>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99752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27B79-7C99-59B2-6164-BC5C26E6212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045D1D7-E937-B03A-DA45-96D6695CE5EA}"/>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BDBBF73F-B868-51C4-CF25-DA44D63BDBCE}"/>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Report_RandomForest(Binary Classification Fire/No Fire)</a:t>
            </a:r>
            <a:endParaRPr sz="3600" spc="-10" dirty="0"/>
          </a:p>
        </p:txBody>
      </p:sp>
      <p:sp>
        <p:nvSpPr>
          <p:cNvPr id="10" name="object 10">
            <a:extLst>
              <a:ext uri="{FF2B5EF4-FFF2-40B4-BE49-F238E27FC236}">
                <a16:creationId xmlns:a16="http://schemas.microsoft.com/office/drawing/2014/main" id="{44E95247-464D-9229-0295-022D30D83BC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77</a:t>
            </a:fld>
            <a:endParaRPr spc="-25" dirty="0"/>
          </a:p>
        </p:txBody>
      </p:sp>
      <p:sp>
        <p:nvSpPr>
          <p:cNvPr id="6" name="object 3">
            <a:extLst>
              <a:ext uri="{FF2B5EF4-FFF2-40B4-BE49-F238E27FC236}">
                <a16:creationId xmlns:a16="http://schemas.microsoft.com/office/drawing/2014/main" id="{C24A359C-2100-2E79-CD80-05696B544E9C}"/>
              </a:ext>
            </a:extLst>
          </p:cNvPr>
          <p:cNvSpPr txBox="1">
            <a:spLocks/>
          </p:cNvSpPr>
          <p:nvPr/>
        </p:nvSpPr>
        <p:spPr>
          <a:xfrm>
            <a:off x="68579" y="1384367"/>
            <a:ext cx="8608060" cy="4426853"/>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Phân loại</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9B34660B-88B5-7CED-C572-10B9A1DABD4D}"/>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
        <p:nvSpPr>
          <p:cNvPr id="8" name="object 3">
            <a:extLst>
              <a:ext uri="{FF2B5EF4-FFF2-40B4-BE49-F238E27FC236}">
                <a16:creationId xmlns:a16="http://schemas.microsoft.com/office/drawing/2014/main" id="{3F1887E0-3D4D-6D1E-64A8-8AAD142C403C}"/>
              </a:ext>
            </a:extLst>
          </p:cNvPr>
          <p:cNvSpPr txBox="1">
            <a:spLocks/>
          </p:cNvSpPr>
          <p:nvPr/>
        </p:nvSpPr>
        <p:spPr>
          <a:xfrm>
            <a:off x="68579" y="3920264"/>
            <a:ext cx="8608060" cy="4103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355600" indent="-342900">
              <a:spcBef>
                <a:spcPts val="100"/>
              </a:spcBef>
              <a:buFont typeface="Courier New" panose="02070309020205020404" pitchFamily="49" charset="0"/>
              <a:buChar char="o"/>
            </a:pP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2BB213E-4229-8873-5EAC-3D9990CAF539}"/>
              </a:ext>
            </a:extLst>
          </p:cNvPr>
          <p:cNvPicPr>
            <a:picLocks noChangeAspect="1"/>
          </p:cNvPicPr>
          <p:nvPr/>
        </p:nvPicPr>
        <p:blipFill>
          <a:blip r:embed="rId2"/>
          <a:stretch>
            <a:fillRect/>
          </a:stretch>
        </p:blipFill>
        <p:spPr>
          <a:xfrm>
            <a:off x="447039" y="1771651"/>
            <a:ext cx="8246577" cy="3110506"/>
          </a:xfrm>
          <a:prstGeom prst="rect">
            <a:avLst/>
          </a:prstGeom>
        </p:spPr>
      </p:pic>
    </p:spTree>
    <p:extLst>
      <p:ext uri="{BB962C8B-B14F-4D97-AF65-F5344CB8AC3E}">
        <p14:creationId xmlns:p14="http://schemas.microsoft.com/office/powerpoint/2010/main" val="18656756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B9A7D-48EB-FC08-124E-52F65BA8C61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7974EEA-D29F-5DE0-9ACC-DC29F374023B}"/>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4F620EC7-0E42-0170-87DD-6DCAE45CEF7E}"/>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Report_RandomForest(Binary Classification Fire/No Fire)</a:t>
            </a:r>
            <a:endParaRPr sz="3600" spc="-10" dirty="0"/>
          </a:p>
        </p:txBody>
      </p:sp>
      <p:sp>
        <p:nvSpPr>
          <p:cNvPr id="10" name="object 10">
            <a:extLst>
              <a:ext uri="{FF2B5EF4-FFF2-40B4-BE49-F238E27FC236}">
                <a16:creationId xmlns:a16="http://schemas.microsoft.com/office/drawing/2014/main" id="{BE1FE4E7-D47D-5743-652E-E0C76A6B2F4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78</a:t>
            </a:fld>
            <a:endParaRPr spc="-25" dirty="0"/>
          </a:p>
        </p:txBody>
      </p:sp>
      <p:sp>
        <p:nvSpPr>
          <p:cNvPr id="6" name="object 3">
            <a:extLst>
              <a:ext uri="{FF2B5EF4-FFF2-40B4-BE49-F238E27FC236}">
                <a16:creationId xmlns:a16="http://schemas.microsoft.com/office/drawing/2014/main" id="{8A930464-821F-BBFA-749F-CA940E891145}"/>
              </a:ext>
            </a:extLst>
          </p:cNvPr>
          <p:cNvSpPr txBox="1">
            <a:spLocks/>
          </p:cNvSpPr>
          <p:nvPr/>
        </p:nvSpPr>
        <p:spPr>
          <a:xfrm>
            <a:off x="68579" y="1384367"/>
            <a:ext cx="8608060" cy="5811847"/>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Hiệu suất Phân loại</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lvl="0"/>
            <a:r>
              <a:rPr lang="en-US" sz="1500" b="1">
                <a:solidFill>
                  <a:schemeClr val="tx1"/>
                </a:solidFill>
              </a:rPr>
              <a:t>	Accuracy Trung bình:</a:t>
            </a:r>
            <a:r>
              <a:rPr lang="en-US" sz="1500">
                <a:solidFill>
                  <a:schemeClr val="tx1"/>
                </a:solidFill>
              </a:rPr>
              <a:t> </a:t>
            </a:r>
            <a:r>
              <a:rPr lang="en-US" sz="1500">
                <a:solidFill>
                  <a:schemeClr val="tx1"/>
                </a:solidFill>
                <a:latin typeface="Times New Roman" panose="02020603050405020304" pitchFamily="18" charset="0"/>
                <a:cs typeface="Times New Roman" panose="02020603050405020304" pitchFamily="18" charset="0"/>
              </a:rPr>
              <a:t>Độ chính xác 65.38% chỉ tốt hơn một chút so với việc đoán ngẫu nhiên (50%). Điều này cho thấy mặc dù đã chuyển sang phân loại, bài toán dự đoán sự kiện cháy rừng vẫn là </a:t>
            </a:r>
            <a:r>
              <a:rPr lang="en-US" sz="1500" b="1">
                <a:solidFill>
                  <a:schemeClr val="tx1"/>
                </a:solidFill>
                <a:latin typeface="Times New Roman" panose="02020603050405020304" pitchFamily="18" charset="0"/>
                <a:cs typeface="Times New Roman" panose="02020603050405020304" pitchFamily="18" charset="0"/>
              </a:rPr>
              <a:t>khá thách thức</a:t>
            </a:r>
            <a:r>
              <a:rPr lang="en-US" sz="1500">
                <a:solidFill>
                  <a:schemeClr val="tx1"/>
                </a:solidFill>
                <a:latin typeface="Times New Roman" panose="02020603050405020304" pitchFamily="18" charset="0"/>
                <a:cs typeface="Times New Roman" panose="02020603050405020304" pitchFamily="18" charset="0"/>
              </a:rPr>
              <a:t>.</a:t>
            </a:r>
          </a:p>
          <a:p>
            <a:pPr lvl="0"/>
            <a:r>
              <a:rPr lang="en-US" sz="1500" b="1">
                <a:solidFill>
                  <a:schemeClr val="tx1"/>
                </a:solidFill>
                <a:latin typeface="Times New Roman" panose="02020603050405020304" pitchFamily="18" charset="0"/>
                <a:cs typeface="Times New Roman" panose="02020603050405020304" pitchFamily="18" charset="0"/>
              </a:rPr>
              <a:t>	Mâu thuẫn OOB Score:</a:t>
            </a:r>
            <a:r>
              <a:rPr lang="en-US" sz="1500">
                <a:solidFill>
                  <a:schemeClr val="tx1"/>
                </a:solidFill>
                <a:latin typeface="Times New Roman" panose="02020603050405020304" pitchFamily="18" charset="0"/>
                <a:cs typeface="Times New Roman" panose="02020603050405020304" pitchFamily="18" charset="0"/>
              </a:rPr>
              <a:t> </a:t>
            </a:r>
            <a:r>
              <a:rPr lang="en-US" sz="1500" b="1">
                <a:solidFill>
                  <a:schemeClr val="tx1"/>
                </a:solidFill>
                <a:latin typeface="Times New Roman" panose="02020603050405020304" pitchFamily="18" charset="0"/>
                <a:cs typeface="Times New Roman" panose="02020603050405020304" pitchFamily="18" charset="0"/>
              </a:rPr>
              <a:t>OOB Score (0.5230) thấp hơn đáng kể</a:t>
            </a:r>
            <a:r>
              <a:rPr lang="en-US" sz="1500">
                <a:solidFill>
                  <a:schemeClr val="tx1"/>
                </a:solidFill>
                <a:latin typeface="Times New Roman" panose="02020603050405020304" pitchFamily="18" charset="0"/>
                <a:cs typeface="Times New Roman" panose="02020603050405020304" pitchFamily="18" charset="0"/>
              </a:rPr>
              <a:t> so với Test Accuracy (0.6538). Sự chênh lệch này cho thấy có vấn đề về </a:t>
            </a:r>
            <a:r>
              <a:rPr lang="en-US" sz="1500" b="1">
                <a:solidFill>
                  <a:schemeClr val="tx1"/>
                </a:solidFill>
                <a:latin typeface="Times New Roman" panose="02020603050405020304" pitchFamily="18" charset="0"/>
                <a:cs typeface="Times New Roman" panose="02020603050405020304" pitchFamily="18" charset="0"/>
              </a:rPr>
              <a:t>tính tổng quát hóa</a:t>
            </a:r>
            <a:r>
              <a:rPr lang="en-US" sz="1500">
                <a:solidFill>
                  <a:schemeClr val="tx1"/>
                </a:solidFill>
                <a:latin typeface="Times New Roman" panose="02020603050405020304" pitchFamily="18" charset="0"/>
                <a:cs typeface="Times New Roman" panose="02020603050405020304" pitchFamily="18" charset="0"/>
              </a:rPr>
              <a:t> của mô hình, hoặc mô hình cần điều chỉnh thêm để tận dụng tối đa dữ liệu huấn luyện.</a:t>
            </a:r>
          </a:p>
          <a:p>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B4D44AA5-7929-9997-C5A2-FAB28B33B7FB}"/>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7" name="Table 6">
            <a:extLst>
              <a:ext uri="{FF2B5EF4-FFF2-40B4-BE49-F238E27FC236}">
                <a16:creationId xmlns:a16="http://schemas.microsoft.com/office/drawing/2014/main" id="{EC74B484-2739-F91F-5152-7BAE7200CA5C}"/>
              </a:ext>
            </a:extLst>
          </p:cNvPr>
          <p:cNvGraphicFramePr>
            <a:graphicFrameLocks noGrp="1"/>
          </p:cNvGraphicFramePr>
          <p:nvPr>
            <p:extLst>
              <p:ext uri="{D42A27DB-BD31-4B8C-83A1-F6EECF244321}">
                <p14:modId xmlns:p14="http://schemas.microsoft.com/office/powerpoint/2010/main" val="519655455"/>
              </p:ext>
            </p:extLst>
          </p:nvPr>
        </p:nvGraphicFramePr>
        <p:xfrm>
          <a:off x="444500" y="1794737"/>
          <a:ext cx="8255001" cy="1931414"/>
        </p:xfrm>
        <a:graphic>
          <a:graphicData uri="http://schemas.openxmlformats.org/drawingml/2006/table">
            <a:tbl>
              <a:tblPr firstRow="1" firstCol="1" bandRow="1">
                <a:tableStyleId>{5C22544A-7EE6-4342-B048-85BDC9FD1C3A}</a:tableStyleId>
              </a:tblPr>
              <a:tblGrid>
                <a:gridCol w="2751667">
                  <a:extLst>
                    <a:ext uri="{9D8B030D-6E8A-4147-A177-3AD203B41FA5}">
                      <a16:colId xmlns:a16="http://schemas.microsoft.com/office/drawing/2014/main" val="3715807463"/>
                    </a:ext>
                  </a:extLst>
                </a:gridCol>
                <a:gridCol w="2751667">
                  <a:extLst>
                    <a:ext uri="{9D8B030D-6E8A-4147-A177-3AD203B41FA5}">
                      <a16:colId xmlns:a16="http://schemas.microsoft.com/office/drawing/2014/main" val="2821015569"/>
                    </a:ext>
                  </a:extLst>
                </a:gridCol>
                <a:gridCol w="2751667">
                  <a:extLst>
                    <a:ext uri="{9D8B030D-6E8A-4147-A177-3AD203B41FA5}">
                      <a16:colId xmlns:a16="http://schemas.microsoft.com/office/drawing/2014/main" val="346028361"/>
                    </a:ext>
                  </a:extLst>
                </a:gridCol>
              </a:tblGrid>
              <a:tr h="389879">
                <a:tc>
                  <a:txBody>
                    <a:bodyPr/>
                    <a:lstStyle/>
                    <a:p>
                      <a:pPr marL="0" marR="0" algn="just">
                        <a:lnSpc>
                          <a:spcPct val="107000"/>
                        </a:lnSpc>
                        <a:spcAft>
                          <a:spcPts val="2400"/>
                        </a:spcAft>
                        <a:buNone/>
                      </a:pPr>
                      <a:r>
                        <a:rPr lang="en-US" sz="1200" kern="100">
                          <a:effectLst/>
                        </a:rPr>
                        <a:t>Chỉ số</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Giá trị</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Nhận định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78322954"/>
                  </a:ext>
                </a:extLst>
              </a:tr>
              <a:tr h="389879">
                <a:tc>
                  <a:txBody>
                    <a:bodyPr/>
                    <a:lstStyle/>
                    <a:p>
                      <a:pPr marL="0" marR="0" algn="just">
                        <a:lnSpc>
                          <a:spcPct val="107000"/>
                        </a:lnSpc>
                        <a:spcAft>
                          <a:spcPts val="2400"/>
                        </a:spcAft>
                        <a:buNone/>
                      </a:pPr>
                      <a:r>
                        <a:rPr lang="en-US" sz="1200" kern="100">
                          <a:effectLst/>
                        </a:rPr>
                        <a:t>Test Accuracy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0.6538 (65.38%)</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Độ chính xác tổng thể.</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3539029"/>
                  </a:ext>
                </a:extLst>
              </a:tr>
              <a:tr h="761777">
                <a:tc>
                  <a:txBody>
                    <a:bodyPr/>
                    <a:lstStyle/>
                    <a:p>
                      <a:pPr marL="0" marR="0" algn="just">
                        <a:lnSpc>
                          <a:spcPct val="107000"/>
                        </a:lnSpc>
                        <a:spcAft>
                          <a:spcPts val="2400"/>
                        </a:spcAft>
                        <a:buNone/>
                      </a:pPr>
                      <a:r>
                        <a:rPr lang="en-US" sz="1200" kern="100">
                          <a:effectLst/>
                        </a:rPr>
                        <a:t>OOB Accuracy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0.5230</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Độ chính xác ước tính nội tại (Out-of-Bag 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32467295"/>
                  </a:ext>
                </a:extLst>
              </a:tr>
              <a:tr h="389879">
                <a:tc>
                  <a:txBody>
                    <a:bodyPr/>
                    <a:lstStyle/>
                    <a:p>
                      <a:pPr marL="0" marR="0" algn="just">
                        <a:lnSpc>
                          <a:spcPct val="107000"/>
                        </a:lnSpc>
                        <a:spcAft>
                          <a:spcPts val="2400"/>
                        </a:spcAft>
                        <a:buNone/>
                      </a:pPr>
                      <a:r>
                        <a:rPr lang="en-US" sz="1200" kern="100">
                          <a:effectLst/>
                        </a:rPr>
                        <a:t>Số mẫu kiểm tra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104</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Đảm bảo kết quả đánh giá là đáng tin cậy.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78495590"/>
                  </a:ext>
                </a:extLst>
              </a:tr>
            </a:tbl>
          </a:graphicData>
        </a:graphic>
      </p:graphicFrame>
    </p:spTree>
    <p:extLst>
      <p:ext uri="{BB962C8B-B14F-4D97-AF65-F5344CB8AC3E}">
        <p14:creationId xmlns:p14="http://schemas.microsoft.com/office/powerpoint/2010/main" val="7795875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0910A-979D-DD1E-A8A3-E36787D3F3B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D3BEE20-B42D-2438-3599-52BA647D8733}"/>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40D067A6-6808-0FB3-4DE9-09404BA80697}"/>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Report_RandomForest(Binary Classification Fire/No Fire)</a:t>
            </a:r>
            <a:endParaRPr sz="3600" spc="-10" dirty="0"/>
          </a:p>
        </p:txBody>
      </p:sp>
      <p:sp>
        <p:nvSpPr>
          <p:cNvPr id="10" name="object 10">
            <a:extLst>
              <a:ext uri="{FF2B5EF4-FFF2-40B4-BE49-F238E27FC236}">
                <a16:creationId xmlns:a16="http://schemas.microsoft.com/office/drawing/2014/main" id="{656F3719-E585-21D7-3162-79C9516BB8A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79</a:t>
            </a:fld>
            <a:endParaRPr spc="-25" dirty="0"/>
          </a:p>
        </p:txBody>
      </p:sp>
      <p:sp>
        <p:nvSpPr>
          <p:cNvPr id="6" name="object 3">
            <a:extLst>
              <a:ext uri="{FF2B5EF4-FFF2-40B4-BE49-F238E27FC236}">
                <a16:creationId xmlns:a16="http://schemas.microsoft.com/office/drawing/2014/main" id="{E8938BB4-DD99-C5B7-6BF4-D6CC8F95921C}"/>
              </a:ext>
            </a:extLst>
          </p:cNvPr>
          <p:cNvSpPr txBox="1">
            <a:spLocks/>
          </p:cNvSpPr>
          <p:nvPr/>
        </p:nvSpPr>
        <p:spPr>
          <a:xfrm>
            <a:off x="68579" y="1384367"/>
            <a:ext cx="8608060" cy="5732338"/>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Classification Report</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r>
              <a:rPr lang="en-US" sz="2000">
                <a:solidFill>
                  <a:schemeClr val="tx1"/>
                </a:solidFill>
                <a:latin typeface="Times New Roman" panose="02020603050405020304" pitchFamily="18" charset="0"/>
                <a:cs typeface="Times New Roman" panose="02020603050405020304" pitchFamily="18" charset="0"/>
              </a:rPr>
              <a:t>Các chỉ số </a:t>
            </a:r>
            <a:r>
              <a:rPr lang="en-US" sz="2000" b="1">
                <a:solidFill>
                  <a:schemeClr val="tx1"/>
                </a:solidFill>
                <a:latin typeface="Times New Roman" panose="02020603050405020304" pitchFamily="18" charset="0"/>
                <a:cs typeface="Times New Roman" panose="02020603050405020304" pitchFamily="18" charset="0"/>
              </a:rPr>
              <a:t>F1-Score (0.63 và 0.67) </a:t>
            </a:r>
            <a:r>
              <a:rPr lang="en-US" sz="2000">
                <a:solidFill>
                  <a:schemeClr val="tx1"/>
                </a:solidFill>
                <a:latin typeface="Times New Roman" panose="02020603050405020304" pitchFamily="18" charset="0"/>
                <a:cs typeface="Times New Roman" panose="02020603050405020304" pitchFamily="18" charset="0"/>
              </a:rPr>
              <a:t>khá thấp, xác nhận rằng mô hình còn nhiều chỗ cần cải thiện. Mô hình đang gặp khó khăn trong việc phân biệt ranh giới giữa điều kiện có cháy và không cháy.</a:t>
            </a:r>
          </a:p>
          <a:p>
            <a:pPr lvl="0"/>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16102D6D-0B85-F3F9-924F-33DB4D0E64D5}"/>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4" name="Table 3">
            <a:extLst>
              <a:ext uri="{FF2B5EF4-FFF2-40B4-BE49-F238E27FC236}">
                <a16:creationId xmlns:a16="http://schemas.microsoft.com/office/drawing/2014/main" id="{758D0426-4B56-E45E-C3FB-FCBA1B978EB9}"/>
              </a:ext>
            </a:extLst>
          </p:cNvPr>
          <p:cNvGraphicFramePr>
            <a:graphicFrameLocks noGrp="1"/>
          </p:cNvGraphicFramePr>
          <p:nvPr>
            <p:extLst>
              <p:ext uri="{D42A27DB-BD31-4B8C-83A1-F6EECF244321}">
                <p14:modId xmlns:p14="http://schemas.microsoft.com/office/powerpoint/2010/main" val="2124595491"/>
              </p:ext>
            </p:extLst>
          </p:nvPr>
        </p:nvGraphicFramePr>
        <p:xfrm>
          <a:off x="467361" y="1792858"/>
          <a:ext cx="8201658" cy="2278498"/>
        </p:xfrm>
        <a:graphic>
          <a:graphicData uri="http://schemas.openxmlformats.org/drawingml/2006/table">
            <a:tbl>
              <a:tblPr firstRow="1" firstCol="1" bandRow="1">
                <a:tableStyleId>{5C22544A-7EE6-4342-B048-85BDC9FD1C3A}</a:tableStyleId>
              </a:tblPr>
              <a:tblGrid>
                <a:gridCol w="1155699">
                  <a:extLst>
                    <a:ext uri="{9D8B030D-6E8A-4147-A177-3AD203B41FA5}">
                      <a16:colId xmlns:a16="http://schemas.microsoft.com/office/drawing/2014/main" val="1030457950"/>
                    </a:ext>
                  </a:extLst>
                </a:gridCol>
                <a:gridCol w="990600">
                  <a:extLst>
                    <a:ext uri="{9D8B030D-6E8A-4147-A177-3AD203B41FA5}">
                      <a16:colId xmlns:a16="http://schemas.microsoft.com/office/drawing/2014/main" val="232181342"/>
                    </a:ext>
                  </a:extLst>
                </a:gridCol>
                <a:gridCol w="990600">
                  <a:extLst>
                    <a:ext uri="{9D8B030D-6E8A-4147-A177-3AD203B41FA5}">
                      <a16:colId xmlns:a16="http://schemas.microsoft.com/office/drawing/2014/main" val="3505345602"/>
                    </a:ext>
                  </a:extLst>
                </a:gridCol>
                <a:gridCol w="990600">
                  <a:extLst>
                    <a:ext uri="{9D8B030D-6E8A-4147-A177-3AD203B41FA5}">
                      <a16:colId xmlns:a16="http://schemas.microsoft.com/office/drawing/2014/main" val="2197688749"/>
                    </a:ext>
                  </a:extLst>
                </a:gridCol>
                <a:gridCol w="914400">
                  <a:extLst>
                    <a:ext uri="{9D8B030D-6E8A-4147-A177-3AD203B41FA5}">
                      <a16:colId xmlns:a16="http://schemas.microsoft.com/office/drawing/2014/main" val="1553935368"/>
                    </a:ext>
                  </a:extLst>
                </a:gridCol>
                <a:gridCol w="3159759">
                  <a:extLst>
                    <a:ext uri="{9D8B030D-6E8A-4147-A177-3AD203B41FA5}">
                      <a16:colId xmlns:a16="http://schemas.microsoft.com/office/drawing/2014/main" val="2456402351"/>
                    </a:ext>
                  </a:extLst>
                </a:gridCol>
              </a:tblGrid>
              <a:tr h="143976">
                <a:tc>
                  <a:txBody>
                    <a:bodyPr/>
                    <a:lstStyle/>
                    <a:p>
                      <a:pPr marL="0" marR="0" algn="just">
                        <a:lnSpc>
                          <a:spcPct val="107000"/>
                        </a:lnSpc>
                        <a:spcAft>
                          <a:spcPts val="2400"/>
                        </a:spcAft>
                        <a:buNone/>
                      </a:pPr>
                      <a:r>
                        <a:rPr lang="en-US" sz="1200" kern="100">
                          <a:effectLst/>
                        </a:rPr>
                        <a:t>Lớp</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Support</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Precision</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Recall</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F1-Score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Phân tích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16601455"/>
                  </a:ext>
                </a:extLst>
              </a:tr>
              <a:tr h="967996">
                <a:tc>
                  <a:txBody>
                    <a:bodyPr/>
                    <a:lstStyle/>
                    <a:p>
                      <a:pPr marL="0" marR="0" algn="just">
                        <a:lnSpc>
                          <a:spcPct val="107000"/>
                        </a:lnSpc>
                        <a:spcAft>
                          <a:spcPts val="2400"/>
                        </a:spcAft>
                        <a:buNone/>
                      </a:pPr>
                      <a:r>
                        <a:rPr lang="en-US" sz="1200" kern="100">
                          <a:effectLst/>
                        </a:rPr>
                        <a:t>0 (No Fire)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50</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0.65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0.62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0.63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Khi mô hình dự đoán "Không cháy" (0), nó đúng  65\%  số lần (Precision). Nó tìm thấy  62\%  số mẫu "Không cháy" thực tế (Recall).</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81078964"/>
                  </a:ext>
                </a:extLst>
              </a:tr>
              <a:tr h="1105333">
                <a:tc>
                  <a:txBody>
                    <a:bodyPr/>
                    <a:lstStyle/>
                    <a:p>
                      <a:pPr marL="0" marR="0" algn="just">
                        <a:lnSpc>
                          <a:spcPct val="107000"/>
                        </a:lnSpc>
                        <a:spcAft>
                          <a:spcPts val="2400"/>
                        </a:spcAft>
                        <a:buNone/>
                      </a:pPr>
                      <a:r>
                        <a:rPr lang="en-US" sz="1200" kern="100">
                          <a:effectLst/>
                        </a:rPr>
                        <a:t>1 (Fire Occurred)</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54</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0.66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0.69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0.67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Hiệu suất tốt hơn một chút. Mô hình có khả năng tìm thấy sự kiện cháy ( 69\%  Recall) tốt hơn một chút so với việc tìm thấy sự kiện không cháy.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71298518"/>
                  </a:ext>
                </a:extLst>
              </a:tr>
            </a:tbl>
          </a:graphicData>
        </a:graphic>
      </p:graphicFrame>
    </p:spTree>
    <p:extLst>
      <p:ext uri="{BB962C8B-B14F-4D97-AF65-F5344CB8AC3E}">
        <p14:creationId xmlns:p14="http://schemas.microsoft.com/office/powerpoint/2010/main" val="20320933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A0407-CC76-2F55-FC9C-F769B13D91B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E3A5906-E5FF-476B-DDD9-FD81422A4752}"/>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0BAF2A15-74F2-5D9E-5315-C0159AC7F07B}"/>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Report_RandomForest(Binary Classification Fire/No Fire)</a:t>
            </a:r>
            <a:endParaRPr sz="3600" spc="-10" dirty="0"/>
          </a:p>
        </p:txBody>
      </p:sp>
      <p:sp>
        <p:nvSpPr>
          <p:cNvPr id="10" name="object 10">
            <a:extLst>
              <a:ext uri="{FF2B5EF4-FFF2-40B4-BE49-F238E27FC236}">
                <a16:creationId xmlns:a16="http://schemas.microsoft.com/office/drawing/2014/main" id="{962B1550-5D06-F9C5-1D2D-47FCF951BBC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80</a:t>
            </a:fld>
            <a:endParaRPr spc="-25" dirty="0"/>
          </a:p>
        </p:txBody>
      </p:sp>
      <p:sp>
        <p:nvSpPr>
          <p:cNvPr id="6" name="object 3">
            <a:extLst>
              <a:ext uri="{FF2B5EF4-FFF2-40B4-BE49-F238E27FC236}">
                <a16:creationId xmlns:a16="http://schemas.microsoft.com/office/drawing/2014/main" id="{3F078E94-F1F0-6A27-72CC-6BCF7BC899C4}"/>
              </a:ext>
            </a:extLst>
          </p:cNvPr>
          <p:cNvSpPr txBox="1">
            <a:spLocks/>
          </p:cNvSpPr>
          <p:nvPr/>
        </p:nvSpPr>
        <p:spPr>
          <a:xfrm>
            <a:off x="68579" y="1384367"/>
            <a:ext cx="8608060" cy="473206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6F06D0AC-4AA5-6DD4-1E67-685A3F434523}"/>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0E136D26-ABB8-B7EA-849D-68DD8395843D}"/>
              </a:ext>
            </a:extLst>
          </p:cNvPr>
          <p:cNvPicPr>
            <a:picLocks noChangeAspect="1"/>
          </p:cNvPicPr>
          <p:nvPr/>
        </p:nvPicPr>
        <p:blipFill>
          <a:blip r:embed="rId2"/>
          <a:stretch>
            <a:fillRect/>
          </a:stretch>
        </p:blipFill>
        <p:spPr>
          <a:xfrm>
            <a:off x="990600" y="1866899"/>
            <a:ext cx="7162800" cy="3067075"/>
          </a:xfrm>
          <a:prstGeom prst="rect">
            <a:avLst/>
          </a:prstGeom>
        </p:spPr>
      </p:pic>
    </p:spTree>
    <p:extLst>
      <p:ext uri="{BB962C8B-B14F-4D97-AF65-F5344CB8AC3E}">
        <p14:creationId xmlns:p14="http://schemas.microsoft.com/office/powerpoint/2010/main" val="16103035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3528B-2EBE-83DF-89AA-A0D486FD1C9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485C9F6-AA10-50F8-BBFC-E1BF57A7DBEF}"/>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6A669F46-C13D-41F6-9E06-AFF4F78562D4}"/>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Report_RandomForest(Binary Classification Fire/No Fire)</a:t>
            </a:r>
            <a:endParaRPr sz="3600" spc="-10" dirty="0"/>
          </a:p>
        </p:txBody>
      </p:sp>
      <p:sp>
        <p:nvSpPr>
          <p:cNvPr id="10" name="object 10">
            <a:extLst>
              <a:ext uri="{FF2B5EF4-FFF2-40B4-BE49-F238E27FC236}">
                <a16:creationId xmlns:a16="http://schemas.microsoft.com/office/drawing/2014/main" id="{8D7D9E8D-99CB-6128-C834-76A0FDD9105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81</a:t>
            </a:fld>
            <a:endParaRPr spc="-25" dirty="0"/>
          </a:p>
        </p:txBody>
      </p:sp>
      <p:sp>
        <p:nvSpPr>
          <p:cNvPr id="6" name="object 3">
            <a:extLst>
              <a:ext uri="{FF2B5EF4-FFF2-40B4-BE49-F238E27FC236}">
                <a16:creationId xmlns:a16="http://schemas.microsoft.com/office/drawing/2014/main" id="{18C5A005-CF05-AA77-C9B2-93CA486AFAB8}"/>
              </a:ext>
            </a:extLst>
          </p:cNvPr>
          <p:cNvSpPr txBox="1">
            <a:spLocks/>
          </p:cNvSpPr>
          <p:nvPr/>
        </p:nvSpPr>
        <p:spPr>
          <a:xfrm>
            <a:off x="68579" y="1384367"/>
            <a:ext cx="8608060" cy="473206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7A8725D7-D01A-38C3-CD8A-8116E2E97B09}"/>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4" name="Table 3">
            <a:extLst>
              <a:ext uri="{FF2B5EF4-FFF2-40B4-BE49-F238E27FC236}">
                <a16:creationId xmlns:a16="http://schemas.microsoft.com/office/drawing/2014/main" id="{4EEC2296-D081-7FDC-3566-073368CCCB00}"/>
              </a:ext>
            </a:extLst>
          </p:cNvPr>
          <p:cNvGraphicFramePr>
            <a:graphicFrameLocks noGrp="1"/>
          </p:cNvGraphicFramePr>
          <p:nvPr>
            <p:extLst>
              <p:ext uri="{D42A27DB-BD31-4B8C-83A1-F6EECF244321}">
                <p14:modId xmlns:p14="http://schemas.microsoft.com/office/powerpoint/2010/main" val="3966210172"/>
              </p:ext>
            </p:extLst>
          </p:nvPr>
        </p:nvGraphicFramePr>
        <p:xfrm>
          <a:off x="388111" y="1790700"/>
          <a:ext cx="8255000" cy="3271244"/>
        </p:xfrm>
        <a:graphic>
          <a:graphicData uri="http://schemas.openxmlformats.org/drawingml/2006/table">
            <a:tbl>
              <a:tblPr firstRow="1" firstCol="1" bandRow="1">
                <a:tableStyleId>{5C22544A-7EE6-4342-B048-85BDC9FD1C3A}</a:tableStyleId>
              </a:tblPr>
              <a:tblGrid>
                <a:gridCol w="850900">
                  <a:extLst>
                    <a:ext uri="{9D8B030D-6E8A-4147-A177-3AD203B41FA5}">
                      <a16:colId xmlns:a16="http://schemas.microsoft.com/office/drawing/2014/main" val="881638680"/>
                    </a:ext>
                  </a:extLst>
                </a:gridCol>
                <a:gridCol w="1524000">
                  <a:extLst>
                    <a:ext uri="{9D8B030D-6E8A-4147-A177-3AD203B41FA5}">
                      <a16:colId xmlns:a16="http://schemas.microsoft.com/office/drawing/2014/main" val="3330330551"/>
                    </a:ext>
                  </a:extLst>
                </a:gridCol>
                <a:gridCol w="1447800">
                  <a:extLst>
                    <a:ext uri="{9D8B030D-6E8A-4147-A177-3AD203B41FA5}">
                      <a16:colId xmlns:a16="http://schemas.microsoft.com/office/drawing/2014/main" val="3384196645"/>
                    </a:ext>
                  </a:extLst>
                </a:gridCol>
                <a:gridCol w="1295400">
                  <a:extLst>
                    <a:ext uri="{9D8B030D-6E8A-4147-A177-3AD203B41FA5}">
                      <a16:colId xmlns:a16="http://schemas.microsoft.com/office/drawing/2014/main" val="966864115"/>
                    </a:ext>
                  </a:extLst>
                </a:gridCol>
                <a:gridCol w="3136900">
                  <a:extLst>
                    <a:ext uri="{9D8B030D-6E8A-4147-A177-3AD203B41FA5}">
                      <a16:colId xmlns:a16="http://schemas.microsoft.com/office/drawing/2014/main" val="1382838902"/>
                    </a:ext>
                  </a:extLst>
                </a:gridCol>
              </a:tblGrid>
              <a:tr h="176206">
                <a:tc>
                  <a:txBody>
                    <a:bodyPr/>
                    <a:lstStyle/>
                    <a:p>
                      <a:pPr marL="0" marR="0" algn="just">
                        <a:lnSpc>
                          <a:spcPct val="107000"/>
                        </a:lnSpc>
                        <a:spcAft>
                          <a:spcPts val="2400"/>
                        </a:spcAft>
                        <a:buNone/>
                      </a:pPr>
                      <a:r>
                        <a:rPr lang="en-US" sz="1200" kern="100">
                          <a:effectLst/>
                        </a:rPr>
                        <a:t>Hạng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Đặc trưng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Importance 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Tỷ lệ (Gần đúng)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Ý nghĩa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95281177"/>
                  </a:ext>
                </a:extLst>
              </a:tr>
              <a:tr h="680447">
                <a:tc>
                  <a:txBody>
                    <a:bodyPr/>
                    <a:lstStyle/>
                    <a:p>
                      <a:pPr marL="0" marR="0" algn="just">
                        <a:lnSpc>
                          <a:spcPct val="107000"/>
                        </a:lnSpc>
                        <a:spcAft>
                          <a:spcPts val="2400"/>
                        </a:spcAft>
                        <a:buNone/>
                      </a:pPr>
                      <a:r>
                        <a:rPr lang="en-US" sz="1200" kern="100">
                          <a:effectLst/>
                        </a:rPr>
                        <a:t>1</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temp (Nhiệt độ)</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0.1500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~15.0\%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Quan trọng nhất. Nhiệt độ cao là yếu tố hàng đầu quyết định khả năng xảy ra cháy.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33093836"/>
                  </a:ext>
                </a:extLst>
              </a:tr>
              <a:tr h="512367">
                <a:tc>
                  <a:txBody>
                    <a:bodyPr/>
                    <a:lstStyle/>
                    <a:p>
                      <a:pPr marL="0" marR="0" algn="just">
                        <a:lnSpc>
                          <a:spcPct val="107000"/>
                        </a:lnSpc>
                        <a:spcAft>
                          <a:spcPts val="2400"/>
                        </a:spcAft>
                        <a:buNone/>
                      </a:pPr>
                      <a:r>
                        <a:rPr lang="en-US" sz="1200" kern="100">
                          <a:effectLst/>
                        </a:rPr>
                        <a:t>2</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RH (Độ ẩm tương đối)</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0.1220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~12.2\%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Quan trọng thứ hai. Độ ẩm thấp làm tăng nguy cơ cháy.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77601096"/>
                  </a:ext>
                </a:extLst>
              </a:tr>
              <a:tr h="512367">
                <a:tc>
                  <a:txBody>
                    <a:bodyPr/>
                    <a:lstStyle/>
                    <a:p>
                      <a:pPr marL="0" marR="0" algn="just">
                        <a:lnSpc>
                          <a:spcPct val="107000"/>
                        </a:lnSpc>
                        <a:spcAft>
                          <a:spcPts val="2400"/>
                        </a:spcAft>
                        <a:buNone/>
                      </a:pPr>
                      <a:r>
                        <a:rPr lang="en-US" sz="1200" kern="100">
                          <a:effectLst/>
                        </a:rPr>
                        <a:t>3, 4</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DC, DMC</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0.1082, 0.1032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~21.1\%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Các chỉ số về độ khô của nhiên liệu (Code độ ẩm) là yếu tố quyết định.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12970771"/>
                  </a:ext>
                </a:extLst>
              </a:tr>
              <a:tr h="680447">
                <a:tc>
                  <a:txBody>
                    <a:bodyPr/>
                    <a:lstStyle/>
                    <a:p>
                      <a:pPr marL="0" marR="0" algn="just">
                        <a:lnSpc>
                          <a:spcPct val="107000"/>
                        </a:lnSpc>
                        <a:spcAft>
                          <a:spcPts val="2400"/>
                        </a:spcAft>
                        <a:buNone/>
                      </a:pPr>
                      <a:r>
                        <a:rPr lang="en-US" sz="1200" kern="100">
                          <a:effectLst/>
                        </a:rPr>
                        <a:t>5</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X (Tọa độ X)</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0.0992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~9.9\%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Tọa độ địa lý bắt đầu đóng vai trò quan trọng, phản ánh sự khác biệt về địa hình hoặc khu vực.</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59607129"/>
                  </a:ext>
                </a:extLst>
              </a:tr>
              <a:tr h="680447">
                <a:tc>
                  <a:txBody>
                    <a:bodyPr/>
                    <a:lstStyle/>
                    <a:p>
                      <a:pPr marL="0" marR="0" algn="just">
                        <a:lnSpc>
                          <a:spcPct val="107000"/>
                        </a:lnSpc>
                        <a:spcAft>
                          <a:spcPts val="2400"/>
                        </a:spcAft>
                        <a:buNone/>
                      </a:pPr>
                      <a:r>
                        <a:rPr lang="en-US" sz="1200" kern="100">
                          <a:effectLst/>
                        </a:rPr>
                        <a:t>Cuối</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rain (Mưa)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0.0040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~0.4\%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Ít quan trọng nhất. Điều này là hợp lý vì hầu hết dữ liệu cháy rừng đều xảy ra khi không có mưa.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07243117"/>
                  </a:ext>
                </a:extLst>
              </a:tr>
            </a:tbl>
          </a:graphicData>
        </a:graphic>
      </p:graphicFrame>
    </p:spTree>
    <p:extLst>
      <p:ext uri="{BB962C8B-B14F-4D97-AF65-F5344CB8AC3E}">
        <p14:creationId xmlns:p14="http://schemas.microsoft.com/office/powerpoint/2010/main" val="21362484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7ACFA-C048-AD08-9D4D-C159E8AF453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9E4AF2-66CB-10DC-A616-84312999E268}"/>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9F94E796-6FDD-E770-8576-D6028505DE76}"/>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Report_RandomForest(Binary Classification Fire/No Fire)</a:t>
            </a:r>
            <a:endParaRPr sz="3600" spc="-10" dirty="0"/>
          </a:p>
        </p:txBody>
      </p:sp>
      <p:sp>
        <p:nvSpPr>
          <p:cNvPr id="10" name="object 10">
            <a:extLst>
              <a:ext uri="{FF2B5EF4-FFF2-40B4-BE49-F238E27FC236}">
                <a16:creationId xmlns:a16="http://schemas.microsoft.com/office/drawing/2014/main" id="{4CA722EE-F57C-C7AA-76F3-7D2558DF62B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82</a:t>
            </a:fld>
            <a:endParaRPr spc="-25" dirty="0"/>
          </a:p>
        </p:txBody>
      </p:sp>
      <p:sp>
        <p:nvSpPr>
          <p:cNvPr id="6" name="object 3">
            <a:extLst>
              <a:ext uri="{FF2B5EF4-FFF2-40B4-BE49-F238E27FC236}">
                <a16:creationId xmlns:a16="http://schemas.microsoft.com/office/drawing/2014/main" id="{6E8000DD-5961-1906-CF05-B61D951245BF}"/>
              </a:ext>
            </a:extLst>
          </p:cNvPr>
          <p:cNvSpPr txBox="1">
            <a:spLocks/>
          </p:cNvSpPr>
          <p:nvPr/>
        </p:nvSpPr>
        <p:spPr>
          <a:xfrm>
            <a:off x="497841" y="1416299"/>
            <a:ext cx="8148318" cy="657872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342900" indent="-342900">
              <a:buFont typeface="Wingdings" panose="05000000000000000000" pitchFamily="2" charset="2"/>
              <a:buChar char="§"/>
            </a:pPr>
            <a:r>
              <a:rPr lang="en-US" sz="2400" b="1">
                <a:solidFill>
                  <a:schemeClr val="tx1"/>
                </a:solidFill>
                <a:latin typeface="Times New Roman" panose="02020603050405020304" pitchFamily="18" charset="0"/>
                <a:cs typeface="Times New Roman" panose="02020603050405020304" pitchFamily="18" charset="0"/>
              </a:rPr>
              <a:t>Kết luận từ Feature Importance:</a:t>
            </a:r>
          </a:p>
          <a:p>
            <a:r>
              <a:rPr lang="en-US" sz="2400">
                <a:solidFill>
                  <a:schemeClr val="tx1"/>
                </a:solidFill>
                <a:latin typeface="Times New Roman" panose="02020603050405020304" pitchFamily="18" charset="0"/>
                <a:cs typeface="Times New Roman" panose="02020603050405020304" pitchFamily="18" charset="0"/>
              </a:rPr>
              <a:t>	Phần lớn thông tin quan trọng được tập trung vào </a:t>
            </a:r>
            <a:r>
              <a:rPr lang="en-US" sz="2400" b="1">
                <a:solidFill>
                  <a:schemeClr val="tx1"/>
                </a:solidFill>
                <a:latin typeface="Times New Roman" panose="02020603050405020304" pitchFamily="18" charset="0"/>
                <a:cs typeface="Times New Roman" panose="02020603050405020304" pitchFamily="18" charset="0"/>
              </a:rPr>
              <a:t>các biến khí hậu (temp, RH) </a:t>
            </a:r>
            <a:r>
              <a:rPr lang="en-US" sz="2400">
                <a:solidFill>
                  <a:schemeClr val="tx1"/>
                </a:solidFill>
                <a:latin typeface="Times New Roman" panose="02020603050405020304" pitchFamily="18" charset="0"/>
                <a:cs typeface="Times New Roman" panose="02020603050405020304" pitchFamily="18" charset="0"/>
              </a:rPr>
              <a:t>và các </a:t>
            </a:r>
            <a:r>
              <a:rPr lang="en-US" sz="2400" b="1">
                <a:solidFill>
                  <a:schemeClr val="tx1"/>
                </a:solidFill>
                <a:latin typeface="Times New Roman" panose="02020603050405020304" pitchFamily="18" charset="0"/>
                <a:cs typeface="Times New Roman" panose="02020603050405020304" pitchFamily="18" charset="0"/>
              </a:rPr>
              <a:t>chỉ số khô hạn (DC, DMC). </a:t>
            </a:r>
            <a:r>
              <a:rPr lang="en-US" sz="2400">
                <a:solidFill>
                  <a:schemeClr val="tx1"/>
                </a:solidFill>
                <a:latin typeface="Times New Roman" panose="02020603050405020304" pitchFamily="18" charset="0"/>
                <a:cs typeface="Times New Roman" panose="02020603050405020304" pitchFamily="18" charset="0"/>
              </a:rPr>
              <a:t>Mô hình Random Forest đã thực hiện tốt công việc xác định các yếu tố vật lý và môi trường này là cốt lõi cho bài toán.</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ED104C54-AC79-F083-EED4-1E446D3A51D3}"/>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8842710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35049-A95D-7BD4-2A22-B15BC7857EA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B439A01-13FD-3F8B-7749-6174A882EB68}"/>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E3BAEC26-289F-6655-CEAB-2C979FE1A3BD}"/>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3.2.2 Report_RandomForest(Binary Classification Fire/No Fire)</a:t>
            </a:r>
            <a:endParaRPr sz="3600" spc="-10" dirty="0"/>
          </a:p>
        </p:txBody>
      </p:sp>
      <p:sp>
        <p:nvSpPr>
          <p:cNvPr id="10" name="object 10">
            <a:extLst>
              <a:ext uri="{FF2B5EF4-FFF2-40B4-BE49-F238E27FC236}">
                <a16:creationId xmlns:a16="http://schemas.microsoft.com/office/drawing/2014/main" id="{F0403633-300B-E19E-AFF3-6F0624D42AD0}"/>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83</a:t>
            </a:fld>
            <a:endParaRPr spc="-25" dirty="0"/>
          </a:p>
        </p:txBody>
      </p:sp>
      <p:sp>
        <p:nvSpPr>
          <p:cNvPr id="6" name="object 3">
            <a:extLst>
              <a:ext uri="{FF2B5EF4-FFF2-40B4-BE49-F238E27FC236}">
                <a16:creationId xmlns:a16="http://schemas.microsoft.com/office/drawing/2014/main" id="{E57A67F0-6BE7-62C0-2CE4-A0FBFC38DAB0}"/>
              </a:ext>
            </a:extLst>
          </p:cNvPr>
          <p:cNvSpPr txBox="1">
            <a:spLocks/>
          </p:cNvSpPr>
          <p:nvPr/>
        </p:nvSpPr>
        <p:spPr>
          <a:xfrm>
            <a:off x="497841" y="1416299"/>
            <a:ext cx="8148318" cy="657872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342900" indent="-342900">
              <a:buFont typeface="Wingdings" panose="05000000000000000000" pitchFamily="2" charset="2"/>
              <a:buChar char="§"/>
            </a:pPr>
            <a:r>
              <a:rPr lang="en-US" sz="2400" b="1">
                <a:solidFill>
                  <a:schemeClr val="tx1"/>
                </a:solidFill>
                <a:latin typeface="Times New Roman" panose="02020603050405020304" pitchFamily="18" charset="0"/>
                <a:cs typeface="Times New Roman" panose="02020603050405020304" pitchFamily="18" charset="0"/>
              </a:rPr>
              <a:t>Kết luận từ Feature Importance:</a:t>
            </a:r>
          </a:p>
          <a:p>
            <a:r>
              <a:rPr lang="en-US" sz="2400">
                <a:solidFill>
                  <a:schemeClr val="tx1"/>
                </a:solidFill>
                <a:latin typeface="Times New Roman" panose="02020603050405020304" pitchFamily="18" charset="0"/>
                <a:cs typeface="Times New Roman" panose="02020603050405020304" pitchFamily="18" charset="0"/>
              </a:rPr>
              <a:t>	Phần lớn thông tin quan trọng được tập trung vào </a:t>
            </a:r>
            <a:r>
              <a:rPr lang="en-US" sz="2400" b="1">
                <a:solidFill>
                  <a:schemeClr val="tx1"/>
                </a:solidFill>
                <a:latin typeface="Times New Roman" panose="02020603050405020304" pitchFamily="18" charset="0"/>
                <a:cs typeface="Times New Roman" panose="02020603050405020304" pitchFamily="18" charset="0"/>
              </a:rPr>
              <a:t>các biến khí hậu (temp, RH) </a:t>
            </a:r>
            <a:r>
              <a:rPr lang="en-US" sz="2400">
                <a:solidFill>
                  <a:schemeClr val="tx1"/>
                </a:solidFill>
                <a:latin typeface="Times New Roman" panose="02020603050405020304" pitchFamily="18" charset="0"/>
                <a:cs typeface="Times New Roman" panose="02020603050405020304" pitchFamily="18" charset="0"/>
              </a:rPr>
              <a:t>và các </a:t>
            </a:r>
            <a:r>
              <a:rPr lang="en-US" sz="2400" b="1">
                <a:solidFill>
                  <a:schemeClr val="tx1"/>
                </a:solidFill>
                <a:latin typeface="Times New Roman" panose="02020603050405020304" pitchFamily="18" charset="0"/>
                <a:cs typeface="Times New Roman" panose="02020603050405020304" pitchFamily="18" charset="0"/>
              </a:rPr>
              <a:t>chỉ số khô hạn (DC, DMC). </a:t>
            </a:r>
            <a:r>
              <a:rPr lang="en-US" sz="2400">
                <a:solidFill>
                  <a:schemeClr val="tx1"/>
                </a:solidFill>
                <a:latin typeface="Times New Roman" panose="02020603050405020304" pitchFamily="18" charset="0"/>
                <a:cs typeface="Times New Roman" panose="02020603050405020304" pitchFamily="18" charset="0"/>
              </a:rPr>
              <a:t>Mô hình Random Forest đã thực hiện tốt công việc xác định các yếu tố vật lý và môi trường này là cốt lõi cho bài toán.</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584200" lvl="1" indent="-571500">
              <a:spcBef>
                <a:spcPts val="100"/>
              </a:spcBef>
              <a:buFont typeface="Wingdings" panose="05000000000000000000" pitchFamily="2" charset="2"/>
              <a:buChar char="q"/>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4B95B802-3A0F-49ED-B92C-FABDB57D3777}"/>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8740536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514BF-D2F4-50B7-0169-560EC7DD8DB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8A9E076-5B4E-5C90-9549-5E7E06E33404}"/>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13EF1DA0-6520-5022-AF25-AC28C8160F38}"/>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3.3.1 Report_Analysis(RandomForest - Decisiontree Wine Quality Red)</a:t>
            </a:r>
            <a:endParaRPr sz="3600" spc="-10" dirty="0"/>
          </a:p>
        </p:txBody>
      </p:sp>
      <p:sp>
        <p:nvSpPr>
          <p:cNvPr id="10" name="object 10">
            <a:extLst>
              <a:ext uri="{FF2B5EF4-FFF2-40B4-BE49-F238E27FC236}">
                <a16:creationId xmlns:a16="http://schemas.microsoft.com/office/drawing/2014/main" id="{A83556D6-6E9E-3A27-29E0-C6B79793965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84</a:t>
            </a:fld>
            <a:endParaRPr spc="-25" dirty="0"/>
          </a:p>
        </p:txBody>
      </p:sp>
      <p:sp>
        <p:nvSpPr>
          <p:cNvPr id="6" name="object 3">
            <a:extLst>
              <a:ext uri="{FF2B5EF4-FFF2-40B4-BE49-F238E27FC236}">
                <a16:creationId xmlns:a16="http://schemas.microsoft.com/office/drawing/2014/main" id="{3A3D1C46-95AA-5734-4B0C-B063104CFFE4}"/>
              </a:ext>
            </a:extLst>
          </p:cNvPr>
          <p:cNvSpPr txBox="1">
            <a:spLocks/>
          </p:cNvSpPr>
          <p:nvPr/>
        </p:nvSpPr>
        <p:spPr>
          <a:xfrm>
            <a:off x="497841" y="1416299"/>
            <a:ext cx="8148318" cy="5583580"/>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tổng quan và so sánh mô hình</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So sánh hiệu suất( RF vs DT)</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000" b="1">
                <a:solidFill>
                  <a:schemeClr val="tx1"/>
                </a:solidFill>
                <a:latin typeface="Times New Roman" panose="02020603050405020304" pitchFamily="18" charset="0"/>
                <a:cs typeface="Times New Roman" panose="02020603050405020304" pitchFamily="18" charset="0"/>
              </a:rPr>
              <a:t>Kết luận:</a:t>
            </a:r>
            <a:r>
              <a:rPr lang="en-US" sz="2000">
                <a:solidFill>
                  <a:schemeClr val="tx1"/>
                </a:solidFill>
                <a:latin typeface="Times New Roman" panose="02020603050405020304" pitchFamily="18" charset="0"/>
                <a:cs typeface="Times New Roman" panose="02020603050405020304" pitchFamily="18" charset="0"/>
              </a:rPr>
              <a:t> Random Forest vượt trội hơn hẳn so với Cây Quyết định đơn lẻ ( \approx 10 điểm phần trăm), chứng minh hiệu quả của kỹ thuật </a:t>
            </a:r>
            <a:r>
              <a:rPr lang="en-US" sz="2000" b="1">
                <a:solidFill>
                  <a:schemeClr val="tx1"/>
                </a:solidFill>
                <a:latin typeface="Times New Roman" panose="02020603050405020304" pitchFamily="18" charset="0"/>
                <a:cs typeface="Times New Roman" panose="02020603050405020304" pitchFamily="18" charset="0"/>
              </a:rPr>
              <a:t>Ensemble Learning (Bagging)</a:t>
            </a:r>
            <a:r>
              <a:rPr lang="en-US" sz="2000">
                <a:solidFill>
                  <a:schemeClr val="tx1"/>
                </a:solidFill>
                <a:latin typeface="Times New Roman" panose="02020603050405020304" pitchFamily="18" charset="0"/>
                <a:cs typeface="Times New Roman" panose="02020603050405020304" pitchFamily="18" charset="0"/>
              </a:rPr>
              <a:t> trong việc giảm phương sai (variance) của mô hình.</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38AAF649-08F6-DD5B-32E6-0E7E14686456}"/>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4" name="Table 3">
            <a:extLst>
              <a:ext uri="{FF2B5EF4-FFF2-40B4-BE49-F238E27FC236}">
                <a16:creationId xmlns:a16="http://schemas.microsoft.com/office/drawing/2014/main" id="{30F5A441-6A97-FAF7-E9FB-A4E3D0434976}"/>
              </a:ext>
            </a:extLst>
          </p:cNvPr>
          <p:cNvGraphicFramePr>
            <a:graphicFrameLocks noGrp="1"/>
          </p:cNvGraphicFramePr>
          <p:nvPr>
            <p:extLst>
              <p:ext uri="{D42A27DB-BD31-4B8C-83A1-F6EECF244321}">
                <p14:modId xmlns:p14="http://schemas.microsoft.com/office/powerpoint/2010/main" val="145193486"/>
              </p:ext>
            </p:extLst>
          </p:nvPr>
        </p:nvGraphicFramePr>
        <p:xfrm>
          <a:off x="444500" y="2247900"/>
          <a:ext cx="8255000" cy="1471709"/>
        </p:xfrm>
        <a:graphic>
          <a:graphicData uri="http://schemas.openxmlformats.org/drawingml/2006/table">
            <a:tbl>
              <a:tblPr firstRow="1" firstCol="1" bandRow="1">
                <a:tableStyleId>{5C22544A-7EE6-4342-B048-85BDC9FD1C3A}</a:tableStyleId>
              </a:tblPr>
              <a:tblGrid>
                <a:gridCol w="2063750">
                  <a:extLst>
                    <a:ext uri="{9D8B030D-6E8A-4147-A177-3AD203B41FA5}">
                      <a16:colId xmlns:a16="http://schemas.microsoft.com/office/drawing/2014/main" val="1083107700"/>
                    </a:ext>
                  </a:extLst>
                </a:gridCol>
                <a:gridCol w="2063750">
                  <a:extLst>
                    <a:ext uri="{9D8B030D-6E8A-4147-A177-3AD203B41FA5}">
                      <a16:colId xmlns:a16="http://schemas.microsoft.com/office/drawing/2014/main" val="3818005301"/>
                    </a:ext>
                  </a:extLst>
                </a:gridCol>
                <a:gridCol w="2063750">
                  <a:extLst>
                    <a:ext uri="{9D8B030D-6E8A-4147-A177-3AD203B41FA5}">
                      <a16:colId xmlns:a16="http://schemas.microsoft.com/office/drawing/2014/main" val="557335642"/>
                    </a:ext>
                  </a:extLst>
                </a:gridCol>
                <a:gridCol w="2063750">
                  <a:extLst>
                    <a:ext uri="{9D8B030D-6E8A-4147-A177-3AD203B41FA5}">
                      <a16:colId xmlns:a16="http://schemas.microsoft.com/office/drawing/2014/main" val="2889085651"/>
                    </a:ext>
                  </a:extLst>
                </a:gridCol>
              </a:tblGrid>
              <a:tr h="251074">
                <a:tc>
                  <a:txBody>
                    <a:bodyPr/>
                    <a:lstStyle/>
                    <a:p>
                      <a:pPr marL="0" marR="0" algn="just">
                        <a:lnSpc>
                          <a:spcPct val="107000"/>
                        </a:lnSpc>
                        <a:spcAft>
                          <a:spcPts val="2400"/>
                        </a:spcAft>
                        <a:buNone/>
                      </a:pPr>
                      <a:r>
                        <a:rPr lang="en-US" sz="1200" kern="100">
                          <a:effectLst/>
                        </a:rPr>
                        <a:t>Model</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Test Accuracy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OOB 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Nhận định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10878836"/>
                  </a:ext>
                </a:extLst>
              </a:tr>
              <a:tr h="490570">
                <a:tc>
                  <a:txBody>
                    <a:bodyPr/>
                    <a:lstStyle/>
                    <a:p>
                      <a:pPr marL="0" marR="0" algn="just">
                        <a:lnSpc>
                          <a:spcPct val="107000"/>
                        </a:lnSpc>
                        <a:spcAft>
                          <a:spcPts val="2400"/>
                        </a:spcAft>
                        <a:buNone/>
                      </a:pPr>
                      <a:r>
                        <a:rPr lang="en-US" sz="1200" kern="100">
                          <a:effectLst/>
                        </a:rPr>
                        <a:t>Random Forest (RF)</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0.6937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0.7013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Độ chính xác cao hơn, rất ổn định (OOB  \approx  Test Acc.).</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83400017"/>
                  </a:ext>
                </a:extLst>
              </a:tr>
              <a:tr h="730065">
                <a:tc>
                  <a:txBody>
                    <a:bodyPr/>
                    <a:lstStyle/>
                    <a:p>
                      <a:pPr marL="0" marR="0" algn="just">
                        <a:lnSpc>
                          <a:spcPct val="107000"/>
                        </a:lnSpc>
                        <a:spcAft>
                          <a:spcPts val="2400"/>
                        </a:spcAft>
                        <a:buNone/>
                      </a:pPr>
                      <a:r>
                        <a:rPr lang="en-US" sz="1200" kern="100">
                          <a:effectLst/>
                        </a:rPr>
                        <a:t>Decision Tree (DT)</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0.5906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N/A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Độ chính xác thấp hơn, có xu hướng quá khớp (do </a:t>
                      </a:r>
                      <a:r>
                        <a:rPr lang="en-US" sz="1000" kern="100">
                          <a:effectLst/>
                        </a:rPr>
                        <a:t>max_depth</a:t>
                      </a:r>
                      <a:r>
                        <a:rPr lang="en-US" sz="1200" kern="100">
                          <a:effectLst/>
                        </a:rPr>
                        <a:t> cao).</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3572989"/>
                  </a:ext>
                </a:extLst>
              </a:tr>
            </a:tbl>
          </a:graphicData>
        </a:graphic>
      </p:graphicFrame>
    </p:spTree>
    <p:extLst>
      <p:ext uri="{BB962C8B-B14F-4D97-AF65-F5344CB8AC3E}">
        <p14:creationId xmlns:p14="http://schemas.microsoft.com/office/powerpoint/2010/main" val="41023363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452DC-EF6B-7D59-CE4E-8C00736929E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B071BAB-4B98-ECE2-E08A-36C04FA9F6E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1EAFBD9F-BA5E-262C-695F-ECE0195692C9}"/>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3.3.1 Report_Analysis(RandomForest - Decisiontree Wine Quality Red)</a:t>
            </a:r>
            <a:endParaRPr sz="3600" spc="-10" dirty="0"/>
          </a:p>
        </p:txBody>
      </p:sp>
      <p:sp>
        <p:nvSpPr>
          <p:cNvPr id="10" name="object 10">
            <a:extLst>
              <a:ext uri="{FF2B5EF4-FFF2-40B4-BE49-F238E27FC236}">
                <a16:creationId xmlns:a16="http://schemas.microsoft.com/office/drawing/2014/main" id="{45587A7B-A1FA-6061-EED9-58CFAA80FBB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85</a:t>
            </a:fld>
            <a:endParaRPr spc="-25" dirty="0"/>
          </a:p>
        </p:txBody>
      </p:sp>
      <p:sp>
        <p:nvSpPr>
          <p:cNvPr id="6" name="object 3">
            <a:extLst>
              <a:ext uri="{FF2B5EF4-FFF2-40B4-BE49-F238E27FC236}">
                <a16:creationId xmlns:a16="http://schemas.microsoft.com/office/drawing/2014/main" id="{8E44B672-562B-B09D-ABE1-63EDD983695C}"/>
              </a:ext>
            </a:extLst>
          </p:cNvPr>
          <p:cNvSpPr txBox="1">
            <a:spLocks/>
          </p:cNvSpPr>
          <p:nvPr/>
        </p:nvSpPr>
        <p:spPr>
          <a:xfrm>
            <a:off x="497841" y="1416299"/>
            <a:ext cx="8148318" cy="4265270"/>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tổng quan và so sánh mô hình</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So sánh hiệu suất( RF vs DT)</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8A7E56E2-52DD-19DA-C7D0-B519B6741F06}"/>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300D5995-4C11-B7D3-F255-1F29B5B77608}"/>
              </a:ext>
            </a:extLst>
          </p:cNvPr>
          <p:cNvPicPr>
            <a:picLocks noChangeAspect="1"/>
          </p:cNvPicPr>
          <p:nvPr/>
        </p:nvPicPr>
        <p:blipFill>
          <a:blip r:embed="rId2"/>
          <a:stretch>
            <a:fillRect/>
          </a:stretch>
        </p:blipFill>
        <p:spPr>
          <a:xfrm>
            <a:off x="685800" y="2171701"/>
            <a:ext cx="6248400" cy="2893964"/>
          </a:xfrm>
          <a:prstGeom prst="rect">
            <a:avLst/>
          </a:prstGeom>
        </p:spPr>
      </p:pic>
    </p:spTree>
    <p:extLst>
      <p:ext uri="{BB962C8B-B14F-4D97-AF65-F5344CB8AC3E}">
        <p14:creationId xmlns:p14="http://schemas.microsoft.com/office/powerpoint/2010/main" val="28053809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97566-117C-7711-B5DC-897FAAD7FD1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3DA0302-23F9-670F-0D7B-4915FAA66AF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4D405248-E8DD-C240-E28A-8262D0BC153A}"/>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3.3.1 Report_Analysis(RandomForest - Decisiontree Wine Quality Red)</a:t>
            </a:r>
            <a:endParaRPr sz="3600" spc="-10" dirty="0"/>
          </a:p>
        </p:txBody>
      </p:sp>
      <p:sp>
        <p:nvSpPr>
          <p:cNvPr id="10" name="object 10">
            <a:extLst>
              <a:ext uri="{FF2B5EF4-FFF2-40B4-BE49-F238E27FC236}">
                <a16:creationId xmlns:a16="http://schemas.microsoft.com/office/drawing/2014/main" id="{2E17CA0A-378C-CD4A-EDD1-A46FBAC42BBD}"/>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86</a:t>
            </a:fld>
            <a:endParaRPr spc="-25" dirty="0"/>
          </a:p>
        </p:txBody>
      </p:sp>
      <p:sp>
        <p:nvSpPr>
          <p:cNvPr id="6" name="object 3">
            <a:extLst>
              <a:ext uri="{FF2B5EF4-FFF2-40B4-BE49-F238E27FC236}">
                <a16:creationId xmlns:a16="http://schemas.microsoft.com/office/drawing/2014/main" id="{CEAB9B8E-3A87-215B-CE96-86B9A1D38353}"/>
              </a:ext>
            </a:extLst>
          </p:cNvPr>
          <p:cNvSpPr txBox="1">
            <a:spLocks/>
          </p:cNvSpPr>
          <p:nvPr/>
        </p:nvSpPr>
        <p:spPr>
          <a:xfrm>
            <a:off x="497841" y="1416299"/>
            <a:ext cx="8148318" cy="4265270"/>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tổng quan và so sánh mô hình</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So sánh hiệu suất( RF vs DT)</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584200" indent="-571500">
              <a:spcBef>
                <a:spcPts val="100"/>
              </a:spcBef>
              <a:buFont typeface="Wingdings" panose="05000000000000000000" pitchFamily="2" charset="2"/>
              <a:buChar char="q"/>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00" b="1" spc="-10">
                <a:solidFill>
                  <a:schemeClr val="tx1"/>
                </a:solidFill>
                <a:latin typeface="Times New Roman" panose="02020603050405020304" pitchFamily="18" charset="0"/>
                <a:cs typeface="Times New Roman" panose="02020603050405020304" pitchFamily="18" charset="0"/>
              </a:rPr>
              <a:t>dfs</a:t>
            </a: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4795D077-7F80-145F-51C1-F58C8BEECF0B}"/>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8" name="Picture 7">
            <a:extLst>
              <a:ext uri="{FF2B5EF4-FFF2-40B4-BE49-F238E27FC236}">
                <a16:creationId xmlns:a16="http://schemas.microsoft.com/office/drawing/2014/main" id="{5A3E1860-02B0-D7C9-9752-90D5BD5979AD}"/>
              </a:ext>
            </a:extLst>
          </p:cNvPr>
          <p:cNvPicPr>
            <a:picLocks noChangeAspect="1"/>
          </p:cNvPicPr>
          <p:nvPr/>
        </p:nvPicPr>
        <p:blipFill>
          <a:blip r:embed="rId2"/>
          <a:stretch>
            <a:fillRect/>
          </a:stretch>
        </p:blipFill>
        <p:spPr>
          <a:xfrm>
            <a:off x="838200" y="2171702"/>
            <a:ext cx="6324600" cy="2893963"/>
          </a:xfrm>
          <a:prstGeom prst="rect">
            <a:avLst/>
          </a:prstGeom>
        </p:spPr>
      </p:pic>
    </p:spTree>
    <p:extLst>
      <p:ext uri="{BB962C8B-B14F-4D97-AF65-F5344CB8AC3E}">
        <p14:creationId xmlns:p14="http://schemas.microsoft.com/office/powerpoint/2010/main" val="34647333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C1EC6-737B-4FE5-605D-6A3F7F1F57C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CC4F1DB-8A2E-6D3B-6377-C5309040F08E}"/>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2984AF66-8D24-2D0D-E7B3-AF3E5AF8EFDD}"/>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3.3.1 Report_Analysis(RandomForest - Decisiontree Wine Quality Red)</a:t>
            </a:r>
            <a:endParaRPr sz="3600" spc="-10" dirty="0"/>
          </a:p>
        </p:txBody>
      </p:sp>
      <p:sp>
        <p:nvSpPr>
          <p:cNvPr id="10" name="object 10">
            <a:extLst>
              <a:ext uri="{FF2B5EF4-FFF2-40B4-BE49-F238E27FC236}">
                <a16:creationId xmlns:a16="http://schemas.microsoft.com/office/drawing/2014/main" id="{C858C01F-22AA-C913-BE49-BF5301D2514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87</a:t>
            </a:fld>
            <a:endParaRPr spc="-25" dirty="0"/>
          </a:p>
        </p:txBody>
      </p:sp>
      <p:sp>
        <p:nvSpPr>
          <p:cNvPr id="6" name="object 3">
            <a:extLst>
              <a:ext uri="{FF2B5EF4-FFF2-40B4-BE49-F238E27FC236}">
                <a16:creationId xmlns:a16="http://schemas.microsoft.com/office/drawing/2014/main" id="{46E5DBCA-6E71-93D8-8138-0E161A494975}"/>
              </a:ext>
            </a:extLst>
          </p:cNvPr>
          <p:cNvSpPr txBox="1">
            <a:spLocks/>
          </p:cNvSpPr>
          <p:nvPr/>
        </p:nvSpPr>
        <p:spPr>
          <a:xfrm>
            <a:off x="497841" y="1416299"/>
            <a:ext cx="8148318" cy="500393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tổng quan và so sánh mô hình</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Cơ chế Bagging (Giảm Variance)</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Biểu đồ minh họa cây quyết định đơn lẻ</a:t>
            </a:r>
          </a:p>
          <a:p>
            <a:pPr marL="584200" lvl="1" indent="-571500">
              <a:spcBef>
                <a:spcPts val="100"/>
              </a:spcBef>
              <a:buFont typeface="Wingdings" panose="05000000000000000000" pitchFamily="2" charset="2"/>
              <a:buChar char="q"/>
            </a:pPr>
            <a:endParaRPr lang="en-US" sz="16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7200" b="1" spc="-1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644E657D-32CC-397C-190F-ED7B03AAB7FC}"/>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519BEB5E-C577-AF53-E1D0-ADDFEE87036A}"/>
              </a:ext>
            </a:extLst>
          </p:cNvPr>
          <p:cNvPicPr>
            <a:picLocks noChangeAspect="1"/>
          </p:cNvPicPr>
          <p:nvPr/>
        </p:nvPicPr>
        <p:blipFill>
          <a:blip r:embed="rId3"/>
          <a:stretch>
            <a:fillRect/>
          </a:stretch>
        </p:blipFill>
        <p:spPr>
          <a:xfrm>
            <a:off x="1383832" y="2247901"/>
            <a:ext cx="5943600" cy="2438399"/>
          </a:xfrm>
          <a:prstGeom prst="rect">
            <a:avLst/>
          </a:prstGeom>
        </p:spPr>
      </p:pic>
    </p:spTree>
    <p:extLst>
      <p:ext uri="{BB962C8B-B14F-4D97-AF65-F5344CB8AC3E}">
        <p14:creationId xmlns:p14="http://schemas.microsoft.com/office/powerpoint/2010/main" val="10583423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C997D-7EF1-5DDF-61FE-2EDBE09448F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70B60C-8846-1D04-DD35-8851839301FA}"/>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E7141722-DB7D-F4D6-7E13-EF7DDC6AD65F}"/>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3.3.1 Report_Analysis(RandomForest - Decisiontree Wine Quality Red)</a:t>
            </a:r>
            <a:endParaRPr sz="3600" spc="-10" dirty="0"/>
          </a:p>
        </p:txBody>
      </p:sp>
      <p:sp>
        <p:nvSpPr>
          <p:cNvPr id="10" name="object 10">
            <a:extLst>
              <a:ext uri="{FF2B5EF4-FFF2-40B4-BE49-F238E27FC236}">
                <a16:creationId xmlns:a16="http://schemas.microsoft.com/office/drawing/2014/main" id="{694B2298-2FF5-E5E3-6EC1-D43A104301C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88</a:t>
            </a:fld>
            <a:endParaRPr spc="-25" dirty="0"/>
          </a:p>
        </p:txBody>
      </p:sp>
      <p:sp>
        <p:nvSpPr>
          <p:cNvPr id="6" name="object 3">
            <a:extLst>
              <a:ext uri="{FF2B5EF4-FFF2-40B4-BE49-F238E27FC236}">
                <a16:creationId xmlns:a16="http://schemas.microsoft.com/office/drawing/2014/main" id="{BDFB8F1D-3285-C7A0-3757-7026E34CBF61}"/>
              </a:ext>
            </a:extLst>
          </p:cNvPr>
          <p:cNvSpPr txBox="1">
            <a:spLocks/>
          </p:cNvSpPr>
          <p:nvPr/>
        </p:nvSpPr>
        <p:spPr>
          <a:xfrm>
            <a:off x="497841" y="1416299"/>
            <a:ext cx="8148318" cy="3980577"/>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r>
              <a:rPr lang="en-US" sz="1600" b="1">
                <a:solidFill>
                  <a:schemeClr val="tx1"/>
                </a:solidFill>
                <a:latin typeface="Times New Roman" panose="02020603050405020304" pitchFamily="18" charset="0"/>
                <a:cs typeface="Times New Roman" panose="02020603050405020304" pitchFamily="18" charset="0"/>
              </a:rPr>
              <a:t>	</a:t>
            </a:r>
            <a:r>
              <a:rPr lang="en-US" sz="7200" b="1" spc="-1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FA94A245-080A-E951-17EF-96C9944E88ED}"/>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93E5B03F-673B-2AF8-B7D9-3B2E71B76796}"/>
              </a:ext>
            </a:extLst>
          </p:cNvPr>
          <p:cNvPicPr>
            <a:picLocks noChangeAspect="1"/>
          </p:cNvPicPr>
          <p:nvPr/>
        </p:nvPicPr>
        <p:blipFill>
          <a:blip r:embed="rId3"/>
          <a:stretch>
            <a:fillRect/>
          </a:stretch>
        </p:blipFill>
        <p:spPr>
          <a:xfrm>
            <a:off x="1066800" y="1966573"/>
            <a:ext cx="7086600" cy="3023926"/>
          </a:xfrm>
          <a:prstGeom prst="rect">
            <a:avLst/>
          </a:prstGeom>
        </p:spPr>
      </p:pic>
    </p:spTree>
    <p:extLst>
      <p:ext uri="{BB962C8B-B14F-4D97-AF65-F5344CB8AC3E}">
        <p14:creationId xmlns:p14="http://schemas.microsoft.com/office/powerpoint/2010/main" val="26900715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EE42B-6F89-958A-0C82-8DF717C124F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A6005FF-6876-083A-AAF3-FC28F03F9E6F}"/>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AE6C4D28-8FC9-1782-0C68-C42040904EDE}"/>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3.3.1 Report_Analysis(RandomForest - Decisiontree Wine Quality Red)</a:t>
            </a:r>
            <a:endParaRPr sz="3600" spc="-10" dirty="0"/>
          </a:p>
        </p:txBody>
      </p:sp>
      <p:sp>
        <p:nvSpPr>
          <p:cNvPr id="10" name="object 10">
            <a:extLst>
              <a:ext uri="{FF2B5EF4-FFF2-40B4-BE49-F238E27FC236}">
                <a16:creationId xmlns:a16="http://schemas.microsoft.com/office/drawing/2014/main" id="{2E0E33B8-51CE-A4FC-973F-03D9A25ECC95}"/>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89</a:t>
            </a:fld>
            <a:endParaRPr spc="-25" dirty="0"/>
          </a:p>
        </p:txBody>
      </p:sp>
      <p:sp>
        <p:nvSpPr>
          <p:cNvPr id="6" name="object 3">
            <a:extLst>
              <a:ext uri="{FF2B5EF4-FFF2-40B4-BE49-F238E27FC236}">
                <a16:creationId xmlns:a16="http://schemas.microsoft.com/office/drawing/2014/main" id="{91820F02-CEA4-53F2-E93B-947FDDB321B8}"/>
              </a:ext>
            </a:extLst>
          </p:cNvPr>
          <p:cNvSpPr txBox="1">
            <a:spLocks/>
          </p:cNvSpPr>
          <p:nvPr/>
        </p:nvSpPr>
        <p:spPr>
          <a:xfrm>
            <a:off x="497841" y="1416299"/>
            <a:ext cx="8148318" cy="4916731"/>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000">
                <a:solidFill>
                  <a:schemeClr val="tx1"/>
                </a:solidFill>
                <a:latin typeface="Times New Roman" panose="02020603050405020304" pitchFamily="18" charset="0"/>
                <a:cs typeface="Times New Roman" panose="02020603050405020304" pitchFamily="18" charset="0"/>
              </a:rPr>
              <a:t>Mô hình RF nhấn mạnh rằng các yếu tố hóa học như </a:t>
            </a:r>
            <a:r>
              <a:rPr lang="en-US" sz="2000" b="1">
                <a:solidFill>
                  <a:schemeClr val="tx1"/>
                </a:solidFill>
                <a:latin typeface="Times New Roman" panose="02020603050405020304" pitchFamily="18" charset="0"/>
                <a:cs typeface="Times New Roman" panose="02020603050405020304" pitchFamily="18" charset="0"/>
              </a:rPr>
              <a:t>Acidity (Độ axit bay hơi) và Sulphates </a:t>
            </a:r>
            <a:r>
              <a:rPr lang="en-US" sz="2000">
                <a:solidFill>
                  <a:schemeClr val="tx1"/>
                </a:solidFill>
                <a:latin typeface="Times New Roman" panose="02020603050405020304" pitchFamily="18" charset="0"/>
                <a:cs typeface="Times New Roman" panose="02020603050405020304" pitchFamily="18" charset="0"/>
              </a:rPr>
              <a:t>là những chỉ số mạnh nhất để xác định rượu xấu, trong khi Alcohol là yếu tố quan trọng nhất để xác định rượu tốt.</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r>
              <a:rPr lang="en-US" sz="1600" b="1">
                <a:solidFill>
                  <a:schemeClr val="tx1"/>
                </a:solidFill>
                <a:latin typeface="Times New Roman" panose="02020603050405020304" pitchFamily="18" charset="0"/>
                <a:cs typeface="Times New Roman" panose="02020603050405020304" pitchFamily="18" charset="0"/>
              </a:rPr>
              <a:t>	</a:t>
            </a:r>
            <a:r>
              <a:rPr lang="en-US" sz="7200" b="1" spc="-1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FDABDEEB-937C-EE70-7C02-F3E26C7AF73E}"/>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7" name="Table 6">
            <a:extLst>
              <a:ext uri="{FF2B5EF4-FFF2-40B4-BE49-F238E27FC236}">
                <a16:creationId xmlns:a16="http://schemas.microsoft.com/office/drawing/2014/main" id="{8E4AAE4B-51FE-E0A3-2DC9-A4D9BBFF63B1}"/>
              </a:ext>
            </a:extLst>
          </p:cNvPr>
          <p:cNvGraphicFramePr>
            <a:graphicFrameLocks noGrp="1"/>
          </p:cNvGraphicFramePr>
          <p:nvPr>
            <p:extLst>
              <p:ext uri="{D42A27DB-BD31-4B8C-83A1-F6EECF244321}">
                <p14:modId xmlns:p14="http://schemas.microsoft.com/office/powerpoint/2010/main" val="824362231"/>
              </p:ext>
            </p:extLst>
          </p:nvPr>
        </p:nvGraphicFramePr>
        <p:xfrm>
          <a:off x="551182" y="1826165"/>
          <a:ext cx="8148320" cy="1985469"/>
        </p:xfrm>
        <a:graphic>
          <a:graphicData uri="http://schemas.openxmlformats.org/drawingml/2006/table">
            <a:tbl>
              <a:tblPr firstRow="1" firstCol="1" bandRow="1">
                <a:tableStyleId>{5C22544A-7EE6-4342-B048-85BDC9FD1C3A}</a:tableStyleId>
              </a:tblPr>
              <a:tblGrid>
                <a:gridCol w="668018">
                  <a:extLst>
                    <a:ext uri="{9D8B030D-6E8A-4147-A177-3AD203B41FA5}">
                      <a16:colId xmlns:a16="http://schemas.microsoft.com/office/drawing/2014/main" val="345703899"/>
                    </a:ext>
                  </a:extLst>
                </a:gridCol>
                <a:gridCol w="1447800">
                  <a:extLst>
                    <a:ext uri="{9D8B030D-6E8A-4147-A177-3AD203B41FA5}">
                      <a16:colId xmlns:a16="http://schemas.microsoft.com/office/drawing/2014/main" val="2684703509"/>
                    </a:ext>
                  </a:extLst>
                </a:gridCol>
                <a:gridCol w="1295400">
                  <a:extLst>
                    <a:ext uri="{9D8B030D-6E8A-4147-A177-3AD203B41FA5}">
                      <a16:colId xmlns:a16="http://schemas.microsoft.com/office/drawing/2014/main" val="695391072"/>
                    </a:ext>
                  </a:extLst>
                </a:gridCol>
                <a:gridCol w="1143000">
                  <a:extLst>
                    <a:ext uri="{9D8B030D-6E8A-4147-A177-3AD203B41FA5}">
                      <a16:colId xmlns:a16="http://schemas.microsoft.com/office/drawing/2014/main" val="3628232668"/>
                    </a:ext>
                  </a:extLst>
                </a:gridCol>
                <a:gridCol w="3594102">
                  <a:extLst>
                    <a:ext uri="{9D8B030D-6E8A-4147-A177-3AD203B41FA5}">
                      <a16:colId xmlns:a16="http://schemas.microsoft.com/office/drawing/2014/main" val="3327501282"/>
                    </a:ext>
                  </a:extLst>
                </a:gridCol>
              </a:tblGrid>
              <a:tr h="188058">
                <a:tc>
                  <a:txBody>
                    <a:bodyPr/>
                    <a:lstStyle/>
                    <a:p>
                      <a:pPr marL="0" marR="0" algn="just">
                        <a:lnSpc>
                          <a:spcPct val="107000"/>
                        </a:lnSpc>
                        <a:spcAft>
                          <a:spcPts val="2400"/>
                        </a:spcAft>
                        <a:buNone/>
                      </a:pPr>
                      <a:r>
                        <a:rPr lang="en-US" sz="1200" kern="100">
                          <a:effectLst/>
                        </a:rPr>
                        <a:t>Hạng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Đặc trưng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Importance 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Tỷ lệ (Gần đúng)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Ý nghĩa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03980027"/>
                  </a:ext>
                </a:extLst>
              </a:tr>
              <a:tr h="502337">
                <a:tc>
                  <a:txBody>
                    <a:bodyPr/>
                    <a:lstStyle/>
                    <a:p>
                      <a:pPr marL="0" marR="0" algn="just">
                        <a:lnSpc>
                          <a:spcPct val="107000"/>
                        </a:lnSpc>
                        <a:spcAft>
                          <a:spcPts val="2400"/>
                        </a:spcAft>
                        <a:buNone/>
                      </a:pPr>
                      <a:r>
                        <a:rPr lang="en-US" sz="1200" kern="100">
                          <a:effectLst/>
                        </a:rPr>
                        <a:t>1</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alcohol</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0.1408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~14.1\%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Quan trọng nhất. Độ cồn là yếu tố vật lý ảnh hưởng lớn nhất đến chất lượng cuối cùng.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8502336"/>
                  </a:ext>
                </a:extLst>
              </a:tr>
              <a:tr h="626421">
                <a:tc>
                  <a:txBody>
                    <a:bodyPr/>
                    <a:lstStyle/>
                    <a:p>
                      <a:pPr marL="0" marR="0" algn="just">
                        <a:lnSpc>
                          <a:spcPct val="107000"/>
                        </a:lnSpc>
                        <a:spcAft>
                          <a:spcPts val="2400"/>
                        </a:spcAft>
                        <a:buNone/>
                      </a:pPr>
                      <a:r>
                        <a:rPr lang="en-US" sz="1200" kern="100">
                          <a:effectLst/>
                        </a:rPr>
                        <a:t>2</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volatile acidity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0.1318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~13.2\%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Quan trọng thứ hai. Đây là chỉ báo cho rượu bị hỏng/có mùi chua, đóng vai trò quyết định trong việc giảm chất lượng.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9830410"/>
                  </a:ext>
                </a:extLst>
              </a:tr>
              <a:tr h="378253">
                <a:tc>
                  <a:txBody>
                    <a:bodyPr/>
                    <a:lstStyle/>
                    <a:p>
                      <a:pPr marL="0" marR="0" algn="just">
                        <a:lnSpc>
                          <a:spcPct val="107000"/>
                        </a:lnSpc>
                        <a:spcAft>
                          <a:spcPts val="2400"/>
                        </a:spcAft>
                        <a:buNone/>
                      </a:pPr>
                      <a:r>
                        <a:rPr lang="en-US" sz="1200" kern="100">
                          <a:effectLst/>
                        </a:rPr>
                        <a:t>3</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sulphates</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0.1240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~12.4\%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Liên quan đến chất bảo quản, ảnh hưởng lớn đến hương vị và độ ổn định.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01241185"/>
                  </a:ext>
                </a:extLst>
              </a:tr>
              <a:tr h="250666">
                <a:tc>
                  <a:txBody>
                    <a:bodyPr/>
                    <a:lstStyle/>
                    <a:p>
                      <a:pPr marL="0" marR="0" algn="just">
                        <a:lnSpc>
                          <a:spcPct val="107000"/>
                        </a:lnSpc>
                        <a:spcAft>
                          <a:spcPts val="2400"/>
                        </a:spcAft>
                        <a:buNone/>
                      </a:pPr>
                      <a:r>
                        <a:rPr lang="en-US" sz="1200" kern="100">
                          <a:effectLst/>
                        </a:rPr>
                        <a:t>4</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total sulfur dioxide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0.0944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~9.4\%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Chất bảo quản tổng thể.</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04674613"/>
                  </a:ext>
                </a:extLst>
              </a:tr>
            </a:tbl>
          </a:graphicData>
        </a:graphic>
      </p:graphicFrame>
    </p:spTree>
    <p:extLst>
      <p:ext uri="{BB962C8B-B14F-4D97-AF65-F5344CB8AC3E}">
        <p14:creationId xmlns:p14="http://schemas.microsoft.com/office/powerpoint/2010/main" val="14904180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9E1BF-2F4D-38DD-B960-F6B39101A34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EAAF5DF-C56B-6C68-5F37-52DAA748EB4A}"/>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369A095A-F3A3-0FAB-89C3-A889C597798D}"/>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3.3.1 Report_Analysis(RandomForest - Decisiontree Wine Quality Red)</a:t>
            </a:r>
            <a:endParaRPr sz="3600" spc="-10" dirty="0"/>
          </a:p>
        </p:txBody>
      </p:sp>
      <p:sp>
        <p:nvSpPr>
          <p:cNvPr id="10" name="object 10">
            <a:extLst>
              <a:ext uri="{FF2B5EF4-FFF2-40B4-BE49-F238E27FC236}">
                <a16:creationId xmlns:a16="http://schemas.microsoft.com/office/drawing/2014/main" id="{D4A9A36A-3CDE-C844-C905-FF35DBE1A3F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90</a:t>
            </a:fld>
            <a:endParaRPr spc="-25" dirty="0"/>
          </a:p>
        </p:txBody>
      </p:sp>
      <p:sp>
        <p:nvSpPr>
          <p:cNvPr id="6" name="object 3">
            <a:extLst>
              <a:ext uri="{FF2B5EF4-FFF2-40B4-BE49-F238E27FC236}">
                <a16:creationId xmlns:a16="http://schemas.microsoft.com/office/drawing/2014/main" id="{5AB13AF3-27F0-EC4B-005E-D30A8BFB9A2E}"/>
              </a:ext>
            </a:extLst>
          </p:cNvPr>
          <p:cNvSpPr txBox="1">
            <a:spLocks/>
          </p:cNvSpPr>
          <p:nvPr/>
        </p:nvSpPr>
        <p:spPr>
          <a:xfrm>
            <a:off x="497841" y="1416299"/>
            <a:ext cx="8148318" cy="420884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355600" indent="-342900">
              <a:spcBef>
                <a:spcPts val="100"/>
              </a:spcBef>
              <a:buFont typeface="Wingdings" panose="05000000000000000000" pitchFamily="2" charset="2"/>
              <a:buChar char="§"/>
            </a:pPr>
            <a:r>
              <a:rPr lang="en-US" sz="1400">
                <a:solidFill>
                  <a:schemeClr val="tx1"/>
                </a:solidFill>
                <a:latin typeface="Times New Roman" panose="02020603050405020304" pitchFamily="18" charset="0"/>
                <a:cs typeface="Times New Roman" panose="02020603050405020304" pitchFamily="18" charset="0"/>
              </a:rPr>
              <a:t>Ma trận Nhầm lẫn và Classification Report cho thấy cách mô hình dự đoán các mức chất lượng khác nhau.</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r>
              <a:rPr lang="en-US" sz="1600" b="1">
                <a:solidFill>
                  <a:schemeClr val="tx1"/>
                </a:solidFill>
                <a:latin typeface="Times New Roman" panose="02020603050405020304" pitchFamily="18" charset="0"/>
                <a:cs typeface="Times New Roman" panose="02020603050405020304" pitchFamily="18" charset="0"/>
              </a:rPr>
              <a:t>	</a:t>
            </a:r>
            <a:r>
              <a:rPr lang="en-US" sz="7200" b="1" spc="-1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E4D2867E-7BA8-C321-EB02-961A30214C43}"/>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05ADB3E9-0440-5318-4FFF-B941E54BA214}"/>
              </a:ext>
            </a:extLst>
          </p:cNvPr>
          <p:cNvPicPr>
            <a:picLocks noChangeAspect="1"/>
          </p:cNvPicPr>
          <p:nvPr/>
        </p:nvPicPr>
        <p:blipFill>
          <a:blip r:embed="rId3"/>
          <a:stretch>
            <a:fillRect/>
          </a:stretch>
        </p:blipFill>
        <p:spPr>
          <a:xfrm>
            <a:off x="500888" y="2169160"/>
            <a:ext cx="8643111" cy="2974340"/>
          </a:xfrm>
          <a:prstGeom prst="rect">
            <a:avLst/>
          </a:prstGeom>
        </p:spPr>
      </p:pic>
    </p:spTree>
    <p:extLst>
      <p:ext uri="{BB962C8B-B14F-4D97-AF65-F5344CB8AC3E}">
        <p14:creationId xmlns:p14="http://schemas.microsoft.com/office/powerpoint/2010/main" val="33785857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0FF6D-AD4A-B45F-9133-19C5399FBB2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BB44634-FA77-3EB7-0D3F-5CDDF084D256}"/>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F1785B94-D97C-111D-33FD-5AB9AB5C0402}"/>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3.3.1 Report_Analysis(RandomForest - Decisiontree Wine Quality Red)</a:t>
            </a:r>
            <a:endParaRPr sz="3600" spc="-10" dirty="0"/>
          </a:p>
        </p:txBody>
      </p:sp>
      <p:sp>
        <p:nvSpPr>
          <p:cNvPr id="10" name="object 10">
            <a:extLst>
              <a:ext uri="{FF2B5EF4-FFF2-40B4-BE49-F238E27FC236}">
                <a16:creationId xmlns:a16="http://schemas.microsoft.com/office/drawing/2014/main" id="{E154F121-6674-3410-9946-C124D6B4FDF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91</a:t>
            </a:fld>
            <a:endParaRPr spc="-25" dirty="0"/>
          </a:p>
        </p:txBody>
      </p:sp>
      <p:sp>
        <p:nvSpPr>
          <p:cNvPr id="6" name="object 3">
            <a:extLst>
              <a:ext uri="{FF2B5EF4-FFF2-40B4-BE49-F238E27FC236}">
                <a16:creationId xmlns:a16="http://schemas.microsoft.com/office/drawing/2014/main" id="{08093AB0-7CE4-2C6F-0AB5-024174757CD1}"/>
              </a:ext>
            </a:extLst>
          </p:cNvPr>
          <p:cNvSpPr txBox="1">
            <a:spLocks/>
          </p:cNvSpPr>
          <p:nvPr/>
        </p:nvSpPr>
        <p:spPr>
          <a:xfrm>
            <a:off x="497841" y="1416299"/>
            <a:ext cx="8148318" cy="420884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355600" indent="-342900">
              <a:spcBef>
                <a:spcPts val="100"/>
              </a:spcBef>
              <a:buFont typeface="Wingdings" panose="05000000000000000000" pitchFamily="2" charset="2"/>
              <a:buChar char="§"/>
            </a:pPr>
            <a:r>
              <a:rPr lang="en-US" sz="1400">
                <a:solidFill>
                  <a:schemeClr val="tx1"/>
                </a:solidFill>
                <a:latin typeface="Times New Roman" panose="02020603050405020304" pitchFamily="18" charset="0"/>
                <a:cs typeface="Times New Roman" panose="02020603050405020304" pitchFamily="18" charset="0"/>
              </a:rPr>
              <a:t>Ma trận Nhầm lẫn và Classification Report cho thấy cách mô hình dự đoán các mức chất lượng khác nhau.</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r>
              <a:rPr lang="en-US" sz="1600" b="1">
                <a:solidFill>
                  <a:schemeClr val="tx1"/>
                </a:solidFill>
                <a:latin typeface="Times New Roman" panose="02020603050405020304" pitchFamily="18" charset="0"/>
                <a:cs typeface="Times New Roman" panose="02020603050405020304" pitchFamily="18" charset="0"/>
              </a:rPr>
              <a:t>	</a:t>
            </a:r>
            <a:r>
              <a:rPr lang="en-US" sz="7200" b="1" spc="-1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8F820557-2B70-C8A9-D148-0AB509C595A7}"/>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7" name="Table 6">
            <a:extLst>
              <a:ext uri="{FF2B5EF4-FFF2-40B4-BE49-F238E27FC236}">
                <a16:creationId xmlns:a16="http://schemas.microsoft.com/office/drawing/2014/main" id="{54C89FCB-BD3B-297D-7EB5-AC45B8047D68}"/>
              </a:ext>
            </a:extLst>
          </p:cNvPr>
          <p:cNvGraphicFramePr>
            <a:graphicFrameLocks noGrp="1"/>
          </p:cNvGraphicFramePr>
          <p:nvPr>
            <p:extLst>
              <p:ext uri="{D42A27DB-BD31-4B8C-83A1-F6EECF244321}">
                <p14:modId xmlns:p14="http://schemas.microsoft.com/office/powerpoint/2010/main" val="3032948560"/>
              </p:ext>
            </p:extLst>
          </p:nvPr>
        </p:nvGraphicFramePr>
        <p:xfrm>
          <a:off x="519177" y="2019301"/>
          <a:ext cx="8126982" cy="2914673"/>
        </p:xfrm>
        <a:graphic>
          <a:graphicData uri="http://schemas.openxmlformats.org/drawingml/2006/table">
            <a:tbl>
              <a:tblPr firstRow="1" firstCol="1" bandRow="1">
                <a:tableStyleId>{5C22544A-7EE6-4342-B048-85BDC9FD1C3A}</a:tableStyleId>
              </a:tblPr>
              <a:tblGrid>
                <a:gridCol w="1353997">
                  <a:extLst>
                    <a:ext uri="{9D8B030D-6E8A-4147-A177-3AD203B41FA5}">
                      <a16:colId xmlns:a16="http://schemas.microsoft.com/office/drawing/2014/main" val="1678977885"/>
                    </a:ext>
                  </a:extLst>
                </a:gridCol>
                <a:gridCol w="565226">
                  <a:extLst>
                    <a:ext uri="{9D8B030D-6E8A-4147-A177-3AD203B41FA5}">
                      <a16:colId xmlns:a16="http://schemas.microsoft.com/office/drawing/2014/main" val="4210712074"/>
                    </a:ext>
                  </a:extLst>
                </a:gridCol>
                <a:gridCol w="1447800">
                  <a:extLst>
                    <a:ext uri="{9D8B030D-6E8A-4147-A177-3AD203B41FA5}">
                      <a16:colId xmlns:a16="http://schemas.microsoft.com/office/drawing/2014/main" val="3175611788"/>
                    </a:ext>
                  </a:extLst>
                </a:gridCol>
                <a:gridCol w="1066800">
                  <a:extLst>
                    <a:ext uri="{9D8B030D-6E8A-4147-A177-3AD203B41FA5}">
                      <a16:colId xmlns:a16="http://schemas.microsoft.com/office/drawing/2014/main" val="244407484"/>
                    </a:ext>
                  </a:extLst>
                </a:gridCol>
                <a:gridCol w="3693159">
                  <a:extLst>
                    <a:ext uri="{9D8B030D-6E8A-4147-A177-3AD203B41FA5}">
                      <a16:colId xmlns:a16="http://schemas.microsoft.com/office/drawing/2014/main" val="3312288925"/>
                    </a:ext>
                  </a:extLst>
                </a:gridCol>
              </a:tblGrid>
              <a:tr h="175876">
                <a:tc>
                  <a:txBody>
                    <a:bodyPr/>
                    <a:lstStyle/>
                    <a:p>
                      <a:pPr marL="0" marR="0" algn="just">
                        <a:lnSpc>
                          <a:spcPct val="107000"/>
                        </a:lnSpc>
                        <a:spcAft>
                          <a:spcPts val="2400"/>
                        </a:spcAft>
                        <a:buNone/>
                      </a:pPr>
                      <a:r>
                        <a:rPr lang="en-US" sz="1000" kern="100">
                          <a:effectLst/>
                        </a:rPr>
                        <a:t>Lớp (Quality)</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Support</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Precision (Độ chính xác)</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Recall (Độ nhạy)</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Phân tích từ Ma trận</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extLst>
                  <a:ext uri="{0D108BD9-81ED-4DB2-BD59-A6C34878D82A}">
                    <a16:rowId xmlns:a16="http://schemas.microsoft.com/office/drawing/2014/main" val="499790056"/>
                  </a:ext>
                </a:extLst>
              </a:tr>
              <a:tr h="595852">
                <a:tc>
                  <a:txBody>
                    <a:bodyPr/>
                    <a:lstStyle/>
                    <a:p>
                      <a:pPr marL="0" marR="0" algn="just">
                        <a:lnSpc>
                          <a:spcPct val="107000"/>
                        </a:lnSpc>
                        <a:spcAft>
                          <a:spcPts val="2400"/>
                        </a:spcAft>
                        <a:buNone/>
                      </a:pPr>
                      <a:r>
                        <a:rPr lang="en-US" sz="1000" kern="100">
                          <a:effectLst/>
                        </a:rPr>
                        <a:t>5 (Thấp/Trung bình)</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136</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 0.74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 0.77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105 mẫu dự đoán đúng, chỉ  1  mẫu bị nhầm thành  4  (nhầm lẫn nhỏ). Đây là lớp được nhận dạng tốt nhất (Recall cao).</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extLst>
                  <a:ext uri="{0D108BD9-81ED-4DB2-BD59-A6C34878D82A}">
                    <a16:rowId xmlns:a16="http://schemas.microsoft.com/office/drawing/2014/main" val="2749026557"/>
                  </a:ext>
                </a:extLst>
              </a:tr>
              <a:tr h="595852">
                <a:tc>
                  <a:txBody>
                    <a:bodyPr/>
                    <a:lstStyle/>
                    <a:p>
                      <a:pPr marL="0" marR="0" algn="just">
                        <a:lnSpc>
                          <a:spcPct val="107000"/>
                        </a:lnSpc>
                        <a:spcAft>
                          <a:spcPts val="2400"/>
                        </a:spcAft>
                        <a:buNone/>
                      </a:pPr>
                      <a:r>
                        <a:rPr lang="en-US" sz="1000" kern="100">
                          <a:effectLst/>
                        </a:rPr>
                        <a:t>6 (Trung bình/Cao)</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128</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 0.64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 0.76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97 mẫu dự đoán đúng, nhưng  26  mẫu bị nhầm thành  5 . Mô hình có xu hướng hạ thấp chất lượng của rượu 6 xuống 5.</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extLst>
                  <a:ext uri="{0D108BD9-81ED-4DB2-BD59-A6C34878D82A}">
                    <a16:rowId xmlns:a16="http://schemas.microsoft.com/office/drawing/2014/main" val="2347777469"/>
                  </a:ext>
                </a:extLst>
              </a:tr>
              <a:tr h="832778">
                <a:tc>
                  <a:txBody>
                    <a:bodyPr/>
                    <a:lstStyle/>
                    <a:p>
                      <a:pPr marL="0" marR="0" algn="just">
                        <a:lnSpc>
                          <a:spcPct val="107000"/>
                        </a:lnSpc>
                        <a:spcAft>
                          <a:spcPts val="2400"/>
                        </a:spcAft>
                        <a:buNone/>
                      </a:pPr>
                      <a:r>
                        <a:rPr lang="en-US" sz="1000" kern="100">
                          <a:effectLst/>
                        </a:rPr>
                        <a:t>7 (Cao)</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40</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 0.76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 0.47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Precision cao ( 76\% ), nhưng chỉ có 19 mẫu được dự đoán đúng.  19  mẫu bị bỏ sót (False Negative), thường bị nhầm thành lớp  6  (29 mẫu).</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extLst>
                  <a:ext uri="{0D108BD9-81ED-4DB2-BD59-A6C34878D82A}">
                    <a16:rowId xmlns:a16="http://schemas.microsoft.com/office/drawing/2014/main" val="2390791577"/>
                  </a:ext>
                </a:extLst>
              </a:tr>
              <a:tr h="714315">
                <a:tc>
                  <a:txBody>
                    <a:bodyPr/>
                    <a:lstStyle/>
                    <a:p>
                      <a:pPr marL="0" marR="0" algn="just">
                        <a:lnSpc>
                          <a:spcPct val="107000"/>
                        </a:lnSpc>
                        <a:spcAft>
                          <a:spcPts val="2400"/>
                        </a:spcAft>
                        <a:buNone/>
                      </a:pPr>
                      <a:r>
                        <a:rPr lang="en-US" sz="1000" kern="100">
                          <a:effectLst/>
                        </a:rPr>
                        <a:t>3, 4, 8</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2, 11, 3</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 \le 0.50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 \le 0.33 </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tc>
                  <a:txBody>
                    <a:bodyPr/>
                    <a:lstStyle/>
                    <a:p>
                      <a:pPr marL="0" marR="0" algn="just">
                        <a:lnSpc>
                          <a:spcPct val="107000"/>
                        </a:lnSpc>
                        <a:spcAft>
                          <a:spcPts val="2400"/>
                        </a:spcAft>
                        <a:buNone/>
                      </a:pPr>
                      <a:r>
                        <a:rPr lang="en-US" sz="1000" kern="100">
                          <a:effectLst/>
                        </a:rPr>
                        <a:t>Thất bại hoàn toàn. Do các lớp này quá hiếm (Support rất thấp), mô hình không có khả năng dự đoán đúng và bỏ sót tất cả các mẫu 3 và 4.</a:t>
                      </a:r>
                      <a:endParaRPr lang="en-US" sz="11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8014" marR="8014" marT="8014" marB="8014" anchor="ctr"/>
                </a:tc>
                <a:extLst>
                  <a:ext uri="{0D108BD9-81ED-4DB2-BD59-A6C34878D82A}">
                    <a16:rowId xmlns:a16="http://schemas.microsoft.com/office/drawing/2014/main" val="653854296"/>
                  </a:ext>
                </a:extLst>
              </a:tr>
            </a:tbl>
          </a:graphicData>
        </a:graphic>
      </p:graphicFrame>
    </p:spTree>
    <p:extLst>
      <p:ext uri="{BB962C8B-B14F-4D97-AF65-F5344CB8AC3E}">
        <p14:creationId xmlns:p14="http://schemas.microsoft.com/office/powerpoint/2010/main" val="29810229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509A2-664C-8F35-B638-FB74E811CB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41B2E15-BA4A-6E03-3443-7D886A0829CC}"/>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A10F64E2-F136-4E11-00E1-A562D525F9FE}"/>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3.3.1 Report_Analysis(RandomForest - Decisiontree Wine Quality Red)</a:t>
            </a:r>
            <a:endParaRPr sz="3600" spc="-10" dirty="0"/>
          </a:p>
        </p:txBody>
      </p:sp>
      <p:sp>
        <p:nvSpPr>
          <p:cNvPr id="10" name="object 10">
            <a:extLst>
              <a:ext uri="{FF2B5EF4-FFF2-40B4-BE49-F238E27FC236}">
                <a16:creationId xmlns:a16="http://schemas.microsoft.com/office/drawing/2014/main" id="{6583F053-9B57-9925-1580-BD6A3BF91F0E}"/>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92</a:t>
            </a:fld>
            <a:endParaRPr spc="-25" dirty="0"/>
          </a:p>
        </p:txBody>
      </p:sp>
      <p:sp>
        <p:nvSpPr>
          <p:cNvPr id="6" name="object 3">
            <a:extLst>
              <a:ext uri="{FF2B5EF4-FFF2-40B4-BE49-F238E27FC236}">
                <a16:creationId xmlns:a16="http://schemas.microsoft.com/office/drawing/2014/main" id="{31966586-F659-2E32-A0D2-D67C1B559DC2}"/>
              </a:ext>
            </a:extLst>
          </p:cNvPr>
          <p:cNvSpPr txBox="1">
            <a:spLocks/>
          </p:cNvSpPr>
          <p:nvPr/>
        </p:nvSpPr>
        <p:spPr>
          <a:xfrm>
            <a:off x="497841" y="1416299"/>
            <a:ext cx="8148318" cy="6837769"/>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a:t>
            </a:r>
          </a:p>
          <a:p>
            <a:pPr marL="355600" indent="-342900">
              <a:spcBef>
                <a:spcPts val="100"/>
              </a:spcBef>
              <a:buFont typeface="Wingdings" panose="05000000000000000000" pitchFamily="2" charset="2"/>
              <a:buChar char="§"/>
            </a:pPr>
            <a:r>
              <a:rPr lang="en-US" sz="2400">
                <a:solidFill>
                  <a:schemeClr val="tx1"/>
                </a:solidFill>
                <a:latin typeface="Times New Roman" panose="02020603050405020304" pitchFamily="18" charset="0"/>
                <a:cs typeface="Times New Roman" panose="02020603050405020304" pitchFamily="18" charset="0"/>
              </a:rPr>
              <a:t>Tóm tắt từ ma trận</a:t>
            </a:r>
            <a:r>
              <a:rPr lang="en-US" sz="1400">
                <a:solidFill>
                  <a:schemeClr val="tx1"/>
                </a:solidFill>
                <a:latin typeface="Times New Roman" panose="02020603050405020304" pitchFamily="18" charset="0"/>
                <a:cs typeface="Times New Roman" panose="02020603050405020304" pitchFamily="18" charset="0"/>
              </a:rPr>
              <a:t>:</a:t>
            </a:r>
          </a:p>
          <a:p>
            <a:pPr lvl="0"/>
            <a:r>
              <a:rPr lang="en-US" sz="1400">
                <a:solidFill>
                  <a:schemeClr val="tx1"/>
                </a:solidFill>
                <a:latin typeface="Times New Roman" panose="02020603050405020304" pitchFamily="18" charset="0"/>
                <a:cs typeface="Times New Roman" panose="02020603050405020304" pitchFamily="18" charset="0"/>
              </a:rPr>
              <a:t>	</a:t>
            </a:r>
            <a:r>
              <a:rPr lang="en-US" sz="2000">
                <a:solidFill>
                  <a:schemeClr val="tx1"/>
                </a:solidFill>
                <a:latin typeface="Times New Roman" panose="02020603050405020304" pitchFamily="18" charset="0"/>
                <a:cs typeface="Times New Roman" panose="02020603050405020304" pitchFamily="18" charset="0"/>
              </a:rPr>
              <a:t>Mô hình tập trung mạnh vào các lớp phổ biến </a:t>
            </a:r>
            <a:r>
              <a:rPr lang="en-US" sz="2000" b="1">
                <a:solidFill>
                  <a:schemeClr val="tx1"/>
                </a:solidFill>
                <a:latin typeface="Times New Roman" panose="02020603050405020304" pitchFamily="18" charset="0"/>
                <a:cs typeface="Times New Roman" panose="02020603050405020304" pitchFamily="18" charset="0"/>
              </a:rPr>
              <a:t>5</a:t>
            </a:r>
            <a:r>
              <a:rPr lang="en-US" sz="2000">
                <a:solidFill>
                  <a:schemeClr val="tx1"/>
                </a:solidFill>
                <a:latin typeface="Times New Roman" panose="02020603050405020304" pitchFamily="18" charset="0"/>
                <a:cs typeface="Times New Roman" panose="02020603050405020304" pitchFamily="18" charset="0"/>
              </a:rPr>
              <a:t> và </a:t>
            </a:r>
            <a:r>
              <a:rPr lang="en-US" sz="2000" b="1">
                <a:solidFill>
                  <a:schemeClr val="tx1"/>
                </a:solidFill>
                <a:latin typeface="Times New Roman" panose="02020603050405020304" pitchFamily="18" charset="0"/>
                <a:cs typeface="Times New Roman" panose="02020603050405020304" pitchFamily="18" charset="0"/>
              </a:rPr>
              <a:t>6</a:t>
            </a:r>
            <a:r>
              <a:rPr lang="en-US" sz="2000">
                <a:solidFill>
                  <a:schemeClr val="tx1"/>
                </a:solidFill>
                <a:latin typeface="Times New Roman" panose="02020603050405020304" pitchFamily="18" charset="0"/>
                <a:cs typeface="Times New Roman" panose="02020603050405020304" pitchFamily="18" charset="0"/>
              </a:rPr>
              <a:t>.</a:t>
            </a:r>
          </a:p>
          <a:p>
            <a:pPr lvl="0"/>
            <a:r>
              <a:rPr lang="en-US" sz="2000">
                <a:solidFill>
                  <a:schemeClr val="tx1"/>
                </a:solidFill>
                <a:latin typeface="Times New Roman" panose="02020603050405020304" pitchFamily="18" charset="0"/>
                <a:cs typeface="Times New Roman" panose="02020603050405020304" pitchFamily="18" charset="0"/>
              </a:rPr>
              <a:t>Vấn đề lớn nhất là </a:t>
            </a:r>
            <a:r>
              <a:rPr lang="en-US" sz="2000" b="1">
                <a:solidFill>
                  <a:schemeClr val="tx1"/>
                </a:solidFill>
                <a:latin typeface="Times New Roman" panose="02020603050405020304" pitchFamily="18" charset="0"/>
                <a:cs typeface="Times New Roman" panose="02020603050405020304" pitchFamily="18" charset="0"/>
              </a:rPr>
              <a:t>phân biệt giữa 5 và 6</a:t>
            </a:r>
            <a:r>
              <a:rPr lang="en-US" sz="2000">
                <a:solidFill>
                  <a:schemeClr val="tx1"/>
                </a:solidFill>
                <a:latin typeface="Times New Roman" panose="02020603050405020304" pitchFamily="18" charset="0"/>
                <a:cs typeface="Times New Roman" panose="02020603050405020304" pitchFamily="18" charset="0"/>
              </a:rPr>
              <a:t> (có 29 dự đoán 6 bị nhầm thành 5, và 26 dự đoán 5 bị nhầm thành 6).</a:t>
            </a:r>
          </a:p>
          <a:p>
            <a:pPr lvl="0"/>
            <a:r>
              <a:rPr lang="en-US" sz="2000" b="1">
                <a:solidFill>
                  <a:schemeClr val="tx1"/>
                </a:solidFill>
                <a:latin typeface="Times New Roman" panose="02020603050405020304" pitchFamily="18" charset="0"/>
                <a:cs typeface="Times New Roman" panose="02020603050405020304" pitchFamily="18" charset="0"/>
              </a:rPr>
              <a:t>	Weighted Average (0.68)</a:t>
            </a:r>
            <a:r>
              <a:rPr lang="en-US" sz="2000">
                <a:solidFill>
                  <a:schemeClr val="tx1"/>
                </a:solidFill>
                <a:latin typeface="Times New Roman" panose="02020603050405020304" pitchFamily="18" charset="0"/>
                <a:cs typeface="Times New Roman" panose="02020603050405020304" pitchFamily="18" charset="0"/>
              </a:rPr>
              <a:t> cao là do hiệu suất tốt trên hai lớp đa số (5 và 6).</a:t>
            </a:r>
          </a:p>
          <a:p>
            <a:pPr lvl="0"/>
            <a:r>
              <a:rPr lang="en-US" sz="2000" b="1">
                <a:solidFill>
                  <a:schemeClr val="tx1"/>
                </a:solidFill>
                <a:latin typeface="Times New Roman" panose="02020603050405020304" pitchFamily="18" charset="0"/>
                <a:cs typeface="Times New Roman" panose="02020603050405020304" pitchFamily="18" charset="0"/>
              </a:rPr>
              <a:t>	Macro Average (0.41)</a:t>
            </a:r>
            <a:r>
              <a:rPr lang="en-US" sz="2000">
                <a:solidFill>
                  <a:schemeClr val="tx1"/>
                </a:solidFill>
                <a:latin typeface="Times New Roman" panose="02020603050405020304" pitchFamily="18" charset="0"/>
                <a:cs typeface="Times New Roman" panose="02020603050405020304" pitchFamily="18" charset="0"/>
              </a:rPr>
              <a:t> thấp cho thấy mô hình không thể giải quyết được vấn đề mất cân bằng lớp ở các mức chất lượng biên.</a:t>
            </a:r>
          </a:p>
          <a:p>
            <a:pPr marL="12700">
              <a:spcBef>
                <a:spcPts val="100"/>
              </a:spcBef>
            </a:pPr>
            <a:r>
              <a:rPr lang="en-US" sz="2000">
                <a:solidFill>
                  <a:schemeClr val="tx1"/>
                </a:solidFill>
                <a:latin typeface="Times New Roman" panose="02020603050405020304" pitchFamily="18" charset="0"/>
                <a:cs typeface="Times New Roman" panose="02020603050405020304" pitchFamily="18" charset="0"/>
              </a:rPr>
              <a:t>.</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100" b="1" spc="-10">
              <a:solidFill>
                <a:schemeClr val="tx1"/>
              </a:solidFill>
              <a:latin typeface="Times New Roman" panose="02020603050405020304" pitchFamily="18" charset="0"/>
              <a:cs typeface="Times New Roman" panose="02020603050405020304" pitchFamily="18" charset="0"/>
            </a:endParaRPr>
          </a:p>
          <a:p>
            <a:r>
              <a:rPr lang="en-US" sz="1500" b="1">
                <a:solidFill>
                  <a:schemeClr val="tx1"/>
                </a:solidFill>
              </a:rPr>
              <a:t>	</a:t>
            </a:r>
            <a:endParaRPr lang="en-US" sz="2000" b="1">
              <a:solidFill>
                <a:schemeClr val="tx1"/>
              </a:solidFill>
              <a:latin typeface="Times New Roman" panose="02020603050405020304" pitchFamily="18" charset="0"/>
              <a:cs typeface="Times New Roman" panose="02020603050405020304" pitchFamily="18" charset="0"/>
            </a:endParaRP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r>
              <a:rPr lang="en-US" sz="1600" b="1">
                <a:solidFill>
                  <a:schemeClr val="tx1"/>
                </a:solidFill>
                <a:latin typeface="Times New Roman" panose="02020603050405020304" pitchFamily="18" charset="0"/>
                <a:cs typeface="Times New Roman" panose="02020603050405020304" pitchFamily="18" charset="0"/>
              </a:rPr>
              <a:t>	</a:t>
            </a:r>
            <a:r>
              <a:rPr lang="en-US" sz="7200" b="1" spc="-1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BD1E8DDA-411C-8318-6447-8F681E656F28}"/>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93098450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8AF72-E7FB-1339-6E54-4934CDFB1CB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5BAF06B-F9CA-5336-3E67-1E5CC99AAF89}"/>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95C31B54-2B6E-A2C8-8D08-C054DCB54EB6}"/>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3.3.2 Report_Analysis(RandomForest – Feature Wine Quality White)</a:t>
            </a:r>
            <a:endParaRPr sz="3600" spc="-10" dirty="0"/>
          </a:p>
        </p:txBody>
      </p:sp>
      <p:sp>
        <p:nvSpPr>
          <p:cNvPr id="10" name="object 10">
            <a:extLst>
              <a:ext uri="{FF2B5EF4-FFF2-40B4-BE49-F238E27FC236}">
                <a16:creationId xmlns:a16="http://schemas.microsoft.com/office/drawing/2014/main" id="{21F70F91-D0DC-3887-217F-A35512C7E5C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93</a:t>
            </a:fld>
            <a:endParaRPr spc="-25" dirty="0"/>
          </a:p>
        </p:txBody>
      </p:sp>
      <p:sp>
        <p:nvSpPr>
          <p:cNvPr id="6" name="object 3">
            <a:extLst>
              <a:ext uri="{FF2B5EF4-FFF2-40B4-BE49-F238E27FC236}">
                <a16:creationId xmlns:a16="http://schemas.microsoft.com/office/drawing/2014/main" id="{D1A019DA-254B-9C2F-844B-73739AF39055}"/>
              </a:ext>
            </a:extLst>
          </p:cNvPr>
          <p:cNvSpPr txBox="1">
            <a:spLocks/>
          </p:cNvSpPr>
          <p:nvPr/>
        </p:nvSpPr>
        <p:spPr>
          <a:xfrm>
            <a:off x="497841" y="1416299"/>
            <a:ext cx="8148318" cy="5963171"/>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tổng quan và so sánh mô hình</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Đánh giá hiệu suất cốt lõi (RF vs OOB Score)</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lvl="0"/>
            <a:r>
              <a:rPr lang="en-US" sz="2000" b="1">
                <a:solidFill>
                  <a:schemeClr val="tx1"/>
                </a:solidFill>
                <a:latin typeface="Times New Roman" panose="02020603050405020304" pitchFamily="18" charset="0"/>
                <a:cs typeface="Times New Roman" panose="02020603050405020304" pitchFamily="18" charset="0"/>
              </a:rPr>
              <a:t>OOB Score cao hơn Test Accuracy:</a:t>
            </a:r>
            <a:r>
              <a:rPr lang="en-US" sz="2000">
                <a:solidFill>
                  <a:schemeClr val="tx1"/>
                </a:solidFill>
                <a:latin typeface="Times New Roman" panose="02020603050405020304" pitchFamily="18" charset="0"/>
                <a:cs typeface="Times New Roman" panose="02020603050405020304" pitchFamily="18" charset="0"/>
              </a:rPr>
              <a:t> (0.6901 &gt; 0.6673). Điều này là bình thường và cho thấy mô hình </a:t>
            </a:r>
            <a:r>
              <a:rPr lang="en-US" sz="2000" b="1">
                <a:solidFill>
                  <a:schemeClr val="tx1"/>
                </a:solidFill>
                <a:latin typeface="Times New Roman" panose="02020603050405020304" pitchFamily="18" charset="0"/>
                <a:cs typeface="Times New Roman" panose="02020603050405020304" pitchFamily="18" charset="0"/>
              </a:rPr>
              <a:t>Random Forest rất ổn định</a:t>
            </a:r>
            <a:r>
              <a:rPr lang="en-US" sz="2000">
                <a:solidFill>
                  <a:schemeClr val="tx1"/>
                </a:solidFill>
                <a:latin typeface="Times New Roman" panose="02020603050405020304" pitchFamily="18" charset="0"/>
                <a:cs typeface="Times New Roman" panose="02020603050405020304" pitchFamily="18" charset="0"/>
              </a:rPr>
              <a:t> (giảm phương sai). OOB Score là một </a:t>
            </a:r>
            <a:r>
              <a:rPr lang="en-US" sz="2000" b="1">
                <a:solidFill>
                  <a:schemeClr val="tx1"/>
                </a:solidFill>
                <a:latin typeface="Times New Roman" panose="02020603050405020304" pitchFamily="18" charset="0"/>
                <a:cs typeface="Times New Roman" panose="02020603050405020304" pitchFamily="18" charset="0"/>
              </a:rPr>
              <a:t>ưu điểm</a:t>
            </a:r>
            <a:r>
              <a:rPr lang="en-US" sz="2000">
                <a:solidFill>
                  <a:schemeClr val="tx1"/>
                </a:solidFill>
                <a:latin typeface="Times New Roman" panose="02020603050405020304" pitchFamily="18" charset="0"/>
                <a:cs typeface="Times New Roman" panose="02020603050405020304" pitchFamily="18" charset="0"/>
              </a:rPr>
              <a:t> của RF, giúp ước tính hiệu suất đáng tin cậy mà không cần tập validation riêng.</a:t>
            </a: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r>
              <a:rPr lang="en-US" sz="1600" b="1">
                <a:solidFill>
                  <a:schemeClr val="tx1"/>
                </a:solidFill>
                <a:latin typeface="Times New Roman" panose="02020603050405020304" pitchFamily="18" charset="0"/>
                <a:cs typeface="Times New Roman" panose="02020603050405020304" pitchFamily="18" charset="0"/>
              </a:rPr>
              <a:t>	</a:t>
            </a:r>
            <a:r>
              <a:rPr lang="en-US" sz="7200" b="1" spc="-1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B75533CB-38D6-9FED-C404-FF35A352CD18}"/>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4" name="Table 3">
            <a:extLst>
              <a:ext uri="{FF2B5EF4-FFF2-40B4-BE49-F238E27FC236}">
                <a16:creationId xmlns:a16="http://schemas.microsoft.com/office/drawing/2014/main" id="{D64A8C69-2B0D-0842-468F-E19244E4F3EC}"/>
              </a:ext>
            </a:extLst>
          </p:cNvPr>
          <p:cNvGraphicFramePr>
            <a:graphicFrameLocks noGrp="1"/>
          </p:cNvGraphicFramePr>
          <p:nvPr>
            <p:extLst>
              <p:ext uri="{D42A27DB-BD31-4B8C-83A1-F6EECF244321}">
                <p14:modId xmlns:p14="http://schemas.microsoft.com/office/powerpoint/2010/main" val="2227545805"/>
              </p:ext>
            </p:extLst>
          </p:nvPr>
        </p:nvGraphicFramePr>
        <p:xfrm>
          <a:off x="444500" y="2324101"/>
          <a:ext cx="8255001" cy="1297656"/>
        </p:xfrm>
        <a:graphic>
          <a:graphicData uri="http://schemas.openxmlformats.org/drawingml/2006/table">
            <a:tbl>
              <a:tblPr firstRow="1" firstCol="1" bandRow="1">
                <a:tableStyleId>{5C22544A-7EE6-4342-B048-85BDC9FD1C3A}</a:tableStyleId>
              </a:tblPr>
              <a:tblGrid>
                <a:gridCol w="2751667">
                  <a:extLst>
                    <a:ext uri="{9D8B030D-6E8A-4147-A177-3AD203B41FA5}">
                      <a16:colId xmlns:a16="http://schemas.microsoft.com/office/drawing/2014/main" val="37738620"/>
                    </a:ext>
                  </a:extLst>
                </a:gridCol>
                <a:gridCol w="2751667">
                  <a:extLst>
                    <a:ext uri="{9D8B030D-6E8A-4147-A177-3AD203B41FA5}">
                      <a16:colId xmlns:a16="http://schemas.microsoft.com/office/drawing/2014/main" val="346541782"/>
                    </a:ext>
                  </a:extLst>
                </a:gridCol>
                <a:gridCol w="2751667">
                  <a:extLst>
                    <a:ext uri="{9D8B030D-6E8A-4147-A177-3AD203B41FA5}">
                      <a16:colId xmlns:a16="http://schemas.microsoft.com/office/drawing/2014/main" val="2413343907"/>
                    </a:ext>
                  </a:extLst>
                </a:gridCol>
              </a:tblGrid>
              <a:tr h="328198">
                <a:tc>
                  <a:txBody>
                    <a:bodyPr/>
                    <a:lstStyle/>
                    <a:p>
                      <a:pPr marL="0" marR="0" algn="just">
                        <a:lnSpc>
                          <a:spcPct val="107000"/>
                        </a:lnSpc>
                        <a:spcAft>
                          <a:spcPts val="2400"/>
                        </a:spcAft>
                        <a:buNone/>
                      </a:pPr>
                      <a:r>
                        <a:rPr lang="en-US" sz="1200" kern="100">
                          <a:effectLst/>
                        </a:rPr>
                        <a:t>Chỉ số</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Giá trị</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Nhận định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11331774"/>
                  </a:ext>
                </a:extLst>
              </a:tr>
              <a:tr h="328198">
                <a:tc>
                  <a:txBody>
                    <a:bodyPr/>
                    <a:lstStyle/>
                    <a:p>
                      <a:pPr marL="0" marR="0" algn="just">
                        <a:lnSpc>
                          <a:spcPct val="107000"/>
                        </a:lnSpc>
                        <a:spcAft>
                          <a:spcPts val="2400"/>
                        </a:spcAft>
                        <a:buNone/>
                      </a:pPr>
                      <a:r>
                        <a:rPr lang="en-US" sz="1200" kern="100">
                          <a:effectLst/>
                        </a:rPr>
                        <a:t>Test Accuracy (RF)</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0.6673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Độ chính xác trên tập kiểm tra.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96716855"/>
                  </a:ext>
                </a:extLst>
              </a:tr>
              <a:tr h="641260">
                <a:tc>
                  <a:txBody>
                    <a:bodyPr/>
                    <a:lstStyle/>
                    <a:p>
                      <a:pPr marL="0" marR="0" algn="just">
                        <a:lnSpc>
                          <a:spcPct val="107000"/>
                        </a:lnSpc>
                        <a:spcAft>
                          <a:spcPts val="2400"/>
                        </a:spcAft>
                        <a:buNone/>
                      </a:pPr>
                      <a:r>
                        <a:rPr lang="en-US" sz="1200" kern="100">
                          <a:effectLst/>
                        </a:rPr>
                        <a:t>OOB Accuracy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0.6901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Độ chính xác ước tính nội tại (từ các mẫu không được huấn luyện).</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61715714"/>
                  </a:ext>
                </a:extLst>
              </a:tr>
            </a:tbl>
          </a:graphicData>
        </a:graphic>
      </p:graphicFrame>
    </p:spTree>
    <p:extLst>
      <p:ext uri="{BB962C8B-B14F-4D97-AF65-F5344CB8AC3E}">
        <p14:creationId xmlns:p14="http://schemas.microsoft.com/office/powerpoint/2010/main" val="120987286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5B30A-9E12-0507-43A1-D3F7EAB8128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1725D26-AA12-F5A0-F2FA-233C1183E842}"/>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E1BEE410-D402-BF91-9AFD-B87D60257789}"/>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3.3.2 Report_Analysis(RandomForest – Feature Wine Quality White)</a:t>
            </a:r>
            <a:endParaRPr sz="3600" spc="-10" dirty="0"/>
          </a:p>
        </p:txBody>
      </p:sp>
      <p:sp>
        <p:nvSpPr>
          <p:cNvPr id="10" name="object 10">
            <a:extLst>
              <a:ext uri="{FF2B5EF4-FFF2-40B4-BE49-F238E27FC236}">
                <a16:creationId xmlns:a16="http://schemas.microsoft.com/office/drawing/2014/main" id="{860B3E9F-FC14-4EE7-43FF-A29A2545204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94</a:t>
            </a:fld>
            <a:endParaRPr spc="-25" dirty="0"/>
          </a:p>
        </p:txBody>
      </p:sp>
      <p:sp>
        <p:nvSpPr>
          <p:cNvPr id="6" name="object 3">
            <a:extLst>
              <a:ext uri="{FF2B5EF4-FFF2-40B4-BE49-F238E27FC236}">
                <a16:creationId xmlns:a16="http://schemas.microsoft.com/office/drawing/2014/main" id="{888B00D9-8F31-0A59-12B0-E04B715FFC87}"/>
              </a:ext>
            </a:extLst>
          </p:cNvPr>
          <p:cNvSpPr txBox="1">
            <a:spLocks/>
          </p:cNvSpPr>
          <p:nvPr/>
        </p:nvSpPr>
        <p:spPr>
          <a:xfrm>
            <a:off x="497841" y="1416299"/>
            <a:ext cx="8148318" cy="473206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tổng quan và so sánh mô hình</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Đánh giá hiệu suất cốt lõi (RF vs OOB Score)</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r>
              <a:rPr lang="en-US" sz="1600" b="1">
                <a:solidFill>
                  <a:schemeClr val="tx1"/>
                </a:solidFill>
                <a:latin typeface="Times New Roman" panose="02020603050405020304" pitchFamily="18" charset="0"/>
                <a:cs typeface="Times New Roman" panose="02020603050405020304" pitchFamily="18" charset="0"/>
              </a:rPr>
              <a:t>	</a:t>
            </a:r>
            <a:r>
              <a:rPr lang="en-US" sz="7200" b="1" spc="-1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A711688F-DC16-EAA3-D221-142D3BE85468}"/>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5DA73A5A-C719-5BD0-F078-847184A3883E}"/>
              </a:ext>
            </a:extLst>
          </p:cNvPr>
          <p:cNvPicPr>
            <a:picLocks noChangeAspect="1"/>
          </p:cNvPicPr>
          <p:nvPr/>
        </p:nvPicPr>
        <p:blipFill>
          <a:blip r:embed="rId3"/>
          <a:stretch>
            <a:fillRect/>
          </a:stretch>
        </p:blipFill>
        <p:spPr>
          <a:xfrm>
            <a:off x="497841" y="2247900"/>
            <a:ext cx="8148318" cy="2686074"/>
          </a:xfrm>
          <a:prstGeom prst="rect">
            <a:avLst/>
          </a:prstGeom>
        </p:spPr>
      </p:pic>
    </p:spTree>
    <p:extLst>
      <p:ext uri="{BB962C8B-B14F-4D97-AF65-F5344CB8AC3E}">
        <p14:creationId xmlns:p14="http://schemas.microsoft.com/office/powerpoint/2010/main" val="93493282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10910-16F6-3AFB-8137-756469F5497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E132C4F-90B0-4295-FFD3-9926A92D10DB}"/>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1D08100F-365D-70CD-4A27-7FC099D6BD10}"/>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3.3.2 Report_Analysis(RandomForest – Feature Wine Quality White)</a:t>
            </a:r>
            <a:endParaRPr sz="3600" spc="-10" dirty="0"/>
          </a:p>
        </p:txBody>
      </p:sp>
      <p:sp>
        <p:nvSpPr>
          <p:cNvPr id="10" name="object 10">
            <a:extLst>
              <a:ext uri="{FF2B5EF4-FFF2-40B4-BE49-F238E27FC236}">
                <a16:creationId xmlns:a16="http://schemas.microsoft.com/office/drawing/2014/main" id="{C7EA769B-CC3C-7F8F-4650-FA1485E61190}"/>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95</a:t>
            </a:fld>
            <a:endParaRPr spc="-25" dirty="0"/>
          </a:p>
        </p:txBody>
      </p:sp>
      <p:sp>
        <p:nvSpPr>
          <p:cNvPr id="6" name="object 3">
            <a:extLst>
              <a:ext uri="{FF2B5EF4-FFF2-40B4-BE49-F238E27FC236}">
                <a16:creationId xmlns:a16="http://schemas.microsoft.com/office/drawing/2014/main" id="{D8254837-AD75-5E85-3AA5-36FE734DBD59}"/>
              </a:ext>
            </a:extLst>
          </p:cNvPr>
          <p:cNvSpPr txBox="1">
            <a:spLocks/>
          </p:cNvSpPr>
          <p:nvPr/>
        </p:nvSpPr>
        <p:spPr>
          <a:xfrm>
            <a:off x="497841" y="1416299"/>
            <a:ext cx="8148318" cy="473206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tổng quan và so sánh mô hình</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So sánh với Decision Tree đơn lẻ (Chống Overfiting)</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r>
              <a:rPr lang="en-US" sz="1600" b="1">
                <a:solidFill>
                  <a:schemeClr val="tx1"/>
                </a:solidFill>
                <a:latin typeface="Times New Roman" panose="02020603050405020304" pitchFamily="18" charset="0"/>
                <a:cs typeface="Times New Roman" panose="02020603050405020304" pitchFamily="18" charset="0"/>
              </a:rPr>
              <a:t>	</a:t>
            </a:r>
            <a:r>
              <a:rPr lang="en-US" sz="7200" b="1" spc="-1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BD610FEF-BFB8-72BE-FD33-D40A1A5CB43A}"/>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07B29383-99D3-2CAF-35E1-7C2EEF5AF2A0}"/>
              </a:ext>
            </a:extLst>
          </p:cNvPr>
          <p:cNvPicPr>
            <a:picLocks noChangeAspect="1"/>
          </p:cNvPicPr>
          <p:nvPr/>
        </p:nvPicPr>
        <p:blipFill>
          <a:blip r:embed="rId3"/>
          <a:stretch>
            <a:fillRect/>
          </a:stretch>
        </p:blipFill>
        <p:spPr>
          <a:xfrm>
            <a:off x="1219200" y="2171700"/>
            <a:ext cx="6705600" cy="2971797"/>
          </a:xfrm>
          <a:prstGeom prst="rect">
            <a:avLst/>
          </a:prstGeom>
        </p:spPr>
      </p:pic>
    </p:spTree>
    <p:extLst>
      <p:ext uri="{BB962C8B-B14F-4D97-AF65-F5344CB8AC3E}">
        <p14:creationId xmlns:p14="http://schemas.microsoft.com/office/powerpoint/2010/main" val="17244742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4D75D-B843-8B9D-AD81-2E56E65B2BA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DAE2039-A43E-CFF8-4AE4-29337EC1FE32}"/>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CE62C47D-B822-6B95-8F0F-42C6454883DF}"/>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3.3.2 Report_Analysis(RandomForest – Feature Wine Quality White)</a:t>
            </a:r>
            <a:endParaRPr sz="3600" spc="-10" dirty="0"/>
          </a:p>
        </p:txBody>
      </p:sp>
      <p:sp>
        <p:nvSpPr>
          <p:cNvPr id="10" name="object 10">
            <a:extLst>
              <a:ext uri="{FF2B5EF4-FFF2-40B4-BE49-F238E27FC236}">
                <a16:creationId xmlns:a16="http://schemas.microsoft.com/office/drawing/2014/main" id="{E40F4832-8895-C81F-1E1A-D66FB886B89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96</a:t>
            </a:fld>
            <a:endParaRPr spc="-25" dirty="0"/>
          </a:p>
        </p:txBody>
      </p:sp>
      <p:sp>
        <p:nvSpPr>
          <p:cNvPr id="6" name="object 3">
            <a:extLst>
              <a:ext uri="{FF2B5EF4-FFF2-40B4-BE49-F238E27FC236}">
                <a16:creationId xmlns:a16="http://schemas.microsoft.com/office/drawing/2014/main" id="{0EB0B8AB-9338-CA84-1C5E-A27EE5E2FD3A}"/>
              </a:ext>
            </a:extLst>
          </p:cNvPr>
          <p:cNvSpPr txBox="1">
            <a:spLocks/>
          </p:cNvSpPr>
          <p:nvPr/>
        </p:nvSpPr>
        <p:spPr>
          <a:xfrm>
            <a:off x="497841" y="1416299"/>
            <a:ext cx="8148318" cy="6209392"/>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tổng quan và so sánh mô hình</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So sánh với Decision Tree đơn lẻ (Chống Overfiting)</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2400">
                <a:solidFill>
                  <a:schemeClr val="tx1"/>
                </a:solidFill>
                <a:latin typeface="Times New Roman" panose="02020603050405020304" pitchFamily="18" charset="0"/>
                <a:cs typeface="Times New Roman" panose="02020603050405020304" pitchFamily="18" charset="0"/>
              </a:rPr>
              <a:t>RF vượt trội hơn DT đơn lẻ khoảng </a:t>
            </a:r>
            <a:r>
              <a:rPr lang="en-US" sz="2400" b="1">
                <a:solidFill>
                  <a:schemeClr val="tx1"/>
                </a:solidFill>
                <a:latin typeface="Times New Roman" panose="02020603050405020304" pitchFamily="18" charset="0"/>
                <a:cs typeface="Times New Roman" panose="02020603050405020304" pitchFamily="18" charset="0"/>
              </a:rPr>
              <a:t>7.6 điểm phần trăm</a:t>
            </a:r>
            <a:r>
              <a:rPr lang="en-US" sz="2400">
                <a:solidFill>
                  <a:schemeClr val="tx1"/>
                </a:solidFill>
                <a:latin typeface="Times New Roman" panose="02020603050405020304" pitchFamily="18" charset="0"/>
                <a:cs typeface="Times New Roman" panose="02020603050405020304" pitchFamily="18" charset="0"/>
              </a:rPr>
              <a:t> (0.6673 - 0.5908). Sự khác biệt này là bằng chứng rõ ràng cho hiệu quả của </a:t>
            </a:r>
            <a:r>
              <a:rPr lang="en-US" sz="2400" b="1">
                <a:solidFill>
                  <a:schemeClr val="tx1"/>
                </a:solidFill>
                <a:latin typeface="Times New Roman" panose="02020603050405020304" pitchFamily="18" charset="0"/>
                <a:cs typeface="Times New Roman" panose="02020603050405020304" pitchFamily="18" charset="0"/>
              </a:rPr>
              <a:t>kỹ thuật Bagging</a:t>
            </a:r>
            <a:r>
              <a:rPr lang="en-US" sz="2400">
                <a:solidFill>
                  <a:schemeClr val="tx1"/>
                </a:solidFill>
                <a:latin typeface="Times New Roman" panose="02020603050405020304" pitchFamily="18" charset="0"/>
                <a:cs typeface="Times New Roman" panose="02020603050405020304" pitchFamily="18" charset="0"/>
              </a:rPr>
              <a:t> trong việc kết hợp nhiều cây yếu để tạo ra một mô hình mạnh mẽ, giảm đáng kể hiện tượng </a:t>
            </a:r>
            <a:r>
              <a:rPr lang="en-US" sz="2400" b="1">
                <a:solidFill>
                  <a:schemeClr val="tx1"/>
                </a:solidFill>
                <a:latin typeface="Times New Roman" panose="02020603050405020304" pitchFamily="18" charset="0"/>
                <a:cs typeface="Times New Roman" panose="02020603050405020304" pitchFamily="18" charset="0"/>
              </a:rPr>
              <a:t>quá khớp (overfitting)</a:t>
            </a:r>
            <a:r>
              <a:rPr lang="en-US" sz="2400">
                <a:solidFill>
                  <a:schemeClr val="tx1"/>
                </a:solidFill>
                <a:latin typeface="Times New Roman" panose="02020603050405020304" pitchFamily="18" charset="0"/>
                <a:cs typeface="Times New Roman" panose="02020603050405020304" pitchFamily="18" charset="0"/>
              </a:rPr>
              <a:t> mà DT đơn lẻ thường gặp</a:t>
            </a:r>
            <a:endParaRPr lang="en-US" sz="2400" b="1" spc="-10">
              <a:solidFill>
                <a:schemeClr val="tx1"/>
              </a:solidFill>
              <a:latin typeface="Times New Roman" panose="02020603050405020304" pitchFamily="18" charset="0"/>
              <a:cs typeface="Times New Roman" panose="02020603050405020304" pitchFamily="18" charset="0"/>
            </a:endParaRPr>
          </a:p>
          <a:p>
            <a:pPr marL="355600" indent="-342900">
              <a:spcBef>
                <a:spcPts val="100"/>
              </a:spcBef>
              <a:buFont typeface="Wingdings" panose="05000000000000000000" pitchFamily="2" charset="2"/>
              <a:buChar char="§"/>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r>
              <a:rPr lang="en-US" sz="1600" b="1">
                <a:solidFill>
                  <a:schemeClr val="tx1"/>
                </a:solidFill>
                <a:latin typeface="Times New Roman" panose="02020603050405020304" pitchFamily="18" charset="0"/>
                <a:cs typeface="Times New Roman" panose="02020603050405020304" pitchFamily="18" charset="0"/>
              </a:rPr>
              <a:t>	</a:t>
            </a:r>
            <a:r>
              <a:rPr lang="en-US" sz="7200" b="1" spc="-1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BA936CF0-2774-B225-14E2-CC1779C7E3DA}"/>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327496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6B443-0B6D-0348-F8DA-5CAF45DD629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95313FA-E6BD-D58C-1342-9D1F0247BD2F}"/>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18A6F993-4D80-BD6F-EA7F-390B184F5B2B}"/>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3.3.2 Report_Analysis(RandomForest – Feature Wine Quality White)</a:t>
            </a:r>
            <a:endParaRPr sz="3600" spc="-10" dirty="0"/>
          </a:p>
        </p:txBody>
      </p:sp>
      <p:sp>
        <p:nvSpPr>
          <p:cNvPr id="10" name="object 10">
            <a:extLst>
              <a:ext uri="{FF2B5EF4-FFF2-40B4-BE49-F238E27FC236}">
                <a16:creationId xmlns:a16="http://schemas.microsoft.com/office/drawing/2014/main" id="{DF3227C8-B3C9-8BE3-B42E-B073BE231F3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97</a:t>
            </a:fld>
            <a:endParaRPr spc="-25" dirty="0"/>
          </a:p>
        </p:txBody>
      </p:sp>
      <p:sp>
        <p:nvSpPr>
          <p:cNvPr id="6" name="object 3">
            <a:extLst>
              <a:ext uri="{FF2B5EF4-FFF2-40B4-BE49-F238E27FC236}">
                <a16:creationId xmlns:a16="http://schemas.microsoft.com/office/drawing/2014/main" id="{0B680C7D-32B5-7238-4EB5-CCEC335A5C28}"/>
              </a:ext>
            </a:extLst>
          </p:cNvPr>
          <p:cNvSpPr txBox="1">
            <a:spLocks/>
          </p:cNvSpPr>
          <p:nvPr/>
        </p:nvSpPr>
        <p:spPr>
          <a:xfrm>
            <a:off x="497841" y="1416299"/>
            <a:ext cx="8148318" cy="3831818"/>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a:solidFill>
                  <a:schemeClr val="tx1"/>
                </a:solidFill>
                <a:latin typeface="Times New Roman" panose="02020603050405020304" pitchFamily="18" charset="0"/>
                <a:cs typeface="Times New Roman" panose="02020603050405020304" pitchFamily="18" charset="0"/>
              </a:rPr>
              <a:t>Biểu đồ xác định các yếu tố hóa học quan trọng nhất trong việc dự đoán chất lượng rượu vang trắng:</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r>
              <a:rPr lang="en-US" sz="1600" b="1">
                <a:solidFill>
                  <a:schemeClr val="tx1"/>
                </a:solidFill>
                <a:latin typeface="Times New Roman" panose="02020603050405020304" pitchFamily="18" charset="0"/>
                <a:cs typeface="Times New Roman" panose="02020603050405020304" pitchFamily="18" charset="0"/>
              </a:rPr>
              <a:t>	</a:t>
            </a:r>
            <a:r>
              <a:rPr lang="en-US" sz="7200" b="1" spc="-1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5416B738-BFDD-3793-6AC6-EEF640BB621D}"/>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16051032-087A-6B36-A047-2073D5976CD9}"/>
              </a:ext>
            </a:extLst>
          </p:cNvPr>
          <p:cNvPicPr>
            <a:picLocks noChangeAspect="1"/>
          </p:cNvPicPr>
          <p:nvPr/>
        </p:nvPicPr>
        <p:blipFill>
          <a:blip r:embed="rId3"/>
          <a:stretch>
            <a:fillRect/>
          </a:stretch>
        </p:blipFill>
        <p:spPr>
          <a:xfrm>
            <a:off x="1294130" y="2095500"/>
            <a:ext cx="6934200" cy="2943089"/>
          </a:xfrm>
          <a:prstGeom prst="rect">
            <a:avLst/>
          </a:prstGeom>
        </p:spPr>
      </p:pic>
    </p:spTree>
    <p:extLst>
      <p:ext uri="{BB962C8B-B14F-4D97-AF65-F5344CB8AC3E}">
        <p14:creationId xmlns:p14="http://schemas.microsoft.com/office/powerpoint/2010/main" val="24469428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32924-D368-DC04-ACF1-D80C7E829F9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A4BA12B-612A-E644-7BAE-ACC8D1B406A0}"/>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3AAF7ECF-E244-DE2C-C673-AAC8D6A83576}"/>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3.3.2 Report_Analysis(RandomForest – Feature Wine Quality White)</a:t>
            </a:r>
            <a:endParaRPr sz="3600" spc="-10" dirty="0"/>
          </a:p>
        </p:txBody>
      </p:sp>
      <p:sp>
        <p:nvSpPr>
          <p:cNvPr id="10" name="object 10">
            <a:extLst>
              <a:ext uri="{FF2B5EF4-FFF2-40B4-BE49-F238E27FC236}">
                <a16:creationId xmlns:a16="http://schemas.microsoft.com/office/drawing/2014/main" id="{36989324-F0BB-4C68-C7BE-E78AC65EFC7E}"/>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98</a:t>
            </a:fld>
            <a:endParaRPr spc="-25" dirty="0"/>
          </a:p>
        </p:txBody>
      </p:sp>
      <p:sp>
        <p:nvSpPr>
          <p:cNvPr id="6" name="object 3">
            <a:extLst>
              <a:ext uri="{FF2B5EF4-FFF2-40B4-BE49-F238E27FC236}">
                <a16:creationId xmlns:a16="http://schemas.microsoft.com/office/drawing/2014/main" id="{7216CE38-81F4-DD90-3591-2945F51C8AF9}"/>
              </a:ext>
            </a:extLst>
          </p:cNvPr>
          <p:cNvSpPr txBox="1">
            <a:spLocks/>
          </p:cNvSpPr>
          <p:nvPr/>
        </p:nvSpPr>
        <p:spPr>
          <a:xfrm>
            <a:off x="528321" y="1416299"/>
            <a:ext cx="8148318" cy="4829527"/>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Feature Importance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000">
              <a:latin typeface="Times New Roman" panose="02020603050405020304" pitchFamily="18" charset="0"/>
              <a:cs typeface="Times New Roman" panose="02020603050405020304" pitchFamily="18" charset="0"/>
            </a:endParaRPr>
          </a:p>
          <a:p>
            <a:pPr marL="12700">
              <a:spcBef>
                <a:spcPts val="100"/>
              </a:spcBef>
            </a:pPr>
            <a:r>
              <a:rPr lang="en-US" sz="2000">
                <a:solidFill>
                  <a:schemeClr val="tx1"/>
                </a:solidFill>
                <a:latin typeface="Times New Roman" panose="02020603050405020304" pitchFamily="18" charset="0"/>
                <a:cs typeface="Times New Roman" panose="02020603050405020304" pitchFamily="18" charset="0"/>
              </a:rPr>
              <a:t>Tầm quan trọng của các đặc trưng không đồng đều. Alcohol và Free Sulfur Dioxide là hai đặc trưng quyết định chính (chiếm gần 24% tổng độ quan trọng) mà mô hình RF sử dụng để phân loại chất lượng rượu.</a:t>
            </a:r>
            <a:r>
              <a:rPr lang="en-US" sz="2000" b="1" spc="-10">
                <a:solidFill>
                  <a:schemeClr val="tx1"/>
                </a:solidFill>
                <a:latin typeface="Times New Roman" panose="02020603050405020304" pitchFamily="18" charset="0"/>
                <a:cs typeface="Times New Roman" panose="02020603050405020304" pitchFamily="18" charset="0"/>
              </a:rPr>
              <a:t>	</a:t>
            </a:r>
            <a:r>
              <a:rPr lang="en-US" sz="1600" b="1">
                <a:solidFill>
                  <a:schemeClr val="tx1"/>
                </a:solidFill>
                <a:latin typeface="Times New Roman" panose="02020603050405020304" pitchFamily="18" charset="0"/>
                <a:cs typeface="Times New Roman" panose="02020603050405020304" pitchFamily="18" charset="0"/>
              </a:rPr>
              <a:t>	</a:t>
            </a:r>
            <a:r>
              <a:rPr lang="en-US" sz="7200" b="1" spc="-1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2FBE84F5-AC22-4908-4C72-7E53879FA667}"/>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7" name="Table 6">
            <a:extLst>
              <a:ext uri="{FF2B5EF4-FFF2-40B4-BE49-F238E27FC236}">
                <a16:creationId xmlns:a16="http://schemas.microsoft.com/office/drawing/2014/main" id="{C8B83521-1C3D-BAAE-0A5E-F1C84A7121B0}"/>
              </a:ext>
            </a:extLst>
          </p:cNvPr>
          <p:cNvGraphicFramePr>
            <a:graphicFrameLocks noGrp="1"/>
          </p:cNvGraphicFramePr>
          <p:nvPr>
            <p:extLst>
              <p:ext uri="{D42A27DB-BD31-4B8C-83A1-F6EECF244321}">
                <p14:modId xmlns:p14="http://schemas.microsoft.com/office/powerpoint/2010/main" val="169762849"/>
              </p:ext>
            </p:extLst>
          </p:nvPr>
        </p:nvGraphicFramePr>
        <p:xfrm>
          <a:off x="528321" y="1894602"/>
          <a:ext cx="8255000" cy="2096090"/>
        </p:xfrm>
        <a:graphic>
          <a:graphicData uri="http://schemas.openxmlformats.org/drawingml/2006/table">
            <a:tbl>
              <a:tblPr firstRow="1" firstCol="1" bandRow="1">
                <a:tableStyleId>{5C22544A-7EE6-4342-B048-85BDC9FD1C3A}</a:tableStyleId>
              </a:tblPr>
              <a:tblGrid>
                <a:gridCol w="698500">
                  <a:extLst>
                    <a:ext uri="{9D8B030D-6E8A-4147-A177-3AD203B41FA5}">
                      <a16:colId xmlns:a16="http://schemas.microsoft.com/office/drawing/2014/main" val="95736850"/>
                    </a:ext>
                  </a:extLst>
                </a:gridCol>
                <a:gridCol w="1447800">
                  <a:extLst>
                    <a:ext uri="{9D8B030D-6E8A-4147-A177-3AD203B41FA5}">
                      <a16:colId xmlns:a16="http://schemas.microsoft.com/office/drawing/2014/main" val="1148788128"/>
                    </a:ext>
                  </a:extLst>
                </a:gridCol>
                <a:gridCol w="1371600">
                  <a:extLst>
                    <a:ext uri="{9D8B030D-6E8A-4147-A177-3AD203B41FA5}">
                      <a16:colId xmlns:a16="http://schemas.microsoft.com/office/drawing/2014/main" val="3109015456"/>
                    </a:ext>
                  </a:extLst>
                </a:gridCol>
                <a:gridCol w="4737100">
                  <a:extLst>
                    <a:ext uri="{9D8B030D-6E8A-4147-A177-3AD203B41FA5}">
                      <a16:colId xmlns:a16="http://schemas.microsoft.com/office/drawing/2014/main" val="3754929043"/>
                    </a:ext>
                  </a:extLst>
                </a:gridCol>
              </a:tblGrid>
              <a:tr h="149769">
                <a:tc>
                  <a:txBody>
                    <a:bodyPr/>
                    <a:lstStyle/>
                    <a:p>
                      <a:pPr marL="0" marR="0" algn="just">
                        <a:lnSpc>
                          <a:spcPct val="107000"/>
                        </a:lnSpc>
                        <a:spcAft>
                          <a:spcPts val="2400"/>
                        </a:spcAft>
                        <a:buNone/>
                      </a:pPr>
                      <a:r>
                        <a:rPr lang="en-US" sz="1200" kern="100">
                          <a:effectLst/>
                        </a:rPr>
                        <a:t>Hạng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Đặc trưng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Importance Score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Ý nghĩa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55241048"/>
                  </a:ext>
                </a:extLst>
              </a:tr>
              <a:tr h="404963">
                <a:tc>
                  <a:txBody>
                    <a:bodyPr/>
                    <a:lstStyle/>
                    <a:p>
                      <a:pPr marL="0" marR="0" algn="just">
                        <a:lnSpc>
                          <a:spcPct val="107000"/>
                        </a:lnSpc>
                        <a:spcAft>
                          <a:spcPts val="2400"/>
                        </a:spcAft>
                        <a:buNone/>
                      </a:pPr>
                      <a:r>
                        <a:rPr lang="en-US" sz="1200" kern="100">
                          <a:effectLst/>
                        </a:rPr>
                        <a:t>1</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alcohol</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0.1228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Quan trọng nhất. Độ cồn là yếu tố vật lý đóng góp lớn nhất vào chất lượng cảm quan.</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43792435"/>
                  </a:ext>
                </a:extLst>
              </a:tr>
              <a:tr h="537810">
                <a:tc>
                  <a:txBody>
                    <a:bodyPr/>
                    <a:lstStyle/>
                    <a:p>
                      <a:pPr marL="0" marR="0" algn="just">
                        <a:lnSpc>
                          <a:spcPct val="107000"/>
                        </a:lnSpc>
                        <a:spcAft>
                          <a:spcPts val="2400"/>
                        </a:spcAft>
                        <a:buNone/>
                      </a:pPr>
                      <a:r>
                        <a:rPr lang="en-US" sz="1200" kern="100">
                          <a:effectLst/>
                        </a:rPr>
                        <a:t>2</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free sulfur dioxide</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0.1183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Yếu tố quan trọng thứ hai, cho thấy mức độ lưu huỳnh tự do (chất bảo quản) có ảnh hưởng mạnh.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3626740"/>
                  </a:ext>
                </a:extLst>
              </a:tr>
              <a:tr h="149769">
                <a:tc>
                  <a:txBody>
                    <a:bodyPr/>
                    <a:lstStyle/>
                    <a:p>
                      <a:pPr marL="0" marR="0" algn="just">
                        <a:lnSpc>
                          <a:spcPct val="107000"/>
                        </a:lnSpc>
                        <a:spcAft>
                          <a:spcPts val="2400"/>
                        </a:spcAft>
                        <a:buNone/>
                      </a:pPr>
                      <a:r>
                        <a:rPr lang="en-US" sz="1200" kern="100">
                          <a:effectLst/>
                        </a:rPr>
                        <a:t>3</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fixed acidity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0.0967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Độ axit cố định (không bay hơi).</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92975239"/>
                  </a:ext>
                </a:extLst>
              </a:tr>
              <a:tr h="149769">
                <a:tc>
                  <a:txBody>
                    <a:bodyPr/>
                    <a:lstStyle/>
                    <a:p>
                      <a:pPr marL="0" marR="0" algn="just">
                        <a:lnSpc>
                          <a:spcPct val="107000"/>
                        </a:lnSpc>
                        <a:spcAft>
                          <a:spcPts val="2400"/>
                        </a:spcAft>
                        <a:buNone/>
                      </a:pPr>
                      <a:r>
                        <a:rPr lang="en-US" sz="1200" kern="100">
                          <a:effectLst/>
                        </a:rPr>
                        <a:t>4</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density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0.0964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Mật độ rượu.</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24346516"/>
                  </a:ext>
                </a:extLst>
              </a:tr>
              <a:tr h="537810">
                <a:tc>
                  <a:txBody>
                    <a:bodyPr/>
                    <a:lstStyle/>
                    <a:p>
                      <a:pPr marL="0" marR="0" algn="just">
                        <a:lnSpc>
                          <a:spcPct val="107000"/>
                        </a:lnSpc>
                        <a:spcAft>
                          <a:spcPts val="2400"/>
                        </a:spcAft>
                        <a:buNone/>
                      </a:pPr>
                      <a:r>
                        <a:rPr lang="en-US" sz="1200" kern="100">
                          <a:effectLst/>
                        </a:rPr>
                        <a:t>Cuối</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sulphates</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0.0629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Ít quan trọng nhất. Vai trò của sulphates (chất bảo quản/phụ gia) là thấp nhất trong dữ liệu này.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30192199"/>
                  </a:ext>
                </a:extLst>
              </a:tr>
            </a:tbl>
          </a:graphicData>
        </a:graphic>
      </p:graphicFrame>
    </p:spTree>
    <p:extLst>
      <p:ext uri="{BB962C8B-B14F-4D97-AF65-F5344CB8AC3E}">
        <p14:creationId xmlns:p14="http://schemas.microsoft.com/office/powerpoint/2010/main" val="401721707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325B6-CE6D-BA12-C98E-F4D0FF22E45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B6B740A-1C83-1A31-11E9-2F24ACAF5573}"/>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E25F82DD-649A-1BDC-97DC-7DFA18BA18FB}"/>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3.3.2 Report_Analysis(RandomForest – Feature Wine Quality White)</a:t>
            </a:r>
            <a:endParaRPr sz="3600" spc="-10" dirty="0"/>
          </a:p>
        </p:txBody>
      </p:sp>
      <p:sp>
        <p:nvSpPr>
          <p:cNvPr id="10" name="object 10">
            <a:extLst>
              <a:ext uri="{FF2B5EF4-FFF2-40B4-BE49-F238E27FC236}">
                <a16:creationId xmlns:a16="http://schemas.microsoft.com/office/drawing/2014/main" id="{707B80FF-DA1E-115C-40D1-164A22F785CD}"/>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99</a:t>
            </a:fld>
            <a:endParaRPr spc="-25" dirty="0"/>
          </a:p>
        </p:txBody>
      </p:sp>
      <p:sp>
        <p:nvSpPr>
          <p:cNvPr id="6" name="object 3">
            <a:extLst>
              <a:ext uri="{FF2B5EF4-FFF2-40B4-BE49-F238E27FC236}">
                <a16:creationId xmlns:a16="http://schemas.microsoft.com/office/drawing/2014/main" id="{DBD6D922-EA16-AFAB-BDAC-9FAFC3C1578C}"/>
              </a:ext>
            </a:extLst>
          </p:cNvPr>
          <p:cNvSpPr txBox="1">
            <a:spLocks/>
          </p:cNvSpPr>
          <p:nvPr/>
        </p:nvSpPr>
        <p:spPr>
          <a:xfrm>
            <a:off x="528321" y="1416299"/>
            <a:ext cx="8148318" cy="4196020"/>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chi tiết theo lớp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800">
                <a:solidFill>
                  <a:schemeClr val="tx1"/>
                </a:solidFill>
                <a:latin typeface="Times New Roman" panose="02020603050405020304" pitchFamily="18" charset="0"/>
                <a:cs typeface="Times New Roman" panose="02020603050405020304" pitchFamily="18" charset="0"/>
              </a:rPr>
              <a:t>Ma trận trực quan hóa chi tiết hiệu suất phân loại giữa các lớp chất lượng (3 đến 9).</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000">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7200" b="1" spc="-1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id="{B66FB1EB-3287-2C85-9F86-8392241C5471}"/>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4A77101F-156F-89B3-020F-193134A389B0}"/>
              </a:ext>
            </a:extLst>
          </p:cNvPr>
          <p:cNvPicPr>
            <a:picLocks noChangeAspect="1"/>
          </p:cNvPicPr>
          <p:nvPr/>
        </p:nvPicPr>
        <p:blipFill>
          <a:blip r:embed="rId3"/>
          <a:stretch>
            <a:fillRect/>
          </a:stretch>
        </p:blipFill>
        <p:spPr>
          <a:xfrm>
            <a:off x="1295400" y="2171699"/>
            <a:ext cx="6400800" cy="2895601"/>
          </a:xfrm>
          <a:prstGeom prst="rect">
            <a:avLst/>
          </a:prstGeom>
        </p:spPr>
      </p:pic>
    </p:spTree>
    <p:extLst>
      <p:ext uri="{BB962C8B-B14F-4D97-AF65-F5344CB8AC3E}">
        <p14:creationId xmlns:p14="http://schemas.microsoft.com/office/powerpoint/2010/main" val="18436032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FCC8D-0BDE-14D9-139F-C89DD0DC67A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A99331D-75D9-7E86-2D09-2F268F2467B4}"/>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02CCAD16-1B6B-A1E6-1C05-EEA055694CDD}"/>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3.3.2 Report_Analysis(RandomForest – Feature Wine Quality White)</a:t>
            </a:r>
            <a:endParaRPr sz="3600" spc="-10" dirty="0"/>
          </a:p>
        </p:txBody>
      </p:sp>
      <p:sp>
        <p:nvSpPr>
          <p:cNvPr id="10" name="object 10">
            <a:extLst>
              <a:ext uri="{FF2B5EF4-FFF2-40B4-BE49-F238E27FC236}">
                <a16:creationId xmlns:a16="http://schemas.microsoft.com/office/drawing/2014/main" id="{557DE6B7-8A0A-97E7-F007-C1C614B56947}"/>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100</a:t>
            </a:fld>
            <a:endParaRPr spc="-25" dirty="0"/>
          </a:p>
        </p:txBody>
      </p:sp>
      <p:sp>
        <p:nvSpPr>
          <p:cNvPr id="6" name="object 3">
            <a:extLst>
              <a:ext uri="{FF2B5EF4-FFF2-40B4-BE49-F238E27FC236}">
                <a16:creationId xmlns:a16="http://schemas.microsoft.com/office/drawing/2014/main" id="{DB89E0AA-8A4A-134A-AC29-C4DE55703FFA}"/>
              </a:ext>
            </a:extLst>
          </p:cNvPr>
          <p:cNvSpPr txBox="1">
            <a:spLocks/>
          </p:cNvSpPr>
          <p:nvPr/>
        </p:nvSpPr>
        <p:spPr>
          <a:xfrm>
            <a:off x="528321" y="1416299"/>
            <a:ext cx="8148318" cy="421397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chi tiết theo lớp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p>
          <a:p>
            <a:pPr algn="just"/>
            <a:r>
              <a:rPr lang="en-US" sz="2000">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lvl="0"/>
            <a:r>
              <a:rPr lang="en-US" sz="1600" b="1">
                <a:solidFill>
                  <a:schemeClr val="tx1"/>
                </a:solidFill>
                <a:latin typeface="Times New Roman" panose="02020603050405020304" pitchFamily="18" charset="0"/>
                <a:cs typeface="Times New Roman" panose="02020603050405020304" pitchFamily="18" charset="0"/>
              </a:rPr>
              <a:t>Độ chính xác tập trung:</a:t>
            </a:r>
            <a:r>
              <a:rPr lang="en-US" sz="1600">
                <a:solidFill>
                  <a:schemeClr val="tx1"/>
                </a:solidFill>
                <a:latin typeface="Times New Roman" panose="02020603050405020304" pitchFamily="18" charset="0"/>
                <a:cs typeface="Times New Roman" panose="02020603050405020304" pitchFamily="18" charset="0"/>
              </a:rPr>
              <a:t> Phần lớn các dự đoán đúng nằm trên các lớp </a:t>
            </a:r>
            <a:r>
              <a:rPr lang="en-US" sz="1600" b="1">
                <a:solidFill>
                  <a:schemeClr val="tx1"/>
                </a:solidFill>
                <a:latin typeface="Times New Roman" panose="02020603050405020304" pitchFamily="18" charset="0"/>
                <a:cs typeface="Times New Roman" panose="02020603050405020304" pitchFamily="18" charset="0"/>
              </a:rPr>
              <a:t>5, 6, và 7</a:t>
            </a:r>
            <a:r>
              <a:rPr lang="en-US" sz="1600">
                <a:solidFill>
                  <a:schemeClr val="tx1"/>
                </a:solidFill>
                <a:latin typeface="Times New Roman" panose="02020603050405020304" pitchFamily="18" charset="0"/>
                <a:cs typeface="Times New Roman" panose="02020603050405020304" pitchFamily="18" charset="0"/>
              </a:rPr>
              <a:t>.</a:t>
            </a:r>
          </a:p>
          <a:p>
            <a:pPr lvl="0"/>
            <a:r>
              <a:rPr lang="en-US" sz="1600" b="1">
                <a:solidFill>
                  <a:schemeClr val="tx1"/>
                </a:solidFill>
                <a:latin typeface="Times New Roman" panose="02020603050405020304" pitchFamily="18" charset="0"/>
                <a:cs typeface="Times New Roman" panose="02020603050405020304" pitchFamily="18" charset="0"/>
              </a:rPr>
              <a:t>Vấn đề lớn:</a:t>
            </a:r>
            <a:r>
              <a:rPr lang="en-US" sz="1600">
                <a:solidFill>
                  <a:schemeClr val="tx1"/>
                </a:solidFill>
                <a:latin typeface="Times New Roman" panose="02020603050405020304" pitchFamily="18" charset="0"/>
                <a:cs typeface="Times New Roman" panose="02020603050405020304" pitchFamily="18" charset="0"/>
              </a:rPr>
              <a:t> Mô hình gặp khó khăn trong việc phân biệt ranh giới giữa các lớp liền kề (đặc biệt là </a:t>
            </a:r>
            <a:r>
              <a:rPr lang="en-US" sz="1600" b="1">
                <a:solidFill>
                  <a:schemeClr val="tx1"/>
                </a:solidFill>
                <a:latin typeface="Times New Roman" panose="02020603050405020304" pitchFamily="18" charset="0"/>
                <a:cs typeface="Times New Roman" panose="02020603050405020304" pitchFamily="18" charset="0"/>
              </a:rPr>
              <a:t>5 và 6</a:t>
            </a:r>
            <a:r>
              <a:rPr lang="en-US" sz="1600">
                <a:solidFill>
                  <a:schemeClr val="tx1"/>
                </a:solidFill>
                <a:latin typeface="Times New Roman" panose="02020603050405020304" pitchFamily="18" charset="0"/>
                <a:cs typeface="Times New Roman" panose="02020603050405020304" pitchFamily="18" charset="0"/>
              </a:rPr>
              <a:t>).</a:t>
            </a:r>
          </a:p>
          <a:p>
            <a:pPr lvl="0"/>
            <a:r>
              <a:rPr lang="en-US" sz="1600" b="1">
                <a:solidFill>
                  <a:schemeClr val="tx1"/>
                </a:solidFill>
                <a:latin typeface="Times New Roman" panose="02020603050405020304" pitchFamily="18" charset="0"/>
                <a:cs typeface="Times New Roman" panose="02020603050405020304" pitchFamily="18" charset="0"/>
              </a:rPr>
              <a:t>Thất bại Lớp Hiếm:</a:t>
            </a:r>
            <a:r>
              <a:rPr lang="en-US" sz="1600">
                <a:solidFill>
                  <a:schemeClr val="tx1"/>
                </a:solidFill>
                <a:latin typeface="Times New Roman" panose="02020603050405020304" pitchFamily="18" charset="0"/>
                <a:cs typeface="Times New Roman" panose="02020603050405020304" pitchFamily="18" charset="0"/>
              </a:rPr>
              <a:t> Các lớp </a:t>
            </a:r>
            <a:r>
              <a:rPr lang="en-US" sz="1600" b="1">
                <a:solidFill>
                  <a:schemeClr val="tx1"/>
                </a:solidFill>
                <a:latin typeface="Times New Roman" panose="02020603050405020304" pitchFamily="18" charset="0"/>
                <a:cs typeface="Times New Roman" panose="02020603050405020304" pitchFamily="18" charset="0"/>
              </a:rPr>
              <a:t>3</a:t>
            </a:r>
            <a:r>
              <a:rPr lang="en-US" sz="1600">
                <a:solidFill>
                  <a:schemeClr val="tx1"/>
                </a:solidFill>
                <a:latin typeface="Times New Roman" panose="02020603050405020304" pitchFamily="18" charset="0"/>
                <a:cs typeface="Times New Roman" panose="02020603050405020304" pitchFamily="18" charset="0"/>
              </a:rPr>
              <a:t> và </a:t>
            </a:r>
            <a:r>
              <a:rPr lang="en-US" sz="1600" b="1">
                <a:solidFill>
                  <a:schemeClr val="tx1"/>
                </a:solidFill>
                <a:latin typeface="Times New Roman" panose="02020603050405020304" pitchFamily="18" charset="0"/>
                <a:cs typeface="Times New Roman" panose="02020603050405020304" pitchFamily="18" charset="0"/>
              </a:rPr>
              <a:t>9</a:t>
            </a:r>
            <a:r>
              <a:rPr lang="en-US" sz="1600">
                <a:solidFill>
                  <a:schemeClr val="tx1"/>
                </a:solidFill>
                <a:latin typeface="Times New Roman" panose="02020603050405020304" pitchFamily="18" charset="0"/>
                <a:cs typeface="Times New Roman" panose="02020603050405020304" pitchFamily="18" charset="0"/>
              </a:rPr>
              <a:t> hoàn toàn bị bỏ sót (hàng 3 và hàng 9 gần như trống), chứng tỏ mô hình không thể học được các lớp thiểu số này.</a:t>
            </a:r>
          </a:p>
          <a:p>
            <a:pPr marL="12700">
              <a:spcBef>
                <a:spcPts val="100"/>
              </a:spcBef>
            </a:pPr>
            <a:endParaRPr lang="en-US" sz="1600">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sp>
        <p:nvSpPr>
          <p:cNvPr id="5" name="object 3">
            <a:extLst>
              <a:ext uri="{FF2B5EF4-FFF2-40B4-BE49-F238E27FC236}">
                <a16:creationId xmlns:a16="http://schemas.microsoft.com/office/drawing/2014/main" id="{91CBB199-A34A-64CC-1F66-6BF631B309B7}"/>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7" name="Table 6">
            <a:extLst>
              <a:ext uri="{FF2B5EF4-FFF2-40B4-BE49-F238E27FC236}">
                <a16:creationId xmlns:a16="http://schemas.microsoft.com/office/drawing/2014/main" id="{DA0B715D-F1F2-B3E3-FA1F-60D5C1AF7907}"/>
              </a:ext>
            </a:extLst>
          </p:cNvPr>
          <p:cNvGraphicFramePr>
            <a:graphicFrameLocks noGrp="1"/>
          </p:cNvGraphicFramePr>
          <p:nvPr>
            <p:extLst>
              <p:ext uri="{D42A27DB-BD31-4B8C-83A1-F6EECF244321}">
                <p14:modId xmlns:p14="http://schemas.microsoft.com/office/powerpoint/2010/main" val="1062087468"/>
              </p:ext>
            </p:extLst>
          </p:nvPr>
        </p:nvGraphicFramePr>
        <p:xfrm>
          <a:off x="474980" y="1862384"/>
          <a:ext cx="8255000" cy="2004380"/>
        </p:xfrm>
        <a:graphic>
          <a:graphicData uri="http://schemas.openxmlformats.org/drawingml/2006/table">
            <a:tbl>
              <a:tblPr firstRow="1" firstCol="1" bandRow="1">
                <a:tableStyleId>{5C22544A-7EE6-4342-B048-85BDC9FD1C3A}</a:tableStyleId>
              </a:tblPr>
              <a:tblGrid>
                <a:gridCol w="2063750">
                  <a:extLst>
                    <a:ext uri="{9D8B030D-6E8A-4147-A177-3AD203B41FA5}">
                      <a16:colId xmlns:a16="http://schemas.microsoft.com/office/drawing/2014/main" val="3895521999"/>
                    </a:ext>
                  </a:extLst>
                </a:gridCol>
                <a:gridCol w="2063750">
                  <a:extLst>
                    <a:ext uri="{9D8B030D-6E8A-4147-A177-3AD203B41FA5}">
                      <a16:colId xmlns:a16="http://schemas.microsoft.com/office/drawing/2014/main" val="874663767"/>
                    </a:ext>
                  </a:extLst>
                </a:gridCol>
                <a:gridCol w="1493520">
                  <a:extLst>
                    <a:ext uri="{9D8B030D-6E8A-4147-A177-3AD203B41FA5}">
                      <a16:colId xmlns:a16="http://schemas.microsoft.com/office/drawing/2014/main" val="679664473"/>
                    </a:ext>
                  </a:extLst>
                </a:gridCol>
                <a:gridCol w="2633980">
                  <a:extLst>
                    <a:ext uri="{9D8B030D-6E8A-4147-A177-3AD203B41FA5}">
                      <a16:colId xmlns:a16="http://schemas.microsoft.com/office/drawing/2014/main" val="3765464052"/>
                    </a:ext>
                  </a:extLst>
                </a:gridCol>
              </a:tblGrid>
              <a:tr h="0">
                <a:tc>
                  <a:txBody>
                    <a:bodyPr/>
                    <a:lstStyle/>
                    <a:p>
                      <a:pPr marL="0" marR="0" algn="just">
                        <a:lnSpc>
                          <a:spcPct val="107000"/>
                        </a:lnSpc>
                        <a:spcAft>
                          <a:spcPts val="2400"/>
                        </a:spcAft>
                        <a:buNone/>
                      </a:pPr>
                      <a:r>
                        <a:rPr lang="en-US" sz="1200" kern="100">
                          <a:effectLst/>
                        </a:rPr>
                        <a:t>Tình huống Nhầm lẫn</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Số lượng</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Tỷ lệ</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Giải thích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34688592"/>
                  </a:ext>
                </a:extLst>
              </a:tr>
              <a:tr h="0">
                <a:tc>
                  <a:txBody>
                    <a:bodyPr/>
                    <a:lstStyle/>
                    <a:p>
                      <a:pPr marL="0" marR="0" algn="just">
                        <a:lnSpc>
                          <a:spcPct val="107000"/>
                        </a:lnSpc>
                        <a:spcAft>
                          <a:spcPts val="2400"/>
                        </a:spcAft>
                        <a:buNone/>
                      </a:pPr>
                      <a:r>
                        <a:rPr lang="en-US" sz="1200" kern="100">
                          <a:effectLst/>
                        </a:rPr>
                        <a:t>Dự đoán đúng (Lớp 6)</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358</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36.5\%  tổng mẫu</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Đây là ô có số lượng dự đoán đúng cao nhất.</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66390535"/>
                  </a:ext>
                </a:extLst>
              </a:tr>
              <a:tr h="0">
                <a:tc>
                  <a:txBody>
                    <a:bodyPr/>
                    <a:lstStyle/>
                    <a:p>
                      <a:pPr marL="0" marR="0" algn="just">
                        <a:lnSpc>
                          <a:spcPct val="107000"/>
                        </a:lnSpc>
                        <a:spcAft>
                          <a:spcPts val="2400"/>
                        </a:spcAft>
                        <a:buNone/>
                      </a:pPr>
                      <a:r>
                        <a:rPr lang="en-US" sz="1200" kern="100">
                          <a:effectLst/>
                        </a:rPr>
                        <a:t>Nhầm lẫn Phổ biến</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186 (Actual 5  \to  Predicted 6)</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US" sz="11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186 mẫu rượu chất lượng  5  bị dự đoán nhầm là  6 . Đây là lỗi lớn nhất của mô hình.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772124"/>
                  </a:ext>
                </a:extLst>
              </a:tr>
              <a:tr h="0">
                <a:tc>
                  <a:txBody>
                    <a:bodyPr/>
                    <a:lstStyle/>
                    <a:p>
                      <a:pPr marL="0" marR="0" algn="just">
                        <a:lnSpc>
                          <a:spcPct val="107000"/>
                        </a:lnSpc>
                        <a:spcAft>
                          <a:spcPts val="2400"/>
                        </a:spcAft>
                        <a:buNone/>
                      </a:pPr>
                      <a:r>
                        <a:rPr lang="en-US" sz="1200" kern="100">
                          <a:effectLst/>
                        </a:rPr>
                        <a:t>Nhầm lẫn Phổ biến</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100 (Actual 6  \to  Predicted 5)</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US" sz="11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100 mẫu rượu chất lượng  6  bị dự đoán nhầm là  5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87011403"/>
                  </a:ext>
                </a:extLst>
              </a:tr>
              <a:tr h="0">
                <a:tc>
                  <a:txBody>
                    <a:bodyPr/>
                    <a:lstStyle/>
                    <a:p>
                      <a:pPr marL="0" marR="0" algn="just">
                        <a:lnSpc>
                          <a:spcPct val="107000"/>
                        </a:lnSpc>
                        <a:spcAft>
                          <a:spcPts val="2400"/>
                        </a:spcAft>
                        <a:buNone/>
                      </a:pPr>
                      <a:r>
                        <a:rPr lang="en-US" sz="1200" kern="100">
                          <a:effectLst/>
                        </a:rPr>
                        <a:t>Nhầm lẫn Lớp Cao</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88 (Actual 7  \to  Predicted 6)</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US" sz="11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Rượu chất lượng  7  thường bị hạ cấp dự đoán xuống  6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4548121"/>
                  </a:ext>
                </a:extLst>
              </a:tr>
            </a:tbl>
          </a:graphicData>
        </a:graphic>
      </p:graphicFrame>
    </p:spTree>
    <p:extLst>
      <p:ext uri="{BB962C8B-B14F-4D97-AF65-F5344CB8AC3E}">
        <p14:creationId xmlns:p14="http://schemas.microsoft.com/office/powerpoint/2010/main" val="211682059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EA222-B55F-278A-75E5-AE8A44D1C4A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9F7892-FE67-AD09-60DF-6320C021EE3D}"/>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64554B09-0926-F9C6-30DF-9DB2B7E158D6}"/>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3.3.3 Report_Analysis(RandomForest – Hyperparemeter Ecoil)</a:t>
            </a:r>
            <a:endParaRPr sz="3600" spc="-10" dirty="0"/>
          </a:p>
        </p:txBody>
      </p:sp>
      <p:sp>
        <p:nvSpPr>
          <p:cNvPr id="10" name="object 10">
            <a:extLst>
              <a:ext uri="{FF2B5EF4-FFF2-40B4-BE49-F238E27FC236}">
                <a16:creationId xmlns:a16="http://schemas.microsoft.com/office/drawing/2014/main" id="{B757DFFC-89DA-61CB-2D5B-1E6994EE5BA4}"/>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101</a:t>
            </a:fld>
            <a:endParaRPr spc="-25" dirty="0"/>
          </a:p>
        </p:txBody>
      </p:sp>
      <p:sp>
        <p:nvSpPr>
          <p:cNvPr id="6" name="object 3">
            <a:extLst>
              <a:ext uri="{FF2B5EF4-FFF2-40B4-BE49-F238E27FC236}">
                <a16:creationId xmlns:a16="http://schemas.microsoft.com/office/drawing/2014/main" id="{4C5E3114-D92B-6B6E-3331-0E951A728496}"/>
              </a:ext>
            </a:extLst>
          </p:cNvPr>
          <p:cNvSpPr txBox="1">
            <a:spLocks/>
          </p:cNvSpPr>
          <p:nvPr/>
        </p:nvSpPr>
        <p:spPr>
          <a:xfrm>
            <a:off x="457200" y="1416299"/>
            <a:ext cx="8148318" cy="473719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hiệu suất tổng thể và chống quá khớp</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800">
                <a:solidFill>
                  <a:schemeClr val="tx1"/>
                </a:solidFill>
                <a:latin typeface="Times New Roman" panose="02020603050405020304" pitchFamily="18" charset="0"/>
                <a:cs typeface="Times New Roman" panose="02020603050405020304" pitchFamily="18" charset="0"/>
              </a:rPr>
              <a:t>Độ Mạnh mẽ chống Quá khớp (Overfitting)</a:t>
            </a:r>
          </a:p>
          <a:p>
            <a:pPr lvl="0"/>
            <a:r>
              <a:rPr lang="en-US" sz="1800" b="1">
                <a:solidFill>
                  <a:schemeClr val="tx1"/>
                </a:solidFill>
                <a:latin typeface="Times New Roman" panose="02020603050405020304" pitchFamily="18" charset="0"/>
                <a:cs typeface="Times New Roman" panose="02020603050405020304" pitchFamily="18" charset="0"/>
              </a:rPr>
              <a:t>	RF Vượt trội:</a:t>
            </a:r>
            <a:r>
              <a:rPr lang="en-US" sz="1800">
                <a:solidFill>
                  <a:schemeClr val="tx1"/>
                </a:solidFill>
                <a:latin typeface="Times New Roman" panose="02020603050405020304" pitchFamily="18" charset="0"/>
                <a:cs typeface="Times New Roman" panose="02020603050405020304" pitchFamily="18" charset="0"/>
              </a:rPr>
              <a:t> RF đạt </a:t>
            </a:r>
            <a:r>
              <a:rPr lang="en-US" sz="1800" b="1">
                <a:solidFill>
                  <a:schemeClr val="tx1"/>
                </a:solidFill>
                <a:latin typeface="Times New Roman" panose="02020603050405020304" pitchFamily="18" charset="0"/>
                <a:cs typeface="Times New Roman" panose="02020603050405020304" pitchFamily="18" charset="0"/>
              </a:rPr>
              <a:t>Test Accuracy 0.8971</a:t>
            </a:r>
            <a:r>
              <a:rPr lang="en-US" sz="1800">
                <a:solidFill>
                  <a:schemeClr val="tx1"/>
                </a:solidFill>
                <a:latin typeface="Times New Roman" panose="02020603050405020304" pitchFamily="18" charset="0"/>
                <a:cs typeface="Times New Roman" panose="02020603050405020304" pitchFamily="18" charset="0"/>
              </a:rPr>
              <a:t> so với DT (0.8382). Sự cải thiện này chứng minh hiệu quả của </a:t>
            </a:r>
            <a:r>
              <a:rPr lang="en-US" sz="1800" b="1">
                <a:solidFill>
                  <a:schemeClr val="tx1"/>
                </a:solidFill>
                <a:latin typeface="Times New Roman" panose="02020603050405020304" pitchFamily="18" charset="0"/>
                <a:cs typeface="Times New Roman" panose="02020603050405020304" pitchFamily="18" charset="0"/>
              </a:rPr>
              <a:t>Ensemble Learning (Bagging)</a:t>
            </a:r>
            <a:r>
              <a:rPr lang="en-US" sz="1800">
                <a:solidFill>
                  <a:schemeClr val="tx1"/>
                </a:solidFill>
                <a:latin typeface="Times New Roman" panose="02020603050405020304" pitchFamily="18" charset="0"/>
                <a:cs typeface="Times New Roman" panose="02020603050405020304" pitchFamily="18" charset="0"/>
              </a:rPr>
              <a:t> trong việc giảm đáng kể </a:t>
            </a:r>
            <a:r>
              <a:rPr lang="en-US" sz="1800" b="1">
                <a:solidFill>
                  <a:schemeClr val="tx1"/>
                </a:solidFill>
                <a:latin typeface="Times New Roman" panose="02020603050405020304" pitchFamily="18" charset="0"/>
                <a:cs typeface="Times New Roman" panose="02020603050405020304" pitchFamily="18" charset="0"/>
              </a:rPr>
              <a:t>phương sai (variance)</a:t>
            </a:r>
            <a:r>
              <a:rPr lang="en-US" sz="1800">
                <a:solidFill>
                  <a:schemeClr val="tx1"/>
                </a:solidFill>
                <a:latin typeface="Times New Roman" panose="02020603050405020304" pitchFamily="18" charset="0"/>
                <a:cs typeface="Times New Roman" panose="02020603050405020304" pitchFamily="18" charset="0"/>
              </a:rPr>
              <a:t>, giúp mô hình ổn định và tổng quát hóa tốt hơn.</a:t>
            </a:r>
          </a:p>
          <a:p>
            <a:pPr lvl="0"/>
            <a:r>
              <a:rPr lang="en-US" sz="1800" b="1">
                <a:solidFill>
                  <a:schemeClr val="tx1"/>
                </a:solidFill>
                <a:latin typeface="Times New Roman" panose="02020603050405020304" pitchFamily="18" charset="0"/>
                <a:cs typeface="Times New Roman" panose="02020603050405020304" pitchFamily="18" charset="0"/>
              </a:rPr>
              <a:t>	Trade-off Tốc độ:</a:t>
            </a:r>
            <a:r>
              <a:rPr lang="en-US" sz="1800">
                <a:solidFill>
                  <a:schemeClr val="tx1"/>
                </a:solidFill>
                <a:latin typeface="Times New Roman" panose="02020603050405020304" pitchFamily="18" charset="0"/>
                <a:cs typeface="Times New Roman" panose="02020603050405020304" pitchFamily="18" charset="0"/>
              </a:rPr>
              <a:t> DT huấn luyện cực nhanh (0.007s), nhưng phải đánh đổi bằng độ chính xác thấp hơn. RF (0.511s) chậm hơn nhưng mang lại hiệu suất cao hơn cho người dùng.</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sp>
        <p:nvSpPr>
          <p:cNvPr id="5" name="object 3">
            <a:extLst>
              <a:ext uri="{FF2B5EF4-FFF2-40B4-BE49-F238E27FC236}">
                <a16:creationId xmlns:a16="http://schemas.microsoft.com/office/drawing/2014/main" id="{560144F1-AAA6-2115-4545-4B1BF4A302FA}"/>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graphicFrame>
        <p:nvGraphicFramePr>
          <p:cNvPr id="4" name="Table 3">
            <a:extLst>
              <a:ext uri="{FF2B5EF4-FFF2-40B4-BE49-F238E27FC236}">
                <a16:creationId xmlns:a16="http://schemas.microsoft.com/office/drawing/2014/main" id="{3A874397-9A5D-78F7-7BB3-D0F9C845D5F1}"/>
              </a:ext>
            </a:extLst>
          </p:cNvPr>
          <p:cNvGraphicFramePr>
            <a:graphicFrameLocks noGrp="1"/>
          </p:cNvGraphicFramePr>
          <p:nvPr>
            <p:extLst>
              <p:ext uri="{D42A27DB-BD31-4B8C-83A1-F6EECF244321}">
                <p14:modId xmlns:p14="http://schemas.microsoft.com/office/powerpoint/2010/main" val="1112984757"/>
              </p:ext>
            </p:extLst>
          </p:nvPr>
        </p:nvGraphicFramePr>
        <p:xfrm>
          <a:off x="615950" y="1857119"/>
          <a:ext cx="8043712" cy="1245273"/>
        </p:xfrm>
        <a:graphic>
          <a:graphicData uri="http://schemas.openxmlformats.org/drawingml/2006/table">
            <a:tbl>
              <a:tblPr firstRow="1" firstCol="1" bandRow="1">
                <a:tableStyleId>{5C22544A-7EE6-4342-B048-85BDC9FD1C3A}</a:tableStyleId>
              </a:tblPr>
              <a:tblGrid>
                <a:gridCol w="2010928">
                  <a:extLst>
                    <a:ext uri="{9D8B030D-6E8A-4147-A177-3AD203B41FA5}">
                      <a16:colId xmlns:a16="http://schemas.microsoft.com/office/drawing/2014/main" val="2268298501"/>
                    </a:ext>
                  </a:extLst>
                </a:gridCol>
                <a:gridCol w="2010928">
                  <a:extLst>
                    <a:ext uri="{9D8B030D-6E8A-4147-A177-3AD203B41FA5}">
                      <a16:colId xmlns:a16="http://schemas.microsoft.com/office/drawing/2014/main" val="627266788"/>
                    </a:ext>
                  </a:extLst>
                </a:gridCol>
                <a:gridCol w="2010928">
                  <a:extLst>
                    <a:ext uri="{9D8B030D-6E8A-4147-A177-3AD203B41FA5}">
                      <a16:colId xmlns:a16="http://schemas.microsoft.com/office/drawing/2014/main" val="1596406031"/>
                    </a:ext>
                  </a:extLst>
                </a:gridCol>
                <a:gridCol w="2010928">
                  <a:extLst>
                    <a:ext uri="{9D8B030D-6E8A-4147-A177-3AD203B41FA5}">
                      <a16:colId xmlns:a16="http://schemas.microsoft.com/office/drawing/2014/main" val="931373578"/>
                    </a:ext>
                  </a:extLst>
                </a:gridCol>
              </a:tblGrid>
              <a:tr h="415091">
                <a:tc>
                  <a:txBody>
                    <a:bodyPr/>
                    <a:lstStyle/>
                    <a:p>
                      <a:pPr marL="0" marR="0" algn="just">
                        <a:lnSpc>
                          <a:spcPct val="107000"/>
                        </a:lnSpc>
                        <a:spcAft>
                          <a:spcPts val="2400"/>
                        </a:spcAft>
                        <a:buNone/>
                      </a:pPr>
                      <a:r>
                        <a:rPr lang="en-US" sz="1200" kern="100">
                          <a:effectLst/>
                        </a:rPr>
                        <a:t>Model</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Test Accuracy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OOB Accuracy</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Training Time (s)</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79450291"/>
                  </a:ext>
                </a:extLst>
              </a:tr>
              <a:tr h="415091">
                <a:tc>
                  <a:txBody>
                    <a:bodyPr/>
                    <a:lstStyle/>
                    <a:p>
                      <a:pPr marL="0" marR="0" algn="just">
                        <a:lnSpc>
                          <a:spcPct val="107000"/>
                        </a:lnSpc>
                        <a:spcAft>
                          <a:spcPts val="2400"/>
                        </a:spcAft>
                        <a:buNone/>
                      </a:pPr>
                      <a:r>
                        <a:rPr lang="en-US" sz="1200" kern="100">
                          <a:effectLst/>
                        </a:rPr>
                        <a:t>Random Forest (RF)</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0.8971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0.8507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0.5106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40825026"/>
                  </a:ext>
                </a:extLst>
              </a:tr>
              <a:tr h="415091">
                <a:tc>
                  <a:txBody>
                    <a:bodyPr/>
                    <a:lstStyle/>
                    <a:p>
                      <a:pPr marL="0" marR="0" algn="just">
                        <a:lnSpc>
                          <a:spcPct val="107000"/>
                        </a:lnSpc>
                        <a:spcAft>
                          <a:spcPts val="2400"/>
                        </a:spcAft>
                        <a:buNone/>
                      </a:pPr>
                      <a:r>
                        <a:rPr lang="en-US" sz="1200" kern="100">
                          <a:effectLst/>
                        </a:rPr>
                        <a:t>Decision Tree (DT) Max Depth</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0.8382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N/A</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just">
                        <a:lnSpc>
                          <a:spcPct val="107000"/>
                        </a:lnSpc>
                        <a:spcAft>
                          <a:spcPts val="2400"/>
                        </a:spcAft>
                        <a:buNone/>
                      </a:pPr>
                      <a:r>
                        <a:rPr lang="en-US" sz="1200" kern="100">
                          <a:effectLst/>
                        </a:rPr>
                        <a:t> 0.0070 </a:t>
                      </a:r>
                      <a:endParaRPr lang="en-US" sz="13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31683674"/>
                  </a:ext>
                </a:extLst>
              </a:tr>
            </a:tbl>
          </a:graphicData>
        </a:graphic>
      </p:graphicFrame>
    </p:spTree>
    <p:extLst>
      <p:ext uri="{BB962C8B-B14F-4D97-AF65-F5344CB8AC3E}">
        <p14:creationId xmlns:p14="http://schemas.microsoft.com/office/powerpoint/2010/main" val="22261054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B5532-63D5-218A-6519-99A1FA6A371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F0A66CA-EE7E-D89E-1B82-38A3FC506A14}"/>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E0060510-CCD1-E5B9-9E83-2A8E650AA6C0}"/>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3.3.3 Report_Analysis(RandomForest – Hyperparemeter Ecoil)</a:t>
            </a:r>
            <a:endParaRPr sz="3600" spc="-10" dirty="0"/>
          </a:p>
        </p:txBody>
      </p:sp>
      <p:sp>
        <p:nvSpPr>
          <p:cNvPr id="10" name="object 10">
            <a:extLst>
              <a:ext uri="{FF2B5EF4-FFF2-40B4-BE49-F238E27FC236}">
                <a16:creationId xmlns:a16="http://schemas.microsoft.com/office/drawing/2014/main" id="{2C2B9E04-A106-9731-4168-B212E1825455}"/>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102</a:t>
            </a:fld>
            <a:endParaRPr spc="-25" dirty="0"/>
          </a:p>
        </p:txBody>
      </p:sp>
      <p:sp>
        <p:nvSpPr>
          <p:cNvPr id="6" name="object 3">
            <a:extLst>
              <a:ext uri="{FF2B5EF4-FFF2-40B4-BE49-F238E27FC236}">
                <a16:creationId xmlns:a16="http://schemas.microsoft.com/office/drawing/2014/main" id="{851747A5-E547-AEEB-11D4-AF4EB45D95EF}"/>
              </a:ext>
            </a:extLst>
          </p:cNvPr>
          <p:cNvSpPr txBox="1">
            <a:spLocks/>
          </p:cNvSpPr>
          <p:nvPr/>
        </p:nvSpPr>
        <p:spPr>
          <a:xfrm>
            <a:off x="457200" y="1416299"/>
            <a:ext cx="8148318" cy="2798202"/>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hiệu suất tổng thể và chống quá khớp</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sp>
        <p:nvSpPr>
          <p:cNvPr id="5" name="object 3">
            <a:extLst>
              <a:ext uri="{FF2B5EF4-FFF2-40B4-BE49-F238E27FC236}">
                <a16:creationId xmlns:a16="http://schemas.microsoft.com/office/drawing/2014/main" id="{112951DC-58B6-A035-E7DF-B3C7949BE0D2}"/>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8B2EF034-CCB7-032A-88BB-EB05C5441A15}"/>
              </a:ext>
            </a:extLst>
          </p:cNvPr>
          <p:cNvPicPr>
            <a:picLocks noChangeAspect="1"/>
          </p:cNvPicPr>
          <p:nvPr/>
        </p:nvPicPr>
        <p:blipFill>
          <a:blip r:embed="rId3"/>
          <a:stretch>
            <a:fillRect/>
          </a:stretch>
        </p:blipFill>
        <p:spPr>
          <a:xfrm>
            <a:off x="987445" y="1823516"/>
            <a:ext cx="6736374" cy="3243784"/>
          </a:xfrm>
          <a:prstGeom prst="rect">
            <a:avLst/>
          </a:prstGeom>
        </p:spPr>
      </p:pic>
    </p:spTree>
    <p:extLst>
      <p:ext uri="{BB962C8B-B14F-4D97-AF65-F5344CB8AC3E}">
        <p14:creationId xmlns:p14="http://schemas.microsoft.com/office/powerpoint/2010/main" val="395369036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7CBE2-B0C0-32E5-EE82-7101AB62756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D15F318-1413-9D83-99E8-C16964FE176E}"/>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ED3EEE4D-B7C2-A231-B0E3-3C32CB4AD725}"/>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3.3.3 Report_Analysis(RandomForest – Hyperparemeter Ecoil)</a:t>
            </a:r>
            <a:endParaRPr sz="3600" spc="-10" dirty="0"/>
          </a:p>
        </p:txBody>
      </p:sp>
      <p:sp>
        <p:nvSpPr>
          <p:cNvPr id="10" name="object 10">
            <a:extLst>
              <a:ext uri="{FF2B5EF4-FFF2-40B4-BE49-F238E27FC236}">
                <a16:creationId xmlns:a16="http://schemas.microsoft.com/office/drawing/2014/main" id="{3980BE8A-F47A-D30D-9FAC-AD6376C8872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103</a:t>
            </a:fld>
            <a:endParaRPr spc="-25" dirty="0"/>
          </a:p>
        </p:txBody>
      </p:sp>
      <p:sp>
        <p:nvSpPr>
          <p:cNvPr id="6" name="object 3">
            <a:extLst>
              <a:ext uri="{FF2B5EF4-FFF2-40B4-BE49-F238E27FC236}">
                <a16:creationId xmlns:a16="http://schemas.microsoft.com/office/drawing/2014/main" id="{4358FAE5-BE9D-B6FB-F23F-6FB3A2F66D30}"/>
              </a:ext>
            </a:extLst>
          </p:cNvPr>
          <p:cNvSpPr txBox="1">
            <a:spLocks/>
          </p:cNvSpPr>
          <p:nvPr/>
        </p:nvSpPr>
        <p:spPr>
          <a:xfrm>
            <a:off x="457200" y="1416299"/>
            <a:ext cx="8148318" cy="2798202"/>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hiệu suất tổng thể và chống quá khớp</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sp>
        <p:nvSpPr>
          <p:cNvPr id="5" name="object 3">
            <a:extLst>
              <a:ext uri="{FF2B5EF4-FFF2-40B4-BE49-F238E27FC236}">
                <a16:creationId xmlns:a16="http://schemas.microsoft.com/office/drawing/2014/main" id="{FF2F8C19-4E7A-3C63-1DF3-00983970CA7B}"/>
              </a:ext>
            </a:extLst>
          </p:cNvPr>
          <p:cNvSpPr txBox="1">
            <a:spLocks/>
          </p:cNvSpPr>
          <p:nvPr/>
        </p:nvSpPr>
        <p:spPr>
          <a:xfrm>
            <a:off x="51602" y="4420160"/>
            <a:ext cx="8608060" cy="38215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p:txBody>
      </p:sp>
      <p:pic>
        <p:nvPicPr>
          <p:cNvPr id="8" name="Picture 7">
            <a:extLst>
              <a:ext uri="{FF2B5EF4-FFF2-40B4-BE49-F238E27FC236}">
                <a16:creationId xmlns:a16="http://schemas.microsoft.com/office/drawing/2014/main" id="{634E3DCF-EB74-1499-2C6D-78652677517A}"/>
              </a:ext>
            </a:extLst>
          </p:cNvPr>
          <p:cNvPicPr>
            <a:picLocks noChangeAspect="1"/>
          </p:cNvPicPr>
          <p:nvPr/>
        </p:nvPicPr>
        <p:blipFill>
          <a:blip r:embed="rId3"/>
          <a:stretch>
            <a:fillRect/>
          </a:stretch>
        </p:blipFill>
        <p:spPr>
          <a:xfrm>
            <a:off x="1066800" y="1823517"/>
            <a:ext cx="6400800" cy="3167579"/>
          </a:xfrm>
          <a:prstGeom prst="rect">
            <a:avLst/>
          </a:prstGeom>
        </p:spPr>
      </p:pic>
    </p:spTree>
    <p:extLst>
      <p:ext uri="{BB962C8B-B14F-4D97-AF65-F5344CB8AC3E}">
        <p14:creationId xmlns:p14="http://schemas.microsoft.com/office/powerpoint/2010/main" val="21585186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DDD79-74DB-CF8E-A6A1-96335FCB399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3604053-1293-E513-A7A7-4B7E1257D0F5}"/>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6071BD57-D03D-5AC5-5AB2-65A021CDB6DC}"/>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3.3.3 Report_Analysis(RandomForest – Hyperparemeter Ecoil)</a:t>
            </a:r>
            <a:endParaRPr sz="3600" spc="-10" dirty="0"/>
          </a:p>
        </p:txBody>
      </p:sp>
      <p:sp>
        <p:nvSpPr>
          <p:cNvPr id="10" name="object 10">
            <a:extLst>
              <a:ext uri="{FF2B5EF4-FFF2-40B4-BE49-F238E27FC236}">
                <a16:creationId xmlns:a16="http://schemas.microsoft.com/office/drawing/2014/main" id="{C177DEBD-3FCE-ABD0-F52D-3E6DFBB6086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104</a:t>
            </a:fld>
            <a:endParaRPr spc="-25" dirty="0"/>
          </a:p>
        </p:txBody>
      </p:sp>
      <p:sp>
        <p:nvSpPr>
          <p:cNvPr id="6" name="object 3">
            <a:extLst>
              <a:ext uri="{FF2B5EF4-FFF2-40B4-BE49-F238E27FC236}">
                <a16:creationId xmlns:a16="http://schemas.microsoft.com/office/drawing/2014/main" id="{B1F62BDD-E10A-34E4-A536-46EA5CD5A21C}"/>
              </a:ext>
            </a:extLst>
          </p:cNvPr>
          <p:cNvSpPr txBox="1">
            <a:spLocks/>
          </p:cNvSpPr>
          <p:nvPr/>
        </p:nvSpPr>
        <p:spPr>
          <a:xfrm>
            <a:off x="457200" y="1416299"/>
            <a:ext cx="8148318" cy="2416046"/>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hiệu suất tổng thể và chống quá khớp</a:t>
            </a: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sp>
        <p:nvSpPr>
          <p:cNvPr id="5" name="object 3">
            <a:extLst>
              <a:ext uri="{FF2B5EF4-FFF2-40B4-BE49-F238E27FC236}">
                <a16:creationId xmlns:a16="http://schemas.microsoft.com/office/drawing/2014/main" id="{CC6DD139-B3CD-8260-C22D-CB80E48928DB}"/>
              </a:ext>
            </a:extLst>
          </p:cNvPr>
          <p:cNvSpPr txBox="1">
            <a:spLocks/>
          </p:cNvSpPr>
          <p:nvPr/>
        </p:nvSpPr>
        <p:spPr>
          <a:xfrm>
            <a:off x="592626" y="1767137"/>
            <a:ext cx="8012892" cy="628377"/>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lvl="0"/>
            <a:r>
              <a:rPr lang="en-US" sz="2000" b="1">
                <a:solidFill>
                  <a:schemeClr val="tx1"/>
                </a:solidFill>
                <a:latin typeface="Times New Roman" panose="02020603050405020304" pitchFamily="18" charset="0"/>
                <a:cs typeface="Times New Roman" panose="02020603050405020304" pitchFamily="18" charset="0"/>
              </a:rPr>
              <a:t>OOB Score 0.8507</a:t>
            </a:r>
            <a:r>
              <a:rPr lang="en-US" sz="2000">
                <a:solidFill>
                  <a:schemeClr val="tx1"/>
                </a:solidFill>
                <a:latin typeface="Times New Roman" panose="02020603050405020304" pitchFamily="18" charset="0"/>
                <a:cs typeface="Times New Roman" panose="02020603050405020304" pitchFamily="18" charset="0"/>
              </a:rPr>
              <a:t> gần với Test Accuracy (0.8971), xác nhận rằng RF là một mô hình ổn định và OOB Score là một ước tính lỗi nội tại đáng tin cậy.</a:t>
            </a:r>
          </a:p>
        </p:txBody>
      </p:sp>
      <p:pic>
        <p:nvPicPr>
          <p:cNvPr id="9" name="Picture 8">
            <a:extLst>
              <a:ext uri="{FF2B5EF4-FFF2-40B4-BE49-F238E27FC236}">
                <a16:creationId xmlns:a16="http://schemas.microsoft.com/office/drawing/2014/main" id="{7A93950A-FE16-B216-719C-250187EE5218}"/>
              </a:ext>
            </a:extLst>
          </p:cNvPr>
          <p:cNvPicPr>
            <a:picLocks noChangeAspect="1"/>
          </p:cNvPicPr>
          <p:nvPr/>
        </p:nvPicPr>
        <p:blipFill>
          <a:blip r:embed="rId3"/>
          <a:stretch>
            <a:fillRect/>
          </a:stretch>
        </p:blipFill>
        <p:spPr>
          <a:xfrm>
            <a:off x="1066800" y="2395514"/>
            <a:ext cx="6781800" cy="2747985"/>
          </a:xfrm>
          <a:prstGeom prst="rect">
            <a:avLst/>
          </a:prstGeom>
        </p:spPr>
      </p:pic>
    </p:spTree>
    <p:extLst>
      <p:ext uri="{BB962C8B-B14F-4D97-AF65-F5344CB8AC3E}">
        <p14:creationId xmlns:p14="http://schemas.microsoft.com/office/powerpoint/2010/main" val="23108546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B33C9-7B98-C089-C302-EF9C5B558BD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E25C6FD-C500-9F1C-8FE8-695C0B079D94}"/>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D6070F6F-D9BA-5915-2DD1-A162BB2CA0DE}"/>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3.3.3 Report_Analysis(RandomForest – Hyperparemeter Ecoil)</a:t>
            </a:r>
            <a:endParaRPr sz="3600" spc="-10" dirty="0"/>
          </a:p>
        </p:txBody>
      </p:sp>
      <p:sp>
        <p:nvSpPr>
          <p:cNvPr id="10" name="object 10">
            <a:extLst>
              <a:ext uri="{FF2B5EF4-FFF2-40B4-BE49-F238E27FC236}">
                <a16:creationId xmlns:a16="http://schemas.microsoft.com/office/drawing/2014/main" id="{15BCC0CC-67D4-513C-B0AD-45F089FB8119}"/>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105</a:t>
            </a:fld>
            <a:endParaRPr spc="-25" dirty="0"/>
          </a:p>
        </p:txBody>
      </p:sp>
      <p:sp>
        <p:nvSpPr>
          <p:cNvPr id="6" name="object 3">
            <a:extLst>
              <a:ext uri="{FF2B5EF4-FFF2-40B4-BE49-F238E27FC236}">
                <a16:creationId xmlns:a16="http://schemas.microsoft.com/office/drawing/2014/main" id="{1DE9F137-1607-EDA5-DB2B-BF123BC09C0D}"/>
              </a:ext>
            </a:extLst>
          </p:cNvPr>
          <p:cNvSpPr txBox="1">
            <a:spLocks/>
          </p:cNvSpPr>
          <p:nvPr/>
        </p:nvSpPr>
        <p:spPr>
          <a:xfrm>
            <a:off x="457200" y="1416299"/>
            <a:ext cx="8148318" cy="316753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ảnh hưởng của siêu tham số (Hyperparameter Tuning)</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Ảnh hưởng của estimators(Số lượng cây)</a:t>
            </a:r>
            <a:endParaRPr lang="en-US" sz="24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6793363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DB3AF-8F23-C90C-A397-53A36A99A3E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5C05CEA-75A5-D4B7-FAD3-FA3FDE5A9F32}"/>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01CAAC56-89E4-27A6-3CB7-22469425D3B8}"/>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3.3.3 Report_Analysis(RandomForest – Hyperparemeter Ecoil)</a:t>
            </a:r>
            <a:endParaRPr sz="3600" spc="-10" dirty="0"/>
          </a:p>
        </p:txBody>
      </p:sp>
      <p:sp>
        <p:nvSpPr>
          <p:cNvPr id="10" name="object 10">
            <a:extLst>
              <a:ext uri="{FF2B5EF4-FFF2-40B4-BE49-F238E27FC236}">
                <a16:creationId xmlns:a16="http://schemas.microsoft.com/office/drawing/2014/main" id="{F13AA9E4-2872-7DE6-A8B0-B1740CCB1549}"/>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106</a:t>
            </a:fld>
            <a:endParaRPr spc="-25" dirty="0"/>
          </a:p>
        </p:txBody>
      </p:sp>
      <p:sp>
        <p:nvSpPr>
          <p:cNvPr id="6" name="object 3">
            <a:extLst>
              <a:ext uri="{FF2B5EF4-FFF2-40B4-BE49-F238E27FC236}">
                <a16:creationId xmlns:a16="http://schemas.microsoft.com/office/drawing/2014/main" id="{0CE6E51E-1772-A479-8BE5-F63F61C8C0D8}"/>
              </a:ext>
            </a:extLst>
          </p:cNvPr>
          <p:cNvSpPr txBox="1">
            <a:spLocks/>
          </p:cNvSpPr>
          <p:nvPr/>
        </p:nvSpPr>
        <p:spPr>
          <a:xfrm>
            <a:off x="457200" y="1416299"/>
            <a:ext cx="8148318" cy="3167534"/>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ảnh hưởng của siêu tham số (Hyperparameter Tuning)</a:t>
            </a:r>
          </a:p>
          <a:p>
            <a:pPr marL="355600" indent="-342900">
              <a:spcBef>
                <a:spcPts val="100"/>
              </a:spcBef>
              <a:buFont typeface="Wingdings" panose="05000000000000000000" pitchFamily="2" charset="2"/>
              <a:buChar char="§"/>
            </a:pPr>
            <a:r>
              <a:rPr lang="en-US" sz="2000" b="1" spc="-10">
                <a:solidFill>
                  <a:schemeClr val="tx1"/>
                </a:solidFill>
                <a:latin typeface="Times New Roman" panose="02020603050405020304" pitchFamily="18" charset="0"/>
                <a:cs typeface="Times New Roman" panose="02020603050405020304" pitchFamily="18" charset="0"/>
              </a:rPr>
              <a:t>Ảnh hưởng của max_features (Subspace Sampling) </a:t>
            </a:r>
            <a:endParaRPr lang="en-US" sz="200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17284983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3323C-55DC-EFAF-BB5A-22D60B4CF68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21DB5EA-5AFE-7F61-A7A1-86DCE4CABBD7}"/>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A4DFADC7-4AAB-4A27-0527-178A033DC357}"/>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3.3.3 Report_Analysis(RandomForest – Hyperparemeter Ecoil)</a:t>
            </a:r>
            <a:endParaRPr sz="3600" spc="-10" dirty="0"/>
          </a:p>
        </p:txBody>
      </p:sp>
      <p:sp>
        <p:nvSpPr>
          <p:cNvPr id="10" name="object 10">
            <a:extLst>
              <a:ext uri="{FF2B5EF4-FFF2-40B4-BE49-F238E27FC236}">
                <a16:creationId xmlns:a16="http://schemas.microsoft.com/office/drawing/2014/main" id="{86A05596-364C-7718-DE38-BBF1596E367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107</a:t>
            </a:fld>
            <a:endParaRPr spc="-25" dirty="0"/>
          </a:p>
        </p:txBody>
      </p:sp>
      <p:sp>
        <p:nvSpPr>
          <p:cNvPr id="6" name="object 3">
            <a:extLst>
              <a:ext uri="{FF2B5EF4-FFF2-40B4-BE49-F238E27FC236}">
                <a16:creationId xmlns:a16="http://schemas.microsoft.com/office/drawing/2014/main" id="{9AA74A37-B27A-09C2-0A4C-931CBC70E01C}"/>
              </a:ext>
            </a:extLst>
          </p:cNvPr>
          <p:cNvSpPr txBox="1">
            <a:spLocks/>
          </p:cNvSpPr>
          <p:nvPr/>
        </p:nvSpPr>
        <p:spPr>
          <a:xfrm>
            <a:off x="457200" y="1416299"/>
            <a:ext cx="8148318" cy="1343958"/>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r>
              <a:rPr lang="en-US" sz="20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01DAF1E0-815E-F0A7-712A-78F995D0662B}"/>
              </a:ext>
            </a:extLst>
          </p:cNvPr>
          <p:cNvPicPr>
            <a:picLocks noChangeAspect="1"/>
          </p:cNvPicPr>
          <p:nvPr/>
        </p:nvPicPr>
        <p:blipFill>
          <a:blip r:embed="rId3"/>
          <a:stretch>
            <a:fillRect/>
          </a:stretch>
        </p:blipFill>
        <p:spPr>
          <a:xfrm>
            <a:off x="838200" y="1416299"/>
            <a:ext cx="7315200" cy="3517675"/>
          </a:xfrm>
          <a:prstGeom prst="rect">
            <a:avLst/>
          </a:prstGeom>
        </p:spPr>
      </p:pic>
    </p:spTree>
    <p:extLst>
      <p:ext uri="{BB962C8B-B14F-4D97-AF65-F5344CB8AC3E}">
        <p14:creationId xmlns:p14="http://schemas.microsoft.com/office/powerpoint/2010/main" val="40503454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18A5D-E4D3-2D06-29D3-E41B6D3F5AF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F145782-BB98-654A-CE1E-15D4B6D47CAA}"/>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840B7650-4C48-2D06-0FD9-F056186CEB22}"/>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3.3.3 Report_Analysis(RandomForest – Hyperparemeter Ecoil)</a:t>
            </a:r>
            <a:endParaRPr sz="3600" spc="-10" dirty="0"/>
          </a:p>
        </p:txBody>
      </p:sp>
      <p:sp>
        <p:nvSpPr>
          <p:cNvPr id="10" name="object 10">
            <a:extLst>
              <a:ext uri="{FF2B5EF4-FFF2-40B4-BE49-F238E27FC236}">
                <a16:creationId xmlns:a16="http://schemas.microsoft.com/office/drawing/2014/main" id="{09FA974A-883F-8228-97CC-1BEE3C1A8E9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108</a:t>
            </a:fld>
            <a:endParaRPr spc="-25" dirty="0"/>
          </a:p>
        </p:txBody>
      </p:sp>
      <p:sp>
        <p:nvSpPr>
          <p:cNvPr id="6" name="object 3">
            <a:extLst>
              <a:ext uri="{FF2B5EF4-FFF2-40B4-BE49-F238E27FC236}">
                <a16:creationId xmlns:a16="http://schemas.microsoft.com/office/drawing/2014/main" id="{92CB584A-8061-6F36-E4E0-141AE604B6B4}"/>
              </a:ext>
            </a:extLst>
          </p:cNvPr>
          <p:cNvSpPr txBox="1">
            <a:spLocks/>
          </p:cNvSpPr>
          <p:nvPr/>
        </p:nvSpPr>
        <p:spPr>
          <a:xfrm>
            <a:off x="457200" y="1416299"/>
            <a:ext cx="8148318" cy="4570482"/>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Phân tích ảnh hưởng của siêu tham số (Hyperparameter Tuning)</a:t>
            </a:r>
          </a:p>
          <a:p>
            <a:pPr marL="355600" indent="-342900">
              <a:spcBef>
                <a:spcPts val="100"/>
              </a:spcBef>
              <a:buFont typeface="Wingdings" panose="05000000000000000000" pitchFamily="2" charset="2"/>
              <a:buChar char="§"/>
            </a:pPr>
            <a:r>
              <a:rPr lang="en-US" sz="2000" b="1" spc="-10">
                <a:solidFill>
                  <a:schemeClr val="tx1"/>
                </a:solidFill>
                <a:latin typeface="Times New Roman" panose="02020603050405020304" pitchFamily="18" charset="0"/>
                <a:cs typeface="Times New Roman" panose="02020603050405020304" pitchFamily="18" charset="0"/>
              </a:rPr>
              <a:t>Ảnh hưởng của max_features (Subspace Sampling) </a:t>
            </a:r>
            <a:endParaRPr lang="en-US" sz="2400" b="1" spc="-10">
              <a:solidFill>
                <a:schemeClr val="tx1"/>
              </a:solidFill>
              <a:latin typeface="Times New Roman" panose="02020603050405020304" pitchFamily="18" charset="0"/>
              <a:cs typeface="Times New Roman" panose="02020603050405020304" pitchFamily="18" charset="0"/>
            </a:endParaRPr>
          </a:p>
          <a:p>
            <a:pPr lvl="0"/>
            <a:r>
              <a:rPr lang="en-US" sz="2000" b="1">
                <a:latin typeface="Times New Roman" panose="02020603050405020304" pitchFamily="18" charset="0"/>
                <a:cs typeface="Times New Roman" panose="02020603050405020304" pitchFamily="18" charset="0"/>
              </a:rPr>
              <a:t>	</a:t>
            </a:r>
            <a:r>
              <a:rPr lang="en-US" sz="2000" b="1">
                <a:solidFill>
                  <a:schemeClr val="tx1"/>
                </a:solidFill>
                <a:latin typeface="Times New Roman" panose="02020603050405020304" pitchFamily="18" charset="0"/>
                <a:cs typeface="Times New Roman" panose="02020603050405020304" pitchFamily="18" charset="0"/>
              </a:rPr>
              <a:t>sqrt (RF Default)</a:t>
            </a:r>
            <a:r>
              <a:rPr lang="en-US" sz="2000">
                <a:solidFill>
                  <a:schemeClr val="tx1"/>
                </a:solidFill>
                <a:latin typeface="Times New Roman" panose="02020603050405020304" pitchFamily="18" charset="0"/>
                <a:cs typeface="Times New Roman" panose="02020603050405020304" pitchFamily="18" charset="0"/>
              </a:rPr>
              <a:t> đạt độ chính xác cao nhất (cao hơn </a:t>
            </a:r>
            <a:r>
              <a:rPr lang="en-US" sz="2000" b="1">
                <a:solidFill>
                  <a:schemeClr val="tx1"/>
                </a:solidFill>
                <a:latin typeface="Times New Roman" panose="02020603050405020304" pitchFamily="18" charset="0"/>
                <a:cs typeface="Times New Roman" panose="02020603050405020304" pitchFamily="18" charset="0"/>
              </a:rPr>
              <a:t>Full Features</a:t>
            </a:r>
            <a:r>
              <a:rPr lang="en-US" sz="2000">
                <a:solidFill>
                  <a:schemeClr val="tx1"/>
                </a:solidFill>
                <a:latin typeface="Times New Roman" panose="02020603050405020304" pitchFamily="18" charset="0"/>
                <a:cs typeface="Times New Roman" panose="02020603050405020304" pitchFamily="18" charset="0"/>
              </a:rPr>
              <a:t>).</a:t>
            </a:r>
            <a:endParaRPr lang="en-US" sz="2000" b="1">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Kết luận Subspace Sampling:</a:t>
            </a:r>
            <a:r>
              <a:rPr lang="en-US" sz="2000">
                <a:solidFill>
                  <a:schemeClr val="tx1"/>
                </a:solidFill>
                <a:latin typeface="Times New Roman" panose="02020603050405020304" pitchFamily="18" charset="0"/>
                <a:cs typeface="Times New Roman" panose="02020603050405020304" pitchFamily="18" charset="0"/>
              </a:rPr>
              <a:t> Việc </a:t>
            </a:r>
            <a:r>
              <a:rPr lang="en-US" sz="2000" b="1">
                <a:solidFill>
                  <a:schemeClr val="tx1"/>
                </a:solidFill>
                <a:latin typeface="Times New Roman" panose="02020603050405020304" pitchFamily="18" charset="0"/>
                <a:cs typeface="Times New Roman" panose="02020603050405020304" pitchFamily="18" charset="0"/>
              </a:rPr>
              <a:t>giới hạn ngẫu nhiên</a:t>
            </a:r>
            <a:r>
              <a:rPr lang="en-US" sz="2000">
                <a:solidFill>
                  <a:schemeClr val="tx1"/>
                </a:solidFill>
                <a:latin typeface="Times New Roman" panose="02020603050405020304" pitchFamily="18" charset="0"/>
                <a:cs typeface="Times New Roman" panose="02020603050405020304" pitchFamily="18" charset="0"/>
              </a:rPr>
              <a:t> số lượng đặc trưng tại mỗi nút tách (sqrt hoặc log2) giúp Random Forest đạt hiệu suất cao hơn so với việc sử dụng tất cả đặc trưng (Full Features). Điều này chứng tỏ </a:t>
            </a:r>
            <a:r>
              <a:rPr lang="en-US" sz="2000" b="1">
                <a:solidFill>
                  <a:schemeClr val="tx1"/>
                </a:solidFill>
                <a:latin typeface="Times New Roman" panose="02020603050405020304" pitchFamily="18" charset="0"/>
                <a:cs typeface="Times New Roman" panose="02020603050405020304" pitchFamily="18" charset="0"/>
              </a:rPr>
              <a:t>tính ngẫu nhiên về đặc trưng</a:t>
            </a:r>
            <a:r>
              <a:rPr lang="en-US" sz="2000">
                <a:solidFill>
                  <a:schemeClr val="tx1"/>
                </a:solidFill>
                <a:latin typeface="Times New Roman" panose="02020603050405020304" pitchFamily="18" charset="0"/>
                <a:cs typeface="Times New Roman" panose="02020603050405020304" pitchFamily="18" charset="0"/>
              </a:rPr>
              <a:t> là thành phần quan trọng trong việc giảm sự tương quan giữa các cây, từ đó giảm phương sai và tăng độ chính xác tổng thể.</a:t>
            </a:r>
          </a:p>
          <a:p>
            <a:pPr marL="355600" lvl="1" indent="-342900">
              <a:spcBef>
                <a:spcPts val="100"/>
              </a:spcBef>
              <a:buFont typeface="Wingdings" panose="05000000000000000000" pitchFamily="2" charset="2"/>
              <a:buChar char="§"/>
            </a:pPr>
            <a:endParaRPr lang="en-US" sz="2000" b="1" spc="-10">
              <a:solidFill>
                <a:schemeClr val="tx1"/>
              </a:solidFill>
              <a:latin typeface="Times New Roman" panose="02020603050405020304" pitchFamily="18" charset="0"/>
              <a:cs typeface="Times New Roman" panose="02020603050405020304" pitchFamily="18" charset="0"/>
            </a:endParaRPr>
          </a:p>
          <a:p>
            <a:r>
              <a:rPr lang="en-US" sz="20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9832007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251D0-4CA7-214E-CCD1-8D89C9094D4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DC48869-AB90-BE97-7D0D-69B9DBB1F6F6}"/>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84A80A61-0E89-E6E3-E736-95ED99B9CEB9}"/>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3.3.3 Report_Analysis(RandomForest – Hyperparemeter Ecoil)</a:t>
            </a:r>
            <a:endParaRPr sz="3600" spc="-10" dirty="0"/>
          </a:p>
        </p:txBody>
      </p:sp>
      <p:sp>
        <p:nvSpPr>
          <p:cNvPr id="10" name="object 10">
            <a:extLst>
              <a:ext uri="{FF2B5EF4-FFF2-40B4-BE49-F238E27FC236}">
                <a16:creationId xmlns:a16="http://schemas.microsoft.com/office/drawing/2014/main" id="{9D0CEE37-E32E-84FA-DC14-3E1943D37C78}"/>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109</a:t>
            </a:fld>
            <a:endParaRPr spc="-25" dirty="0"/>
          </a:p>
        </p:txBody>
      </p:sp>
      <p:sp>
        <p:nvSpPr>
          <p:cNvPr id="6" name="object 3">
            <a:extLst>
              <a:ext uri="{FF2B5EF4-FFF2-40B4-BE49-F238E27FC236}">
                <a16:creationId xmlns:a16="http://schemas.microsoft.com/office/drawing/2014/main" id="{5E2E1527-6028-2868-A4F5-B486AE85B6C0}"/>
              </a:ext>
            </a:extLst>
          </p:cNvPr>
          <p:cNvSpPr txBox="1">
            <a:spLocks/>
          </p:cNvSpPr>
          <p:nvPr/>
        </p:nvSpPr>
        <p:spPr>
          <a:xfrm>
            <a:off x="437516" y="1378254"/>
            <a:ext cx="8148318" cy="209544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Trực quan hóa Cơ chế và Nhầm lẫn Phân loại</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Trực quan hóa Cây đơn lẻ (Bagging)</a:t>
            </a:r>
          </a:p>
          <a:p>
            <a:r>
              <a:rPr lang="en-US" sz="20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898FBC8B-1548-7AFC-8E97-75A5DCB5B383}"/>
              </a:ext>
            </a:extLst>
          </p:cNvPr>
          <p:cNvPicPr>
            <a:picLocks noChangeAspect="1"/>
          </p:cNvPicPr>
          <p:nvPr/>
        </p:nvPicPr>
        <p:blipFill>
          <a:blip r:embed="rId3"/>
          <a:stretch>
            <a:fillRect/>
          </a:stretch>
        </p:blipFill>
        <p:spPr>
          <a:xfrm>
            <a:off x="746125" y="2095501"/>
            <a:ext cx="7407275" cy="2895599"/>
          </a:xfrm>
          <a:prstGeom prst="rect">
            <a:avLst/>
          </a:prstGeom>
        </p:spPr>
      </p:pic>
      <p:sp>
        <p:nvSpPr>
          <p:cNvPr id="5" name="TextBox 4">
            <a:extLst>
              <a:ext uri="{FF2B5EF4-FFF2-40B4-BE49-F238E27FC236}">
                <a16:creationId xmlns:a16="http://schemas.microsoft.com/office/drawing/2014/main" id="{EA59ECEA-4245-FC40-675B-0CFE563D0E1E}"/>
              </a:ext>
            </a:extLst>
          </p:cNvPr>
          <p:cNvSpPr txBox="1"/>
          <p:nvPr/>
        </p:nvSpPr>
        <p:spPr>
          <a:xfrm>
            <a:off x="609600" y="4305300"/>
            <a:ext cx="780415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21102145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A5ED6-EF61-A46D-4134-8138F0F7C0D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C871535-25C1-B97D-0389-962C67ADEEC2}"/>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CE6B3862-2107-EAE9-DB92-62D83B726681}"/>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3.3.3 Report_Analysis(RandomForest – Hyperparemeter Ecoil)</a:t>
            </a:r>
            <a:endParaRPr sz="3600" spc="-10" dirty="0"/>
          </a:p>
        </p:txBody>
      </p:sp>
      <p:sp>
        <p:nvSpPr>
          <p:cNvPr id="10" name="object 10">
            <a:extLst>
              <a:ext uri="{FF2B5EF4-FFF2-40B4-BE49-F238E27FC236}">
                <a16:creationId xmlns:a16="http://schemas.microsoft.com/office/drawing/2014/main" id="{54CC1F33-1161-59C4-9C91-04C8710CC1E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110</a:t>
            </a:fld>
            <a:endParaRPr spc="-25" dirty="0"/>
          </a:p>
        </p:txBody>
      </p:sp>
      <p:sp>
        <p:nvSpPr>
          <p:cNvPr id="6" name="object 3">
            <a:extLst>
              <a:ext uri="{FF2B5EF4-FFF2-40B4-BE49-F238E27FC236}">
                <a16:creationId xmlns:a16="http://schemas.microsoft.com/office/drawing/2014/main" id="{2BAF809F-6AA7-278B-C5D0-7D480714240C}"/>
              </a:ext>
            </a:extLst>
          </p:cNvPr>
          <p:cNvSpPr txBox="1">
            <a:spLocks/>
          </p:cNvSpPr>
          <p:nvPr/>
        </p:nvSpPr>
        <p:spPr>
          <a:xfrm>
            <a:off x="457200" y="1416299"/>
            <a:ext cx="8148318" cy="209544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Trực quan hóa Cơ chế và Nhầm lẫn Phân loại</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Trực quan hóa Cây đơn lẻ (Bagging)</a:t>
            </a:r>
          </a:p>
          <a:p>
            <a:r>
              <a:rPr lang="en-US" sz="20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09FEAEE5-34D2-CBC2-48CA-ED6C97CD5644}"/>
              </a:ext>
            </a:extLst>
          </p:cNvPr>
          <p:cNvSpPr txBox="1"/>
          <p:nvPr/>
        </p:nvSpPr>
        <p:spPr>
          <a:xfrm>
            <a:off x="770888" y="2303502"/>
            <a:ext cx="7804150" cy="1631216"/>
          </a:xfrm>
          <a:prstGeom prst="rect">
            <a:avLst/>
          </a:prstGeom>
          <a:noFill/>
        </p:spPr>
        <p:txBody>
          <a:bodyPr wrap="square" rtlCol="0">
            <a:spAutoFit/>
          </a:bodyPr>
          <a:lstStyle/>
          <a:p>
            <a:pPr lvl="0"/>
            <a:r>
              <a:rPr lang="en-US" sz="2000" b="1"/>
              <a:t>Tính đơn giản:</a:t>
            </a:r>
            <a:r>
              <a:rPr lang="en-US" sz="2000"/>
              <a:t> Với Max Depth 3, cây này là một bộ phân loại yếu.</a:t>
            </a:r>
          </a:p>
          <a:p>
            <a:pPr lvl="0"/>
            <a:r>
              <a:rPr lang="en-US" sz="2000" b="1"/>
              <a:t>Cơ chế Tổng hợp:</a:t>
            </a:r>
            <a:r>
              <a:rPr lang="en-US" sz="2000"/>
              <a:t> Biểu đồ này giúp giải thích trực quan rằng độ chính xác cao của RF đạt được nhờ </a:t>
            </a:r>
            <a:r>
              <a:rPr lang="en-US" sz="2000" b="1"/>
              <a:t>bỏ phiếu</a:t>
            </a:r>
            <a:r>
              <a:rPr lang="en-US" sz="2000"/>
              <a:t> của  100  cây đơn giản và đa dạng như thế này.</a:t>
            </a:r>
          </a:p>
          <a:p>
            <a:endParaRPr lang="en-US" sz="2000"/>
          </a:p>
        </p:txBody>
      </p:sp>
    </p:spTree>
    <p:extLst>
      <p:ext uri="{BB962C8B-B14F-4D97-AF65-F5344CB8AC3E}">
        <p14:creationId xmlns:p14="http://schemas.microsoft.com/office/powerpoint/2010/main" val="382638376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47E80-F5D9-27EE-CB89-68D3818E32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F485D67-7B70-1A0C-AE1E-BA7A028ED570}"/>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40AEC3BF-1C07-D0C5-4B67-D717ABAE1738}"/>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3.3.3 Report_Analysis(RandomForest – Hyperparemeter Ecoil)</a:t>
            </a:r>
            <a:endParaRPr sz="3600" spc="-10" dirty="0"/>
          </a:p>
        </p:txBody>
      </p:sp>
      <p:sp>
        <p:nvSpPr>
          <p:cNvPr id="10" name="object 10">
            <a:extLst>
              <a:ext uri="{FF2B5EF4-FFF2-40B4-BE49-F238E27FC236}">
                <a16:creationId xmlns:a16="http://schemas.microsoft.com/office/drawing/2014/main" id="{D1ECA461-CF29-22BF-BFF2-10B7D9F18460}"/>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111</a:t>
            </a:fld>
            <a:endParaRPr spc="-25" dirty="0"/>
          </a:p>
        </p:txBody>
      </p:sp>
      <p:sp>
        <p:nvSpPr>
          <p:cNvPr id="6" name="object 3">
            <a:extLst>
              <a:ext uri="{FF2B5EF4-FFF2-40B4-BE49-F238E27FC236}">
                <a16:creationId xmlns:a16="http://schemas.microsoft.com/office/drawing/2014/main" id="{224CC90D-5523-AE5C-B6BD-458EC6046970}"/>
              </a:ext>
            </a:extLst>
          </p:cNvPr>
          <p:cNvSpPr txBox="1">
            <a:spLocks/>
          </p:cNvSpPr>
          <p:nvPr/>
        </p:nvSpPr>
        <p:spPr>
          <a:xfrm>
            <a:off x="457200" y="1416299"/>
            <a:ext cx="8148318" cy="209544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Trực quan hóa Cơ chế và Nhầm lẫn Phân loại</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Phân tích ma trận nhầm lẫn </a:t>
            </a:r>
          </a:p>
          <a:p>
            <a:r>
              <a:rPr lang="en-US" sz="20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815D671B-FF94-2FDD-8BDE-E31157BA0CC1}"/>
              </a:ext>
            </a:extLst>
          </p:cNvPr>
          <p:cNvPicPr>
            <a:picLocks noChangeAspect="1"/>
          </p:cNvPicPr>
          <p:nvPr/>
        </p:nvPicPr>
        <p:blipFill>
          <a:blip r:embed="rId3"/>
          <a:stretch>
            <a:fillRect/>
          </a:stretch>
        </p:blipFill>
        <p:spPr>
          <a:xfrm>
            <a:off x="1752600" y="2171700"/>
            <a:ext cx="5105400" cy="2971797"/>
          </a:xfrm>
          <a:prstGeom prst="rect">
            <a:avLst/>
          </a:prstGeom>
        </p:spPr>
      </p:pic>
    </p:spTree>
    <p:extLst>
      <p:ext uri="{BB962C8B-B14F-4D97-AF65-F5344CB8AC3E}">
        <p14:creationId xmlns:p14="http://schemas.microsoft.com/office/powerpoint/2010/main" val="27664327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9C999-B871-577B-36D0-46974064D19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1100357-7411-38EE-73EF-0557FC0A098E}"/>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1B1AAC7C-EA46-B7A3-F28F-1867192465F6}"/>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3.3.3 Report_Analysis(RandomForest – Hyperparemeter Ecoil)</a:t>
            </a:r>
            <a:endParaRPr sz="3600" spc="-10" dirty="0"/>
          </a:p>
        </p:txBody>
      </p:sp>
      <p:sp>
        <p:nvSpPr>
          <p:cNvPr id="10" name="object 10">
            <a:extLst>
              <a:ext uri="{FF2B5EF4-FFF2-40B4-BE49-F238E27FC236}">
                <a16:creationId xmlns:a16="http://schemas.microsoft.com/office/drawing/2014/main" id="{12E4AE68-B2C2-7A9D-8EE8-AE01CB2E54F4}"/>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112</a:t>
            </a:fld>
            <a:endParaRPr spc="-25" dirty="0"/>
          </a:p>
        </p:txBody>
      </p:sp>
      <p:sp>
        <p:nvSpPr>
          <p:cNvPr id="6" name="object 3">
            <a:extLst>
              <a:ext uri="{FF2B5EF4-FFF2-40B4-BE49-F238E27FC236}">
                <a16:creationId xmlns:a16="http://schemas.microsoft.com/office/drawing/2014/main" id="{DCFF476F-5D0B-90BB-CDB0-0592688834B9}"/>
              </a:ext>
            </a:extLst>
          </p:cNvPr>
          <p:cNvSpPr txBox="1">
            <a:spLocks/>
          </p:cNvSpPr>
          <p:nvPr/>
        </p:nvSpPr>
        <p:spPr>
          <a:xfrm>
            <a:off x="457200" y="1416299"/>
            <a:ext cx="8148318" cy="2095445"/>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Trực quan hóa Cơ chế và Nhầm lẫn Phân loại</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Phân tích ma trận nhầm lẫn </a:t>
            </a:r>
          </a:p>
          <a:p>
            <a:r>
              <a:rPr lang="en-US" sz="2000" b="1">
                <a:solidFill>
                  <a:schemeClr val="tx1"/>
                </a:solidFill>
                <a:latin typeface="Times New Roman" panose="02020603050405020304" pitchFamily="18" charset="0"/>
                <a:cs typeface="Times New Roman" panose="02020603050405020304" pitchFamily="18" charset="0"/>
              </a:rPr>
              <a:t>	</a:t>
            </a: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2400" b="1" spc="-10">
                <a:solidFill>
                  <a:schemeClr val="tx1"/>
                </a:solidFill>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pic>
        <p:nvPicPr>
          <p:cNvPr id="8" name="Picture 7">
            <a:extLst>
              <a:ext uri="{FF2B5EF4-FFF2-40B4-BE49-F238E27FC236}">
                <a16:creationId xmlns:a16="http://schemas.microsoft.com/office/drawing/2014/main" id="{11B08F16-E682-5A88-C719-E3F3D91A26D9}"/>
              </a:ext>
            </a:extLst>
          </p:cNvPr>
          <p:cNvPicPr>
            <a:picLocks noChangeAspect="1"/>
          </p:cNvPicPr>
          <p:nvPr/>
        </p:nvPicPr>
        <p:blipFill>
          <a:blip r:embed="rId3"/>
          <a:stretch>
            <a:fillRect/>
          </a:stretch>
        </p:blipFill>
        <p:spPr>
          <a:xfrm>
            <a:off x="1981200" y="2171700"/>
            <a:ext cx="4648200" cy="2971799"/>
          </a:xfrm>
          <a:prstGeom prst="rect">
            <a:avLst/>
          </a:prstGeom>
        </p:spPr>
      </p:pic>
    </p:spTree>
    <p:extLst>
      <p:ext uri="{BB962C8B-B14F-4D97-AF65-F5344CB8AC3E}">
        <p14:creationId xmlns:p14="http://schemas.microsoft.com/office/powerpoint/2010/main" val="220988335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02355-46F2-439A-4E8F-D995919B096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4DA2176-D078-4EFD-0A98-CD5EEC3BDB8A}"/>
              </a:ext>
            </a:extLst>
          </p:cNvPr>
          <p:cNvSpPr/>
          <p:nvPr/>
        </p:nvSpPr>
        <p:spPr>
          <a:xfrm>
            <a:off x="457200" y="5143500"/>
            <a:ext cx="8229600" cy="0"/>
          </a:xfrm>
          <a:custGeom>
            <a:avLst/>
            <a:gdLst/>
            <a:ahLst/>
            <a:cxnLst/>
            <a:rect l="l" t="t" r="r" b="b"/>
            <a:pathLst>
              <a:path w="8229600">
                <a:moveTo>
                  <a:pt x="0" y="0"/>
                </a:moveTo>
                <a:lnTo>
                  <a:pt x="8229600" y="0"/>
                </a:lnTo>
              </a:path>
            </a:pathLst>
          </a:custGeom>
          <a:ln w="19050">
            <a:solidFill>
              <a:srgbClr val="CC9900"/>
            </a:solidFill>
          </a:ln>
        </p:spPr>
        <p:txBody>
          <a:bodyPr wrap="square" lIns="0" tIns="0" rIns="0" bIns="0" rtlCol="0"/>
          <a:lstStyle/>
          <a:p>
            <a:endParaRPr/>
          </a:p>
        </p:txBody>
      </p:sp>
      <p:sp>
        <p:nvSpPr>
          <p:cNvPr id="3" name="object 3">
            <a:extLst>
              <a:ext uri="{FF2B5EF4-FFF2-40B4-BE49-F238E27FC236}">
                <a16:creationId xmlns:a16="http://schemas.microsoft.com/office/drawing/2014/main" id="{40DFDEB3-CCF7-3BC4-29F1-2D7845E9C2E0}"/>
              </a:ext>
            </a:extLst>
          </p:cNvPr>
          <p:cNvSpPr txBox="1">
            <a:spLocks noGrp="1"/>
          </p:cNvSpPr>
          <p:nvPr>
            <p:ph type="title"/>
          </p:nvPr>
        </p:nvSpPr>
        <p:spPr>
          <a:xfrm>
            <a:off x="457200" y="295479"/>
            <a:ext cx="8608060" cy="1120820"/>
          </a:xfrm>
          <a:prstGeom prst="rect">
            <a:avLst/>
          </a:prstGeom>
        </p:spPr>
        <p:txBody>
          <a:bodyPr vert="horz" wrap="square" lIns="0" tIns="12700" rIns="0" bIns="0" rtlCol="0">
            <a:spAutoFit/>
          </a:bodyPr>
          <a:lstStyle/>
          <a:p>
            <a:pPr marL="12700">
              <a:lnSpc>
                <a:spcPct val="100000"/>
              </a:lnSpc>
              <a:spcBef>
                <a:spcPts val="100"/>
              </a:spcBef>
            </a:pPr>
            <a:r>
              <a:rPr lang="en-US" sz="3600" spc="-10"/>
              <a:t>3.3.3 Report_Analysis(RandomForest – Hyperparemeter Ecoil)</a:t>
            </a:r>
            <a:endParaRPr sz="3600" spc="-10" dirty="0"/>
          </a:p>
        </p:txBody>
      </p:sp>
      <p:sp>
        <p:nvSpPr>
          <p:cNvPr id="10" name="object 10">
            <a:extLst>
              <a:ext uri="{FF2B5EF4-FFF2-40B4-BE49-F238E27FC236}">
                <a16:creationId xmlns:a16="http://schemas.microsoft.com/office/drawing/2014/main" id="{F61A3F50-EEFA-50B4-086F-B7B5DB594A4F}"/>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25" dirty="0"/>
              <a:t>113</a:t>
            </a:fld>
            <a:endParaRPr spc="-25" dirty="0"/>
          </a:p>
        </p:txBody>
      </p:sp>
      <p:sp>
        <p:nvSpPr>
          <p:cNvPr id="6" name="object 3">
            <a:extLst>
              <a:ext uri="{FF2B5EF4-FFF2-40B4-BE49-F238E27FC236}">
                <a16:creationId xmlns:a16="http://schemas.microsoft.com/office/drawing/2014/main" id="{89B71E89-0982-2A6D-7FFF-5241110917BE}"/>
              </a:ext>
            </a:extLst>
          </p:cNvPr>
          <p:cNvSpPr txBox="1">
            <a:spLocks/>
          </p:cNvSpPr>
          <p:nvPr/>
        </p:nvSpPr>
        <p:spPr>
          <a:xfrm>
            <a:off x="497841" y="1454399"/>
            <a:ext cx="8148318" cy="4847481"/>
          </a:xfrm>
          <a:prstGeom prst="rect">
            <a:avLst/>
          </a:prstGeom>
        </p:spPr>
        <p:txBody>
          <a:bodyPr vert="horz" wrap="square" lIns="0" tIns="12700" rIns="0" bIns="0" rtlCol="0">
            <a:spAutoFit/>
          </a:bodyPr>
          <a:lstStyle>
            <a:lvl1pPr>
              <a:defRPr sz="4200" b="0" i="0">
                <a:solidFill>
                  <a:srgbClr val="006633"/>
                </a:solidFill>
                <a:latin typeface="Arial"/>
                <a:ea typeface="+mj-ea"/>
                <a:cs typeface="Arial"/>
              </a:defRPr>
            </a:lvl1pPr>
          </a:lstStyle>
          <a:p>
            <a:pPr marL="584200" indent="-571500">
              <a:spcBef>
                <a:spcPts val="100"/>
              </a:spcBef>
              <a:buFont typeface="Wingdings" panose="05000000000000000000" pitchFamily="2" charset="2"/>
              <a:buChar char="q"/>
            </a:pPr>
            <a:r>
              <a:rPr lang="en-US" sz="2400" b="1" spc="-10">
                <a:solidFill>
                  <a:schemeClr val="tx1"/>
                </a:solidFill>
                <a:latin typeface="Times New Roman" panose="02020603050405020304" pitchFamily="18" charset="0"/>
                <a:cs typeface="Times New Roman" panose="02020603050405020304" pitchFamily="18" charset="0"/>
              </a:rPr>
              <a:t>Trực quan hóa Cơ chế và Nhầm lẫn Phân loại</a:t>
            </a:r>
          </a:p>
          <a:p>
            <a:pPr marL="355600" indent="-342900">
              <a:spcBef>
                <a:spcPts val="100"/>
              </a:spcBef>
              <a:buFont typeface="Wingdings" panose="05000000000000000000" pitchFamily="2" charset="2"/>
              <a:buChar char="§"/>
            </a:pPr>
            <a:r>
              <a:rPr lang="en-US" sz="2400" b="1" spc="-10">
                <a:solidFill>
                  <a:schemeClr val="tx1"/>
                </a:solidFill>
                <a:latin typeface="Times New Roman" panose="02020603050405020304" pitchFamily="18" charset="0"/>
                <a:cs typeface="Times New Roman" panose="02020603050405020304" pitchFamily="18" charset="0"/>
              </a:rPr>
              <a:t>Phân tích ma trận nhầm lẫn </a:t>
            </a:r>
          </a:p>
          <a:p>
            <a:pPr marL="355600" indent="-342900">
              <a:spcBef>
                <a:spcPts val="100"/>
              </a:spcBef>
              <a:buFont typeface="Arial" panose="020B0604020202020204" pitchFamily="34" charset="0"/>
              <a:buChar char="•"/>
            </a:pPr>
            <a:r>
              <a:rPr lang="en-US" sz="2200" b="1">
                <a:solidFill>
                  <a:schemeClr val="tx1"/>
                </a:solidFill>
                <a:latin typeface="Times New Roman" panose="02020603050405020304" pitchFamily="18" charset="0"/>
                <a:cs typeface="Times New Roman" panose="02020603050405020304" pitchFamily="18" charset="0"/>
              </a:rPr>
              <a:t>Lớp 0 (Actual 0):</a:t>
            </a:r>
            <a:r>
              <a:rPr lang="en-US" sz="2200">
                <a:solidFill>
                  <a:schemeClr val="tx1"/>
                </a:solidFill>
                <a:latin typeface="Times New Roman" panose="02020603050405020304" pitchFamily="18" charset="0"/>
                <a:cs typeface="Times New Roman" panose="02020603050405020304" pitchFamily="18" charset="0"/>
              </a:rPr>
              <a:t> Cả hai mô hình đều dự đoán </a:t>
            </a:r>
            <a:r>
              <a:rPr lang="en-US" sz="2200" b="1">
                <a:solidFill>
                  <a:schemeClr val="tx1"/>
                </a:solidFill>
                <a:latin typeface="Times New Roman" panose="02020603050405020304" pitchFamily="18" charset="0"/>
                <a:cs typeface="Times New Roman" panose="02020603050405020304" pitchFamily="18" charset="0"/>
              </a:rPr>
              <a:t>29/29</a:t>
            </a:r>
            <a:r>
              <a:rPr lang="en-US" sz="2200">
                <a:solidFill>
                  <a:schemeClr val="tx1"/>
                </a:solidFill>
                <a:latin typeface="Times New Roman" panose="02020603050405020304" pitchFamily="18" charset="0"/>
                <a:cs typeface="Times New Roman" panose="02020603050405020304" pitchFamily="18" charset="0"/>
              </a:rPr>
              <a:t> mẫu đúng.</a:t>
            </a:r>
          </a:p>
          <a:p>
            <a:pPr marL="342900" lvl="0" indent="-342900">
              <a:buFont typeface="Arial" panose="020B0604020202020204" pitchFamily="34" charset="0"/>
              <a:buChar char="•"/>
            </a:pPr>
            <a:r>
              <a:rPr lang="en-US" sz="2200" b="1">
                <a:solidFill>
                  <a:schemeClr val="tx1"/>
                </a:solidFill>
                <a:latin typeface="Times New Roman" panose="02020603050405020304" pitchFamily="18" charset="0"/>
                <a:cs typeface="Times New Roman" panose="02020603050405020304" pitchFamily="18" charset="0"/>
              </a:rPr>
              <a:t>Lớp 1 (Actual 1):</a:t>
            </a:r>
            <a:r>
              <a:rPr lang="en-US" sz="2200">
                <a:solidFill>
                  <a:schemeClr val="tx1"/>
                </a:solidFill>
                <a:latin typeface="Times New Roman" panose="02020603050405020304" pitchFamily="18" charset="0"/>
                <a:cs typeface="Times New Roman" panose="02020603050405020304" pitchFamily="18" charset="0"/>
              </a:rPr>
              <a:t> RF dự đoán đúng </a:t>
            </a:r>
            <a:r>
              <a:rPr lang="en-US" sz="2200" b="1">
                <a:solidFill>
                  <a:schemeClr val="tx1"/>
                </a:solidFill>
                <a:latin typeface="Times New Roman" panose="02020603050405020304" pitchFamily="18" charset="0"/>
                <a:cs typeface="Times New Roman" panose="02020603050405020304" pitchFamily="18" charset="0"/>
              </a:rPr>
              <a:t>12</a:t>
            </a:r>
            <a:r>
              <a:rPr lang="en-US" sz="2200">
                <a:solidFill>
                  <a:schemeClr val="tx1"/>
                </a:solidFill>
                <a:latin typeface="Times New Roman" panose="02020603050405020304" pitchFamily="18" charset="0"/>
                <a:cs typeface="Times New Roman" panose="02020603050405020304" pitchFamily="18" charset="0"/>
              </a:rPr>
              <a:t> mẫu (lỗi 4 mẫu) trong khi DT chỉ đúng </a:t>
            </a:r>
            <a:r>
              <a:rPr lang="en-US" sz="2200" b="1">
                <a:solidFill>
                  <a:schemeClr val="tx1"/>
                </a:solidFill>
                <a:latin typeface="Times New Roman" panose="02020603050405020304" pitchFamily="18" charset="0"/>
                <a:cs typeface="Times New Roman" panose="02020603050405020304" pitchFamily="18" charset="0"/>
              </a:rPr>
              <a:t>10</a:t>
            </a:r>
            <a:r>
              <a:rPr lang="en-US" sz="2200">
                <a:solidFill>
                  <a:schemeClr val="tx1"/>
                </a:solidFill>
                <a:latin typeface="Times New Roman" panose="02020603050405020304" pitchFamily="18" charset="0"/>
                <a:cs typeface="Times New Roman" panose="02020603050405020304" pitchFamily="18" charset="0"/>
              </a:rPr>
              <a:t> mẫu (lỗi 6 mẫu). RF giảm lỗi ở lớp khó này.</a:t>
            </a:r>
          </a:p>
          <a:p>
            <a:pPr marL="342900" lvl="0" indent="-342900">
              <a:buFont typeface="Arial" panose="020B0604020202020204" pitchFamily="34" charset="0"/>
              <a:buChar char="•"/>
            </a:pPr>
            <a:r>
              <a:rPr lang="en-US" sz="2200" b="1">
                <a:solidFill>
                  <a:schemeClr val="tx1"/>
                </a:solidFill>
                <a:latin typeface="Times New Roman" panose="02020603050405020304" pitchFamily="18" charset="0"/>
                <a:cs typeface="Times New Roman" panose="02020603050405020304" pitchFamily="18" charset="0"/>
              </a:rPr>
              <a:t>Lớp 4 (Actual 4):</a:t>
            </a:r>
            <a:r>
              <a:rPr lang="en-US" sz="2200">
                <a:solidFill>
                  <a:schemeClr val="tx1"/>
                </a:solidFill>
                <a:latin typeface="Times New Roman" panose="02020603050405020304" pitchFamily="18" charset="0"/>
                <a:cs typeface="Times New Roman" panose="02020603050405020304" pitchFamily="18" charset="0"/>
              </a:rPr>
              <a:t> RF dự đoán đúng </a:t>
            </a:r>
            <a:r>
              <a:rPr lang="en-US" sz="2200" b="1">
                <a:solidFill>
                  <a:schemeClr val="tx1"/>
                </a:solidFill>
                <a:latin typeface="Times New Roman" panose="02020603050405020304" pitchFamily="18" charset="0"/>
                <a:cs typeface="Times New Roman" panose="02020603050405020304" pitchFamily="18" charset="0"/>
              </a:rPr>
              <a:t>5</a:t>
            </a:r>
            <a:r>
              <a:rPr lang="en-US" sz="2200">
                <a:solidFill>
                  <a:schemeClr val="tx1"/>
                </a:solidFill>
                <a:latin typeface="Times New Roman" panose="02020603050405020304" pitchFamily="18" charset="0"/>
                <a:cs typeface="Times New Roman" panose="02020603050405020304" pitchFamily="18" charset="0"/>
              </a:rPr>
              <a:t> mẫu, DT dự đoán đúng </a:t>
            </a:r>
            <a:r>
              <a:rPr lang="en-US" sz="2200" b="1">
                <a:solidFill>
                  <a:schemeClr val="tx1"/>
                </a:solidFill>
                <a:latin typeface="Times New Roman" panose="02020603050405020304" pitchFamily="18" charset="0"/>
                <a:cs typeface="Times New Roman" panose="02020603050405020304" pitchFamily="18" charset="0"/>
              </a:rPr>
              <a:t>3</a:t>
            </a:r>
            <a:r>
              <a:rPr lang="en-US" sz="2200">
                <a:solidFill>
                  <a:schemeClr val="tx1"/>
                </a:solidFill>
                <a:latin typeface="Times New Roman" panose="02020603050405020304" pitchFamily="18" charset="0"/>
                <a:cs typeface="Times New Roman" panose="02020603050405020304" pitchFamily="18" charset="0"/>
              </a:rPr>
              <a:t> mẫu.</a:t>
            </a:r>
          </a:p>
          <a:p>
            <a:r>
              <a:rPr lang="en-US" sz="2200" b="1">
                <a:solidFill>
                  <a:schemeClr val="tx1"/>
                </a:solidFill>
                <a:latin typeface="Times New Roman" panose="02020603050405020304" pitchFamily="18" charset="0"/>
                <a:cs typeface="Times New Roman" panose="02020603050405020304" pitchFamily="18" charset="0"/>
              </a:rPr>
              <a:t>Kết luận:</a:t>
            </a:r>
            <a:r>
              <a:rPr lang="en-US" sz="2200">
                <a:solidFill>
                  <a:schemeClr val="tx1"/>
                </a:solidFill>
                <a:latin typeface="Times New Roman" panose="02020603050405020304" pitchFamily="18" charset="0"/>
                <a:cs typeface="Times New Roman" panose="02020603050405020304" pitchFamily="18" charset="0"/>
              </a:rPr>
              <a:t> Ma trận RF có </a:t>
            </a:r>
            <a:r>
              <a:rPr lang="en-US" sz="2200" b="1">
                <a:solidFill>
                  <a:schemeClr val="tx1"/>
                </a:solidFill>
                <a:latin typeface="Times New Roman" panose="02020603050405020304" pitchFamily="18" charset="0"/>
                <a:cs typeface="Times New Roman" panose="02020603050405020304" pitchFamily="18" charset="0"/>
              </a:rPr>
              <a:t>ít lỗi False Negative (FN)</a:t>
            </a:r>
            <a:r>
              <a:rPr lang="en-US" sz="2200">
                <a:solidFill>
                  <a:schemeClr val="tx1"/>
                </a:solidFill>
                <a:latin typeface="Times New Roman" panose="02020603050405020304" pitchFamily="18" charset="0"/>
                <a:cs typeface="Times New Roman" panose="02020603050405020304" pitchFamily="18" charset="0"/>
              </a:rPr>
              <a:t> hơn DT (tổng số lỗi ngoài đường chéo chính thấp hơn). Điều này xác nhận rằng RF giảm được sự nhầm lẫn và tăng cường khả năng phân loại tổng thể, đặc biệt ở các lớp thiểu số.</a:t>
            </a:r>
          </a:p>
          <a:p>
            <a:r>
              <a:rPr lang="en-US" sz="2200">
                <a:latin typeface="Times New Roman" panose="02020603050405020304" pitchFamily="18" charset="0"/>
                <a:cs typeface="Times New Roman" panose="02020603050405020304" pitchFamily="18" charset="0"/>
              </a:rPr>
              <a:t> </a:t>
            </a: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endParaRPr lang="en-US" sz="2400" b="1" spc="-10">
              <a:solidFill>
                <a:schemeClr val="tx1"/>
              </a:solidFill>
              <a:latin typeface="Times New Roman" panose="02020603050405020304" pitchFamily="18" charset="0"/>
              <a:cs typeface="Times New Roman" panose="02020603050405020304" pitchFamily="18" charset="0"/>
            </a:endParaRPr>
          </a:p>
          <a:p>
            <a:pPr marL="12700">
              <a:spcBef>
                <a:spcPts val="100"/>
              </a:spcBef>
            </a:pPr>
            <a:r>
              <a:rPr lang="en-US" sz="1600" b="1">
                <a:solidFill>
                  <a:schemeClr val="tx1"/>
                </a:solidFill>
                <a:latin typeface="Times New Roman" panose="02020603050405020304" pitchFamily="18" charset="0"/>
                <a:cs typeface="Times New Roman" panose="02020603050405020304" pitchFamily="18" charset="0"/>
              </a:rPr>
              <a:t>	</a:t>
            </a:r>
            <a:r>
              <a:rPr lang="en-US" sz="1600" b="1" spc="-1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184432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456</TotalTime>
  <Words>8996</Words>
  <Application>Microsoft Office PowerPoint</Application>
  <PresentationFormat>On-screen Show (16:10)</PresentationFormat>
  <Paragraphs>1544</Paragraphs>
  <Slides>113</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113</vt:i4>
      </vt:variant>
    </vt:vector>
  </HeadingPairs>
  <TitlesOfParts>
    <vt:vector size="121" baseType="lpstr">
      <vt:lpstr>Arial</vt:lpstr>
      <vt:lpstr>Calibri</vt:lpstr>
      <vt:lpstr>Cambria Math</vt:lpstr>
      <vt:lpstr>Courier New</vt:lpstr>
      <vt:lpstr>Garamond</vt:lpstr>
      <vt:lpstr>Times New Roman</vt:lpstr>
      <vt:lpstr>Wingdings</vt:lpstr>
      <vt:lpstr>Office Theme</vt:lpstr>
      <vt:lpstr>GIẢI THUẬT RANDOM FOREST</vt:lpstr>
      <vt:lpstr>NỘI DUNG TRÌNH BÀY:  1. CƠ SỞ LÝ THUYẾT VỀ KỸ THUẬT ENSEMBLE LEARNING – BAGGING  2. GIẢI THUẬT RỪNG NGẪU NHIÊN-RANDOM FOREST  3. DEMO</vt:lpstr>
      <vt:lpstr>1. CƠ SỞ LÝ THUYẾT VỀ KỸ THUẬT ENSEMBLE LEARNING – BAGGING 1.1. Boosstraping 1.2. Bagging 1.3. Bagging Prediction  1.4. Out of bag (OOB) Instances 1.5. 1.5 Baggging Ensemble Learing Using Decision Tree 1.6. Ưu, nhược điểm </vt:lpstr>
      <vt:lpstr>1. CƠ SỞ LÝ THUYẾT VỀ KỸ THUẬT ENSEMBLE LEARNING – BAGGING 1.1. Boostraping: 1.1.1. Boostraping là gì?</vt:lpstr>
      <vt:lpstr>1.1.2. Ví dụ về Boostraping:</vt:lpstr>
      <vt:lpstr>1.1.2. Ví dụ về Boostraping:</vt:lpstr>
      <vt:lpstr>1.1.3. Tóm lại:</vt:lpstr>
      <vt:lpstr>1.2. Bagging: 1.2.1. Khái niệm:</vt:lpstr>
      <vt:lpstr>1.2.2. Ví dụ khác:</vt:lpstr>
      <vt:lpstr>1.2.3. Tóm lại:</vt:lpstr>
      <vt:lpstr>1.3. Bagging Prediction (Dự đoán)</vt:lpstr>
      <vt:lpstr>1.3. Bagging Prediction (Dự đoán)</vt:lpstr>
      <vt:lpstr>1.4. Out of bag (OOB) Instances</vt:lpstr>
      <vt:lpstr>1.4. Out of bag (OOB) Instances</vt:lpstr>
      <vt:lpstr>1.4. Out of bag (OOB) Instances</vt:lpstr>
      <vt:lpstr>PowerPoint Presentation</vt:lpstr>
      <vt:lpstr>PowerPoint Presentation</vt:lpstr>
      <vt:lpstr>PowerPoint Presentation</vt:lpstr>
      <vt:lpstr>PowerPoint Presentation</vt:lpstr>
      <vt:lpstr>1.6. Ưu điểm và nhược điểm:</vt:lpstr>
      <vt:lpstr>2. GIẢI THUẬT RỪNG NGẪU NHIÊN-RANDOM FOREST 2.1. Decision Tree 2.2. Random Forest 2.3. Build Random Forest 2.4. Sử dụng giải thuật randomforest 2.5. HYPERPARAMETERS 2.6. Ưu, nhước điểm</vt:lpstr>
      <vt:lpstr>2. GIẢI THUẬT RỪNG NGẪU NHIÊN-RANDOM FOREST</vt:lpstr>
      <vt:lpstr>2.1. Decision Tree</vt:lpstr>
      <vt:lpstr>2.1. Decision Tree</vt:lpstr>
      <vt:lpstr>2.2. Random Forest</vt:lpstr>
      <vt:lpstr>2.2. Random Forest</vt:lpstr>
      <vt:lpstr>2.3. Build Random Forest</vt:lpstr>
      <vt:lpstr>2.3. Build Random Forest</vt:lpstr>
      <vt:lpstr>2.4. Sử dụng giải thuật randomforest 2.4.1 Chuẩn bị dữ liệu và phân chia</vt:lpstr>
      <vt:lpstr>2.4.2 Khởi tạo và huấn luyện mô hình</vt:lpstr>
      <vt:lpstr>2.4.3 Đánh giá hiệu suất </vt:lpstr>
      <vt:lpstr>2.4.4 Phân tích độ quan trọng của đặc trưng</vt:lpstr>
      <vt:lpstr>PowerPoint Presentation</vt:lpstr>
      <vt:lpstr>PowerPoint Presentation</vt:lpstr>
      <vt:lpstr>PowerPoint Presentation</vt:lpstr>
      <vt:lpstr>2.5. Sử dụng giải thuật randomforest</vt:lpstr>
      <vt:lpstr>2.5. Sử dụng giải thuật randomforest</vt:lpstr>
      <vt:lpstr>2.6. Ưu, nhược điểm:</vt:lpstr>
      <vt:lpstr>3.DEMO: 3.1. Report_Bagging 3.2. Report_RandomForest 3.3. Report_Analysis </vt:lpstr>
      <vt:lpstr>3.1.1. Report_Bagging (Wine Quality Red) </vt:lpstr>
      <vt:lpstr>3.1.1. Report_Bagging (Wine Quality Red) </vt:lpstr>
      <vt:lpstr>3.1. Report_Bagging (Wine Quality Red) </vt:lpstr>
      <vt:lpstr>3.1. Report_Bagging (Wine Quality Red) </vt:lpstr>
      <vt:lpstr>3.1. Report_Bagging (Wine Quality Red) </vt:lpstr>
      <vt:lpstr>3.1. Report_Bagging (Wine Quality Red) </vt:lpstr>
      <vt:lpstr>3.1. Report_Bagging (Wine Quality Red) </vt:lpstr>
      <vt:lpstr>3.1.2 Report_Bagging (Wine Quality White) </vt:lpstr>
      <vt:lpstr>3.1.2 Report_Bagging (Wine Quality White) </vt:lpstr>
      <vt:lpstr>3.1.2 Report_Bagging(Wine Quality White) </vt:lpstr>
      <vt:lpstr>3.1.2 Report_Bagging(Wine Quality White) </vt:lpstr>
      <vt:lpstr>3.1.2 Report_Bagging(Wine Quality White) </vt:lpstr>
      <vt:lpstr>3.2.1 Report_RandomForest(Wine Quality Red) </vt:lpstr>
      <vt:lpstr>3.2.1 Report_RandomForest(Wine Quality Red) </vt:lpstr>
      <vt:lpstr>3.2.1 Report_RandomForest(Wine Quality Red) </vt:lpstr>
      <vt:lpstr>3.2.1 Report_RandomForest(Wine Quality Red) </vt:lpstr>
      <vt:lpstr>3.2.1 Report_RandomForest(Wine Quality Red) </vt:lpstr>
      <vt:lpstr>3.2.1 Report_RandomForest(Wine Quality Red) </vt:lpstr>
      <vt:lpstr>3.2.1 Report_RandomForest(Wine Quality Red)</vt:lpstr>
      <vt:lpstr>3.2.1 Report_RandomForest(Wine Quality Red)</vt:lpstr>
      <vt:lpstr>3.2.2 Report_RandomForest(Wine Quality White)</vt:lpstr>
      <vt:lpstr>3.2.2 Report_RandomForest(Wine Quality White)</vt:lpstr>
      <vt:lpstr>3.2.2 Report_RandomForest(Wine Quality White)</vt:lpstr>
      <vt:lpstr>3.2.2 Report_RandomForest(Wine Quality White)</vt:lpstr>
      <vt:lpstr>3.2.2 Report_RandomForest(Wine Quality White)</vt:lpstr>
      <vt:lpstr>3.2.2 Report_RandomForest(Wine Quality White)</vt:lpstr>
      <vt:lpstr>3.2.2 Report_RandomForest(Wine Quality White)</vt:lpstr>
      <vt:lpstr>3.2.2 Report_RandomForest(Wine Quality White)</vt:lpstr>
      <vt:lpstr>3.2.2 Report_RandomForest(Foresfire regressor)</vt:lpstr>
      <vt:lpstr>3.2.2 Report_RandomForest(Foresfire regressor)</vt:lpstr>
      <vt:lpstr>3.2.2 Report_RandomForest(Foresfire regressor)</vt:lpstr>
      <vt:lpstr>3.2.2 Report_RandomForest(Foresfire regressor)</vt:lpstr>
      <vt:lpstr>3.2.2 Report_RandomForest(Foresfire regressor)</vt:lpstr>
      <vt:lpstr>3.2.2 Report_RandomForest(Foresfire regressor)</vt:lpstr>
      <vt:lpstr>3.2.2 Report_RandomForest(Foresfire regressor)</vt:lpstr>
      <vt:lpstr>3.2.2 Report_RandomForest(Foresfire regressor)</vt:lpstr>
      <vt:lpstr>3.2.2 Report_RandomForest(Binary Classification Fire/No Fire)</vt:lpstr>
      <vt:lpstr>3.2.2 Report_RandomForest(Binary Classification Fire/No Fire)</vt:lpstr>
      <vt:lpstr>3.2.2 Report_RandomForest(Binary Classification Fire/No Fire)</vt:lpstr>
      <vt:lpstr>3.2.2 Report_RandomForest(Binary Classification Fire/No Fire)</vt:lpstr>
      <vt:lpstr>3.2.2 Report_RandomForest(Binary Classification Fire/No Fire)</vt:lpstr>
      <vt:lpstr>3.2.2 Report_RandomForest(Binary Classification Fire/No Fire)</vt:lpstr>
      <vt:lpstr>3.2.2 Report_RandomForest(Binary Classification Fire/No Fire)</vt:lpstr>
      <vt:lpstr>3.2.2 Report_RandomForest(Binary Classification Fire/No Fire)</vt:lpstr>
      <vt:lpstr>3.3.1 Report_Analysis(RandomForest - Decisiontree Wine Quality Red)</vt:lpstr>
      <vt:lpstr>3.3.1 Report_Analysis(RandomForest - Decisiontree Wine Quality Red)</vt:lpstr>
      <vt:lpstr>3.3.1 Report_Analysis(RandomForest - Decisiontree Wine Quality Red)</vt:lpstr>
      <vt:lpstr>3.3.1 Report_Analysis(RandomForest - Decisiontree Wine Quality Red)</vt:lpstr>
      <vt:lpstr>3.3.1 Report_Analysis(RandomForest - Decisiontree Wine Quality Red)</vt:lpstr>
      <vt:lpstr>3.3.1 Report_Analysis(RandomForest - Decisiontree Wine Quality Red)</vt:lpstr>
      <vt:lpstr>3.3.1 Report_Analysis(RandomForest - Decisiontree Wine Quality Red)</vt:lpstr>
      <vt:lpstr>3.3.1 Report_Analysis(RandomForest - Decisiontree Wine Quality Red)</vt:lpstr>
      <vt:lpstr>3.3.1 Report_Analysis(RandomForest - Decisiontree Wine Quality Red)</vt:lpstr>
      <vt:lpstr>3.3.2 Report_Analysis(RandomForest – Feature Wine Quality White)</vt:lpstr>
      <vt:lpstr>3.3.2 Report_Analysis(RandomForest – Feature Wine Quality White)</vt:lpstr>
      <vt:lpstr>3.3.2 Report_Analysis(RandomForest – Feature Wine Quality White)</vt:lpstr>
      <vt:lpstr>3.3.2 Report_Analysis(RandomForest – Feature Wine Quality White)</vt:lpstr>
      <vt:lpstr>3.3.2 Report_Analysis(RandomForest – Feature Wine Quality White)</vt:lpstr>
      <vt:lpstr>3.3.2 Report_Analysis(RandomForest – Feature Wine Quality White)</vt:lpstr>
      <vt:lpstr>3.3.2 Report_Analysis(RandomForest – Feature Wine Quality White)</vt:lpstr>
      <vt:lpstr>3.3.2 Report_Analysis(RandomForest – Feature Wine Quality White)</vt:lpstr>
      <vt:lpstr>3.3.3 Report_Analysis(RandomForest – Hyperparemeter Ecoil)</vt:lpstr>
      <vt:lpstr>3.3.3 Report_Analysis(RandomForest – Hyperparemeter Ecoil)</vt:lpstr>
      <vt:lpstr>3.3.3 Report_Analysis(RandomForest – Hyperparemeter Ecoil)</vt:lpstr>
      <vt:lpstr>3.3.3 Report_Analysis(RandomForest – Hyperparemeter Ecoil)</vt:lpstr>
      <vt:lpstr>3.3.3 Report_Analysis(RandomForest – Hyperparemeter Ecoil)</vt:lpstr>
      <vt:lpstr>3.3.3 Report_Analysis(RandomForest – Hyperparemeter Ecoil)</vt:lpstr>
      <vt:lpstr>3.3.3 Report_Analysis(RandomForest – Hyperparemeter Ecoil)</vt:lpstr>
      <vt:lpstr>3.3.3 Report_Analysis(RandomForest – Hyperparemeter Ecoil)</vt:lpstr>
      <vt:lpstr>3.3.3 Report_Analysis(RandomForest – Hyperparemeter Ecoil)</vt:lpstr>
      <vt:lpstr>3.3.3 Report_Analysis(RandomForest – Hyperparemeter Ecoil)</vt:lpstr>
      <vt:lpstr>3.3.3 Report_Analysis(RandomForest – Hyperparemeter Ecoil)</vt:lpstr>
      <vt:lpstr>3.3.3 Report_Analysis(RandomForest – Hyperparemeter Ecoil)</vt:lpstr>
      <vt:lpstr>3.3.3 Report_Analysis(RandomForest – Hyperparemeter Ecoil)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helene</dc:creator>
  <cp:lastModifiedBy>Huy Bui Nguyen Minh</cp:lastModifiedBy>
  <cp:revision>39</cp:revision>
  <dcterms:created xsi:type="dcterms:W3CDTF">2025-11-25T07:53:19Z</dcterms:created>
  <dcterms:modified xsi:type="dcterms:W3CDTF">2025-12-04T06:53:46Z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2024-09-05T00:00:00Z</vt:filetime>
  </property>
  <property fmtid="{D5CDD505-2E9C-101B-9397-08002B2CF9AE}" pid="3" name="Creator">
    <vt:lpwstr>Microsoft® PowerPoint® for Microsoft 365</vt:lpwstr>
  </property>
  <property fmtid="{D5CDD505-2E9C-101B-9397-08002B2CF9AE}" pid="4" name="LastSaved">
    <vt:filetime>2025-11-25T00:00:00Z</vt:filetime>
  </property>
  <property fmtid="{D5CDD505-2E9C-101B-9397-08002B2CF9AE}" pid="5" name="Producer">
    <vt:lpwstr>3-Heights(TM) PDF Security Shell 4.8.25.2 (http://www.pdf-tools.com)</vt:lpwstr>
  </property>
</Properties>
</file>